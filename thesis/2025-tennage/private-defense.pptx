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291e30c183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291e30c183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99807736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299807736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91e30c183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291e30c183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91e30c183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91e30c183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99807736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99807736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99807736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299807736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99807736f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299807736f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299807736f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299807736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299807736f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299807736f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3733c74d77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3733c74d77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3733c74d7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3733c74d7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299807736f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299807736f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291e30c183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291e30c183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299807736f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299807736f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2cc711553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2cc711553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291e30c183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291e30c183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291e30c183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291e30c183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299807736f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299807736f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2cc711553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2cc711553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2cc711553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2cc711553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2cc711553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2cc711553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2cc711553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2cc711553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299807736f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299807736f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291e30c183_0_3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291e30c183_0_3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291e30c183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291e30c183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291e30c183_0_5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291e30c183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299807736f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299807736f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291e30c183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291e30c183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2bad026d8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2bad026d8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291e30c183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3291e30c183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291e30c183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291e30c183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291e30c183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291e30c183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341c08251e_1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3341c08251e_1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2bad026d8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32bad026d8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291e30c183_0_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291e30c183_0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2bad026d8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2bad026d8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291e30c183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291e30c183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2f8921ba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2f8921ba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291e30c183_0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291e30c183_0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291e30c183_0_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291e30c183_0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291e30c183_0_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3291e30c183_0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291e30c183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291e30c183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291e30c183_0_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291e30c183_0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291e30c183_0_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3291e30c183_0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291e30c183_0_1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3291e30c183_0_1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291e30c183_0_10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3291e30c183_0_1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291e30c183_0_1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3291e30c183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291e30c183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3291e30c183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291e30c183_0_1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3291e30c183_0_1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291e30c183_0_1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3291e30c183_0_1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291e30c183_0_3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291e30c183_0_3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291e30c183_0_1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3291e30c183_0_1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291e30c183_0_1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3291e30c183_0_1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2af8f60bf4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2af8f60bf4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3291e30c183_0_1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3291e30c183_0_1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293fea40e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3293fea40e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337bde169e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337bde169e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299807736f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3299807736f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291e30c183_0_1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3291e30c183_0_1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3291e30c183_0_1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3291e30c183_0_1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3291e30c183_0_1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3291e30c183_0_1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3291e30c183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3291e30c183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3291e30c183_0_1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3291e30c183_0_1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291e30c183_0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8" name="Google Shape;1318;g3291e30c183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g32bac13dcde_0_1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5" name="Google Shape;1325;g32bac13dcde_0_1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32baf68e25d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32baf68e25d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33733c74d7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33733c74d7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33874331b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33874331b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33874331b3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33874331b3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33874331b36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33874331b36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33874331b3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33874331b3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32bac13dc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32bac13dc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g33733c74d7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6" name="Google Shape;1566;g33733c74d7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g32f8921bac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8" name="Google Shape;1628;g32f8921bac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32bac13dcd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32bac13dcd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g32bac13dcde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9" name="Google Shape;1729;g32bac13dcd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g339300666c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9" name="Google Shape;1859;g339300666c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32bac13dcde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32bac13dcde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g32bac13dcde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32bac13dcde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7" name="Shape 1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8" name="Google Shape;1988;g32bac13dcde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9" name="Google Shape;1989;g32bac13dcde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g32bac13dcde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9" name="Google Shape;1999;g32bac13dcde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6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g32bac13dcde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8" name="Google Shape;2078;g32bac13dcde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5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g32baf68e2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7" name="Google Shape;2087;g32baf68e2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g32bac13dcde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4" name="Google Shape;2094;g32bac13dcde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g3341c08251e_1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1" name="Google Shape;2141;g3341c08251e_1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339300666c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3" name="Google Shape;2183;g339300666c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g32bac13dcde_0_1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6" name="Google Shape;2196;g32bac13dcde_0_1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2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32bac13dcde_0_1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32bac13dcde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g337bde169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2" name="Google Shape;2212;g337bde169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g3291e30c183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1" name="Google Shape;2221;g3291e30c183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g3299807736f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3" name="Google Shape;2243;g3299807736f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g3291e30c183_0_3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6" name="Google Shape;2256;g3291e30c183_0_3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g339300666c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3" name="Google Shape;2263;g339300666c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9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png"/><Relationship Id="rId4" Type="http://schemas.openxmlformats.org/officeDocument/2006/relationships/image" Target="../media/image36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8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7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443750"/>
            <a:ext cx="8520600" cy="16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Robust and High Performance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Consensus Protocols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224525"/>
            <a:ext cx="85206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2705"/>
              <a:t>PhD Private Defense</a:t>
            </a:r>
            <a:endParaRPr sz="2705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br>
              <a:rPr lang="en" sz="2230"/>
            </a:br>
            <a:r>
              <a:rPr lang="en" sz="2230"/>
              <a:t>Pasindu Tennage</a:t>
            </a:r>
            <a:br>
              <a:rPr lang="en" sz="2230"/>
            </a:br>
            <a:br>
              <a:rPr lang="en" sz="2230"/>
            </a:br>
            <a:r>
              <a:rPr lang="en" sz="1530"/>
              <a:t>Thesis director: </a:t>
            </a:r>
            <a:r>
              <a:rPr lang="en" sz="1530"/>
              <a:t>Bryan Ford </a:t>
            </a:r>
            <a:br>
              <a:rPr lang="en" sz="1530"/>
            </a:br>
            <a:r>
              <a:rPr lang="en" sz="1530"/>
              <a:t>Thesis co-director: </a:t>
            </a:r>
            <a:r>
              <a:rPr lang="en" sz="1530"/>
              <a:t>Lefteris Kokoris-Kogias</a:t>
            </a:r>
            <a:endParaRPr sz="223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2125" y="4094150"/>
            <a:ext cx="1776425" cy="99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346725"/>
            <a:ext cx="1495425" cy="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</a:t>
            </a:r>
            <a:r>
              <a:rPr lang="en"/>
              <a:t>onsensus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1810" y="1960856"/>
            <a:ext cx="540328" cy="80787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884616" y="3040990"/>
            <a:ext cx="1031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165047" y="3040990"/>
            <a:ext cx="1031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7445479" y="3040990"/>
            <a:ext cx="1031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371800" y="1112275"/>
            <a:ext cx="8520552" cy="3905496"/>
          </a:xfrm>
          <a:prstGeom prst="cloud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2124" y="1266500"/>
            <a:ext cx="1304450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4819" y="2869200"/>
            <a:ext cx="1304450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1350" y="1814450"/>
            <a:ext cx="1304450" cy="1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2145275" y="2571000"/>
            <a:ext cx="7266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4507475" y="3637800"/>
            <a:ext cx="7266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7479275" y="2190000"/>
            <a:ext cx="7266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1463500" y="34875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C1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1844500" y="34875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C2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2225500" y="34875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C3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2606500" y="34875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C4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2987500" y="34875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C5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3825700" y="4554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C1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4206700" y="4554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C2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4587700" y="4554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C3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4968700" y="4554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C4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5349700" y="4554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C5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797500" y="29541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C1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7178500" y="29541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C2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7559500" y="29541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C3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7940500" y="29541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C4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8321500" y="29541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C5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7350" y="976250"/>
            <a:ext cx="1304450" cy="1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4431275" y="1809000"/>
            <a:ext cx="7266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3901900" y="2649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C1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4282900" y="2649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C2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663900" y="2649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C3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044900" y="2649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C4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425900" y="2649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C5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7236625" y="964600"/>
            <a:ext cx="1031100" cy="12255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179450" y="22429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High Performance</a:t>
            </a:r>
            <a:endParaRPr sz="1900"/>
          </a:p>
        </p:txBody>
      </p:sp>
      <p:sp>
        <p:nvSpPr>
          <p:cNvPr id="104" name="Google Shape;104;p15"/>
          <p:cNvSpPr/>
          <p:nvPr/>
        </p:nvSpPr>
        <p:spPr>
          <a:xfrm>
            <a:off x="2325825" y="2176875"/>
            <a:ext cx="4484700" cy="1034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Existing Consensus Protocols</a:t>
            </a:r>
            <a:endParaRPr sz="1900"/>
          </a:p>
        </p:txBody>
      </p:sp>
      <p:sp>
        <p:nvSpPr>
          <p:cNvPr id="105" name="Google Shape;105;p15"/>
          <p:cNvSpPr/>
          <p:nvPr/>
        </p:nvSpPr>
        <p:spPr>
          <a:xfrm>
            <a:off x="7266050" y="22429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High Robustness</a:t>
            </a:r>
            <a:endParaRPr sz="1900"/>
          </a:p>
        </p:txBody>
      </p:sp>
      <p:sp>
        <p:nvSpPr>
          <p:cNvPr id="106" name="Google Shape;106;p15"/>
          <p:cNvSpPr/>
          <p:nvPr/>
        </p:nvSpPr>
        <p:spPr>
          <a:xfrm>
            <a:off x="179450" y="22429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High Performance</a:t>
            </a:r>
            <a:endParaRPr sz="1900"/>
          </a:p>
        </p:txBody>
      </p:sp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Performance using Leader-based Consensus</a:t>
            </a:r>
            <a:endParaRPr/>
          </a:p>
        </p:txBody>
      </p:sp>
      <p:pic>
        <p:nvPicPr>
          <p:cNvPr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8270" y="2705378"/>
            <a:ext cx="1112150" cy="12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7002" y="1368325"/>
            <a:ext cx="1112150" cy="12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7002" y="2589113"/>
            <a:ext cx="1112150" cy="12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7002" y="3809901"/>
            <a:ext cx="1112150" cy="12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 rotWithShape="1">
          <a:blip r:embed="rId4">
            <a:alphaModFix/>
          </a:blip>
          <a:srcRect b="30143" l="0" r="0" t="0"/>
          <a:stretch/>
        </p:blipFill>
        <p:spPr>
          <a:xfrm>
            <a:off x="1456200" y="2936622"/>
            <a:ext cx="1363062" cy="8520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6"/>
          <p:cNvCxnSpPr/>
          <p:nvPr/>
        </p:nvCxnSpPr>
        <p:spPr>
          <a:xfrm>
            <a:off x="2968592" y="3264315"/>
            <a:ext cx="12111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9" name="Google Shape;119;p16"/>
          <p:cNvGrpSpPr/>
          <p:nvPr/>
        </p:nvGrpSpPr>
        <p:grpSpPr>
          <a:xfrm>
            <a:off x="5372451" y="2004165"/>
            <a:ext cx="1414740" cy="2556249"/>
            <a:chOff x="4754100" y="1047700"/>
            <a:chExt cx="1659325" cy="3350700"/>
          </a:xfrm>
        </p:grpSpPr>
        <p:cxnSp>
          <p:nvCxnSpPr>
            <p:cNvPr id="120" name="Google Shape;120;p16"/>
            <p:cNvCxnSpPr/>
            <p:nvPr/>
          </p:nvCxnSpPr>
          <p:spPr>
            <a:xfrm flipH="1" rot="10800000">
              <a:off x="4825825" y="1047700"/>
              <a:ext cx="1587600" cy="1317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1" name="Google Shape;121;p16"/>
            <p:cNvCxnSpPr/>
            <p:nvPr/>
          </p:nvCxnSpPr>
          <p:spPr>
            <a:xfrm>
              <a:off x="4754100" y="2928100"/>
              <a:ext cx="14205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2" name="Google Shape;122;p16"/>
            <p:cNvCxnSpPr/>
            <p:nvPr/>
          </p:nvCxnSpPr>
          <p:spPr>
            <a:xfrm>
              <a:off x="4817400" y="3516400"/>
              <a:ext cx="1554900" cy="8820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23" name="Google Shape;123;p16"/>
          <p:cNvGrpSpPr/>
          <p:nvPr/>
        </p:nvGrpSpPr>
        <p:grpSpPr>
          <a:xfrm>
            <a:off x="5377225" y="2340337"/>
            <a:ext cx="1330354" cy="2305903"/>
            <a:chOff x="4759700" y="1488350"/>
            <a:chExt cx="1560350" cy="3022550"/>
          </a:xfrm>
        </p:grpSpPr>
        <p:cxnSp>
          <p:nvCxnSpPr>
            <p:cNvPr id="124" name="Google Shape;124;p16"/>
            <p:cNvCxnSpPr/>
            <p:nvPr/>
          </p:nvCxnSpPr>
          <p:spPr>
            <a:xfrm flipH="1">
              <a:off x="5021650" y="1488350"/>
              <a:ext cx="1298400" cy="1047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5" name="Google Shape;125;p16"/>
            <p:cNvCxnSpPr/>
            <p:nvPr/>
          </p:nvCxnSpPr>
          <p:spPr>
            <a:xfrm flipH="1">
              <a:off x="4792350" y="3114200"/>
              <a:ext cx="1342200" cy="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6" name="Google Shape;126;p16"/>
            <p:cNvCxnSpPr/>
            <p:nvPr/>
          </p:nvCxnSpPr>
          <p:spPr>
            <a:xfrm rot="10800000">
              <a:off x="4759700" y="3714400"/>
              <a:ext cx="1320300" cy="7965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127" name="Google Shape;127;p16"/>
          <p:cNvCxnSpPr/>
          <p:nvPr/>
        </p:nvCxnSpPr>
        <p:spPr>
          <a:xfrm rot="10800000">
            <a:off x="2977130" y="3580822"/>
            <a:ext cx="1107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170125"/>
            <a:ext cx="2495550" cy="1562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9" name="Google Shape;12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163" y="1137425"/>
            <a:ext cx="5305425" cy="173355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0" name="Google Shape;130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6138" y="1137413"/>
            <a:ext cx="7686675" cy="2181225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1" name="Google Shape;1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Robustness Problem of Leader Based Protocols</a:t>
            </a:r>
            <a:endParaRPr/>
          </a:p>
        </p:txBody>
      </p:sp>
      <p:pic>
        <p:nvPicPr>
          <p:cNvPr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950" y="2457052"/>
            <a:ext cx="1087230" cy="120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1369" y="1347050"/>
            <a:ext cx="1087230" cy="120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1369" y="2499678"/>
            <a:ext cx="1087230" cy="120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1369" y="3652306"/>
            <a:ext cx="1087230" cy="12007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17"/>
          <p:cNvGrpSpPr/>
          <p:nvPr/>
        </p:nvGrpSpPr>
        <p:grpSpPr>
          <a:xfrm>
            <a:off x="986409" y="2419457"/>
            <a:ext cx="2723738" cy="1505573"/>
            <a:chOff x="3096373" y="2419350"/>
            <a:chExt cx="2061720" cy="1081512"/>
          </a:xfrm>
        </p:grpSpPr>
        <p:pic>
          <p:nvPicPr>
            <p:cNvPr id="142" name="Google Shape;142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97910" y="2551326"/>
              <a:ext cx="1258652" cy="817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17"/>
            <p:cNvSpPr/>
            <p:nvPr/>
          </p:nvSpPr>
          <p:spPr>
            <a:xfrm>
              <a:off x="3096373" y="2419350"/>
              <a:ext cx="2061720" cy="1081512"/>
            </a:xfrm>
            <a:prstGeom prst="cloud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p17"/>
          <p:cNvSpPr txBox="1"/>
          <p:nvPr>
            <p:ph idx="1" type="body"/>
          </p:nvPr>
        </p:nvSpPr>
        <p:spPr>
          <a:xfrm>
            <a:off x="5097950" y="1347050"/>
            <a:ext cx="3064800" cy="2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Network </a:t>
            </a:r>
            <a:r>
              <a:rPr lang="en" sz="2000"/>
              <a:t>partition.</a:t>
            </a:r>
            <a:r>
              <a:rPr lang="en" sz="2000"/>
              <a:t> </a:t>
            </a:r>
            <a:br>
              <a:rPr lang="en" sz="2000"/>
            </a:b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Link failures.</a:t>
            </a:r>
            <a:br>
              <a:rPr lang="en" sz="2000"/>
            </a:b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DDoS attacks.</a:t>
            </a:r>
            <a:br>
              <a:rPr lang="en" sz="2000"/>
            </a:b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000"/>
              <a:t>Leader crash.</a:t>
            </a:r>
            <a:endParaRPr sz="2000"/>
          </a:p>
        </p:txBody>
      </p:sp>
      <p:sp>
        <p:nvSpPr>
          <p:cNvPr id="145" name="Google Shape;14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>
            <a:off x="179450" y="22429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High Performance</a:t>
            </a:r>
            <a:endParaRPr sz="1900"/>
          </a:p>
        </p:txBody>
      </p:sp>
      <p:sp>
        <p:nvSpPr>
          <p:cNvPr id="151" name="Google Shape;151;p18"/>
          <p:cNvSpPr/>
          <p:nvPr/>
        </p:nvSpPr>
        <p:spPr>
          <a:xfrm>
            <a:off x="2325825" y="2176875"/>
            <a:ext cx="4484700" cy="1034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Existing Consensus Protocols</a:t>
            </a:r>
            <a:endParaRPr sz="1900"/>
          </a:p>
        </p:txBody>
      </p:sp>
      <p:sp>
        <p:nvSpPr>
          <p:cNvPr id="152" name="Google Shape;152;p18"/>
          <p:cNvSpPr/>
          <p:nvPr/>
        </p:nvSpPr>
        <p:spPr>
          <a:xfrm>
            <a:off x="7266050" y="22429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High Robustness</a:t>
            </a:r>
            <a:endParaRPr sz="1900"/>
          </a:p>
        </p:txBody>
      </p:sp>
      <p:sp>
        <p:nvSpPr>
          <p:cNvPr id="153" name="Google Shape;15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7266050" y="22429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High Robustness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 randomized consensus protocols</a:t>
            </a:r>
            <a:endParaRPr/>
          </a:p>
        </p:txBody>
      </p:sp>
      <p:cxnSp>
        <p:nvCxnSpPr>
          <p:cNvPr id="160" name="Google Shape;160;p19"/>
          <p:cNvCxnSpPr/>
          <p:nvPr/>
        </p:nvCxnSpPr>
        <p:spPr>
          <a:xfrm>
            <a:off x="299375" y="2504533"/>
            <a:ext cx="5300100" cy="4500"/>
          </a:xfrm>
          <a:prstGeom prst="straightConnector1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9"/>
          <p:cNvCxnSpPr/>
          <p:nvPr/>
        </p:nvCxnSpPr>
        <p:spPr>
          <a:xfrm>
            <a:off x="299375" y="2854742"/>
            <a:ext cx="5300100" cy="4500"/>
          </a:xfrm>
          <a:prstGeom prst="straightConnector1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19"/>
          <p:cNvCxnSpPr/>
          <p:nvPr/>
        </p:nvCxnSpPr>
        <p:spPr>
          <a:xfrm>
            <a:off x="299375" y="3204950"/>
            <a:ext cx="5300100" cy="4500"/>
          </a:xfrm>
          <a:prstGeom prst="straightConnector1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19"/>
          <p:cNvCxnSpPr/>
          <p:nvPr/>
        </p:nvCxnSpPr>
        <p:spPr>
          <a:xfrm flipH="1" rot="10800000">
            <a:off x="282125" y="2158525"/>
            <a:ext cx="5287200" cy="8100"/>
          </a:xfrm>
          <a:prstGeom prst="straightConnector1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9"/>
          <p:cNvCxnSpPr/>
          <p:nvPr/>
        </p:nvCxnSpPr>
        <p:spPr>
          <a:xfrm>
            <a:off x="506025" y="2185300"/>
            <a:ext cx="870600" cy="311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19"/>
          <p:cNvCxnSpPr/>
          <p:nvPr/>
        </p:nvCxnSpPr>
        <p:spPr>
          <a:xfrm>
            <a:off x="512250" y="2191500"/>
            <a:ext cx="814800" cy="6219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19"/>
          <p:cNvCxnSpPr/>
          <p:nvPr/>
        </p:nvCxnSpPr>
        <p:spPr>
          <a:xfrm>
            <a:off x="506025" y="2185300"/>
            <a:ext cx="808500" cy="995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19"/>
          <p:cNvCxnSpPr/>
          <p:nvPr/>
        </p:nvCxnSpPr>
        <p:spPr>
          <a:xfrm>
            <a:off x="2182425" y="2185300"/>
            <a:ext cx="870600" cy="311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19"/>
          <p:cNvCxnSpPr/>
          <p:nvPr/>
        </p:nvCxnSpPr>
        <p:spPr>
          <a:xfrm>
            <a:off x="2188650" y="2191500"/>
            <a:ext cx="814800" cy="6219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19"/>
          <p:cNvCxnSpPr/>
          <p:nvPr/>
        </p:nvCxnSpPr>
        <p:spPr>
          <a:xfrm>
            <a:off x="2182425" y="2185300"/>
            <a:ext cx="808500" cy="995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19"/>
          <p:cNvCxnSpPr/>
          <p:nvPr/>
        </p:nvCxnSpPr>
        <p:spPr>
          <a:xfrm>
            <a:off x="4011225" y="2185300"/>
            <a:ext cx="870600" cy="311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19"/>
          <p:cNvCxnSpPr/>
          <p:nvPr/>
        </p:nvCxnSpPr>
        <p:spPr>
          <a:xfrm>
            <a:off x="4017450" y="2191500"/>
            <a:ext cx="814800" cy="6219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19"/>
          <p:cNvCxnSpPr/>
          <p:nvPr/>
        </p:nvCxnSpPr>
        <p:spPr>
          <a:xfrm>
            <a:off x="4011225" y="2185300"/>
            <a:ext cx="808500" cy="995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19"/>
          <p:cNvCxnSpPr/>
          <p:nvPr/>
        </p:nvCxnSpPr>
        <p:spPr>
          <a:xfrm flipH="1" rot="10800000">
            <a:off x="493600" y="2172850"/>
            <a:ext cx="814800" cy="3483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19"/>
          <p:cNvCxnSpPr/>
          <p:nvPr/>
        </p:nvCxnSpPr>
        <p:spPr>
          <a:xfrm>
            <a:off x="530900" y="2508700"/>
            <a:ext cx="777600" cy="317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19"/>
          <p:cNvCxnSpPr/>
          <p:nvPr/>
        </p:nvCxnSpPr>
        <p:spPr>
          <a:xfrm>
            <a:off x="555800" y="2508700"/>
            <a:ext cx="746400" cy="6717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19"/>
          <p:cNvCxnSpPr/>
          <p:nvPr/>
        </p:nvCxnSpPr>
        <p:spPr>
          <a:xfrm flipH="1" rot="10800000">
            <a:off x="2170000" y="2172850"/>
            <a:ext cx="814800" cy="3483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19"/>
          <p:cNvCxnSpPr/>
          <p:nvPr/>
        </p:nvCxnSpPr>
        <p:spPr>
          <a:xfrm>
            <a:off x="2207300" y="2508700"/>
            <a:ext cx="777600" cy="317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19"/>
          <p:cNvCxnSpPr/>
          <p:nvPr/>
        </p:nvCxnSpPr>
        <p:spPr>
          <a:xfrm>
            <a:off x="2232200" y="2508700"/>
            <a:ext cx="746400" cy="6717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19"/>
          <p:cNvCxnSpPr/>
          <p:nvPr/>
        </p:nvCxnSpPr>
        <p:spPr>
          <a:xfrm flipH="1" rot="10800000">
            <a:off x="3998800" y="2172850"/>
            <a:ext cx="814800" cy="3483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19"/>
          <p:cNvCxnSpPr/>
          <p:nvPr/>
        </p:nvCxnSpPr>
        <p:spPr>
          <a:xfrm>
            <a:off x="4036100" y="2508700"/>
            <a:ext cx="777600" cy="3171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19"/>
          <p:cNvCxnSpPr/>
          <p:nvPr/>
        </p:nvCxnSpPr>
        <p:spPr>
          <a:xfrm>
            <a:off x="4061000" y="2508700"/>
            <a:ext cx="746400" cy="6717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" name="Google Shape;182;p19"/>
          <p:cNvCxnSpPr/>
          <p:nvPr/>
        </p:nvCxnSpPr>
        <p:spPr>
          <a:xfrm flipH="1" rot="10800000">
            <a:off x="555800" y="2210050"/>
            <a:ext cx="678000" cy="6345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" name="Google Shape;183;p19"/>
          <p:cNvCxnSpPr/>
          <p:nvPr/>
        </p:nvCxnSpPr>
        <p:spPr>
          <a:xfrm flipH="1" rot="10800000">
            <a:off x="549575" y="2502550"/>
            <a:ext cx="690300" cy="3420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19"/>
          <p:cNvCxnSpPr/>
          <p:nvPr/>
        </p:nvCxnSpPr>
        <p:spPr>
          <a:xfrm>
            <a:off x="562000" y="2844550"/>
            <a:ext cx="740100" cy="3360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19"/>
          <p:cNvCxnSpPr/>
          <p:nvPr/>
        </p:nvCxnSpPr>
        <p:spPr>
          <a:xfrm flipH="1" rot="10800000">
            <a:off x="2232200" y="2210050"/>
            <a:ext cx="678000" cy="6345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19"/>
          <p:cNvCxnSpPr/>
          <p:nvPr/>
        </p:nvCxnSpPr>
        <p:spPr>
          <a:xfrm flipH="1" rot="10800000">
            <a:off x="2225975" y="2502550"/>
            <a:ext cx="690300" cy="3420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19"/>
          <p:cNvCxnSpPr/>
          <p:nvPr/>
        </p:nvCxnSpPr>
        <p:spPr>
          <a:xfrm>
            <a:off x="2238400" y="2844550"/>
            <a:ext cx="740100" cy="3360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19"/>
          <p:cNvCxnSpPr/>
          <p:nvPr/>
        </p:nvCxnSpPr>
        <p:spPr>
          <a:xfrm flipH="1" rot="10800000">
            <a:off x="4061000" y="2210050"/>
            <a:ext cx="678000" cy="6345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19"/>
          <p:cNvCxnSpPr/>
          <p:nvPr/>
        </p:nvCxnSpPr>
        <p:spPr>
          <a:xfrm flipH="1" rot="10800000">
            <a:off x="4054775" y="2502550"/>
            <a:ext cx="690300" cy="3420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19"/>
          <p:cNvCxnSpPr/>
          <p:nvPr/>
        </p:nvCxnSpPr>
        <p:spPr>
          <a:xfrm>
            <a:off x="4067200" y="2844550"/>
            <a:ext cx="740100" cy="3360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19"/>
          <p:cNvCxnSpPr/>
          <p:nvPr/>
        </p:nvCxnSpPr>
        <p:spPr>
          <a:xfrm flipH="1" rot="10800000">
            <a:off x="562000" y="2222575"/>
            <a:ext cx="659400" cy="9765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19"/>
          <p:cNvCxnSpPr/>
          <p:nvPr/>
        </p:nvCxnSpPr>
        <p:spPr>
          <a:xfrm flipH="1" rot="10800000">
            <a:off x="562000" y="2546050"/>
            <a:ext cx="615600" cy="6468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19"/>
          <p:cNvCxnSpPr/>
          <p:nvPr/>
        </p:nvCxnSpPr>
        <p:spPr>
          <a:xfrm flipH="1" rot="10800000">
            <a:off x="580675" y="2857150"/>
            <a:ext cx="671700" cy="3357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19"/>
          <p:cNvCxnSpPr/>
          <p:nvPr/>
        </p:nvCxnSpPr>
        <p:spPr>
          <a:xfrm flipH="1" rot="10800000">
            <a:off x="2238400" y="2222575"/>
            <a:ext cx="659400" cy="9765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19"/>
          <p:cNvCxnSpPr/>
          <p:nvPr/>
        </p:nvCxnSpPr>
        <p:spPr>
          <a:xfrm flipH="1" rot="10800000">
            <a:off x="2238400" y="2546050"/>
            <a:ext cx="615600" cy="6468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19"/>
          <p:cNvCxnSpPr/>
          <p:nvPr/>
        </p:nvCxnSpPr>
        <p:spPr>
          <a:xfrm flipH="1" rot="10800000">
            <a:off x="2257075" y="2857150"/>
            <a:ext cx="671700" cy="3357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19"/>
          <p:cNvCxnSpPr/>
          <p:nvPr/>
        </p:nvCxnSpPr>
        <p:spPr>
          <a:xfrm flipH="1" rot="10800000">
            <a:off x="4067200" y="2222575"/>
            <a:ext cx="659400" cy="9765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19"/>
          <p:cNvCxnSpPr/>
          <p:nvPr/>
        </p:nvCxnSpPr>
        <p:spPr>
          <a:xfrm flipH="1" rot="10800000">
            <a:off x="4067200" y="2546050"/>
            <a:ext cx="615600" cy="6468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19"/>
          <p:cNvCxnSpPr/>
          <p:nvPr/>
        </p:nvCxnSpPr>
        <p:spPr>
          <a:xfrm flipH="1" rot="10800000">
            <a:off x="4085875" y="2857150"/>
            <a:ext cx="671700" cy="335700"/>
          </a:xfrm>
          <a:prstGeom prst="straightConnector1">
            <a:avLst/>
          </a:prstGeom>
          <a:noFill/>
          <a:ln cap="flat" cmpd="sng" w="9525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" name="Google Shape;200;p19"/>
          <p:cNvSpPr txBox="1"/>
          <p:nvPr>
            <p:ph idx="1" type="body"/>
          </p:nvPr>
        </p:nvSpPr>
        <p:spPr>
          <a:xfrm>
            <a:off x="5840025" y="1990675"/>
            <a:ext cx="2992200" cy="18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Less efficient.</a:t>
            </a:r>
            <a:endParaRPr sz="2000"/>
          </a:p>
          <a:p>
            <a:pPr indent="-330200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O(n</a:t>
            </a:r>
            <a:r>
              <a:rPr baseline="30000" lang="en" sz="1600"/>
              <a:t>2</a:t>
            </a:r>
            <a:r>
              <a:rPr lang="en" sz="1600"/>
              <a:t>) / </a:t>
            </a:r>
            <a:r>
              <a:rPr lang="en" sz="1600"/>
              <a:t>O(n</a:t>
            </a:r>
            <a:r>
              <a:rPr baseline="30000" lang="en" sz="1600"/>
              <a:t>3</a:t>
            </a:r>
            <a:r>
              <a:rPr lang="en" sz="1600"/>
              <a:t>) </a:t>
            </a:r>
            <a:r>
              <a:rPr lang="en" sz="1600"/>
              <a:t> </a:t>
            </a:r>
            <a:br>
              <a:rPr lang="en" sz="1600"/>
            </a:br>
            <a:endParaRPr sz="16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Hard to understand. </a:t>
            </a:r>
            <a:br>
              <a:rPr lang="en" sz="2000"/>
            </a:br>
            <a:endParaRPr sz="2000"/>
          </a:p>
          <a:p>
            <a:pPr indent="-3556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Rarely deployed.</a:t>
            </a:r>
            <a:endParaRPr sz="2000"/>
          </a:p>
        </p:txBody>
      </p:sp>
      <p:sp>
        <p:nvSpPr>
          <p:cNvPr id="201" name="Google Shape;20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>
            <p:ph type="title"/>
          </p:nvPr>
        </p:nvSpPr>
        <p:spPr>
          <a:xfrm>
            <a:off x="1911900" y="2883425"/>
            <a:ext cx="559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have the best of both worlds?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179450" y="15571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High Performance</a:t>
            </a:r>
            <a:endParaRPr sz="1900"/>
          </a:p>
        </p:txBody>
      </p:sp>
      <p:sp>
        <p:nvSpPr>
          <p:cNvPr id="208" name="Google Shape;208;p20"/>
          <p:cNvSpPr/>
          <p:nvPr/>
        </p:nvSpPr>
        <p:spPr>
          <a:xfrm>
            <a:off x="2325825" y="1491075"/>
            <a:ext cx="4484700" cy="1034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Existing Consensus Protocols</a:t>
            </a:r>
            <a:endParaRPr sz="1900"/>
          </a:p>
        </p:txBody>
      </p:sp>
      <p:sp>
        <p:nvSpPr>
          <p:cNvPr id="209" name="Google Shape;209;p20"/>
          <p:cNvSpPr/>
          <p:nvPr/>
        </p:nvSpPr>
        <p:spPr>
          <a:xfrm>
            <a:off x="7266050" y="15571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High Robustness</a:t>
            </a:r>
            <a:endParaRPr sz="1900"/>
          </a:p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Thesis goals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471025" y="1750775"/>
            <a:ext cx="3885000" cy="134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Explore the robustness and performance challenges of existing protocols </a:t>
            </a:r>
            <a:endParaRPr sz="2000"/>
          </a:p>
        </p:txBody>
      </p:sp>
      <p:sp>
        <p:nvSpPr>
          <p:cNvPr id="217" name="Google Shape;217;p21"/>
          <p:cNvSpPr/>
          <p:nvPr/>
        </p:nvSpPr>
        <p:spPr>
          <a:xfrm>
            <a:off x="4737850" y="1750775"/>
            <a:ext cx="3949500" cy="134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Design</a:t>
            </a:r>
            <a:r>
              <a:rPr lang="en" sz="2000"/>
              <a:t> and evaluate new protocols that </a:t>
            </a:r>
            <a:r>
              <a:rPr lang="en" sz="2000"/>
              <a:t>achieve</a:t>
            </a:r>
            <a:r>
              <a:rPr lang="en" sz="2000"/>
              <a:t> both robustness and high performance</a:t>
            </a:r>
            <a:endParaRPr sz="2000"/>
          </a:p>
        </p:txBody>
      </p:sp>
      <p:sp>
        <p:nvSpPr>
          <p:cNvPr id="218" name="Google Shape;2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Thesis Contributions</a:t>
            </a:r>
            <a:endParaRPr/>
          </a:p>
        </p:txBody>
      </p:sp>
      <p:grpSp>
        <p:nvGrpSpPr>
          <p:cNvPr id="224" name="Google Shape;224;p22"/>
          <p:cNvGrpSpPr/>
          <p:nvPr/>
        </p:nvGrpSpPr>
        <p:grpSpPr>
          <a:xfrm>
            <a:off x="505400" y="1696950"/>
            <a:ext cx="8479200" cy="572700"/>
            <a:chOff x="353000" y="1696950"/>
            <a:chExt cx="8479200" cy="572700"/>
          </a:xfrm>
        </p:grpSpPr>
        <p:sp>
          <p:nvSpPr>
            <p:cNvPr id="225" name="Google Shape;225;p22"/>
            <p:cNvSpPr/>
            <p:nvPr/>
          </p:nvSpPr>
          <p:spPr>
            <a:xfrm>
              <a:off x="353000" y="1696950"/>
              <a:ext cx="22587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Baxos</a:t>
              </a:r>
              <a:endParaRPr sz="1600"/>
            </a:p>
          </p:txBody>
        </p:sp>
        <p:sp>
          <p:nvSpPr>
            <p:cNvPr id="226" name="Google Shape;226;p22"/>
            <p:cNvSpPr/>
            <p:nvPr/>
          </p:nvSpPr>
          <p:spPr>
            <a:xfrm>
              <a:off x="3248600" y="1696950"/>
              <a:ext cx="55836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Explores mechanisms to avoid the impact of leader-</a:t>
              </a:r>
              <a:r>
                <a:rPr lang="en" sz="1600"/>
                <a:t>targeted</a:t>
              </a:r>
              <a:r>
                <a:rPr lang="en" sz="1600"/>
                <a:t> attacks</a:t>
              </a:r>
              <a:endParaRPr sz="1600"/>
            </a:p>
          </p:txBody>
        </p:sp>
      </p:grpSp>
      <p:grpSp>
        <p:nvGrpSpPr>
          <p:cNvPr id="227" name="Google Shape;227;p22"/>
          <p:cNvGrpSpPr/>
          <p:nvPr/>
        </p:nvGrpSpPr>
        <p:grpSpPr>
          <a:xfrm>
            <a:off x="505400" y="2458950"/>
            <a:ext cx="8479200" cy="572700"/>
            <a:chOff x="353000" y="2458950"/>
            <a:chExt cx="8479200" cy="572700"/>
          </a:xfrm>
        </p:grpSpPr>
        <p:sp>
          <p:nvSpPr>
            <p:cNvPr id="228" name="Google Shape;228;p22"/>
            <p:cNvSpPr/>
            <p:nvPr/>
          </p:nvSpPr>
          <p:spPr>
            <a:xfrm>
              <a:off x="353000" y="2458950"/>
              <a:ext cx="22587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RACS-SADL</a:t>
              </a:r>
              <a:endParaRPr sz="1600"/>
            </a:p>
          </p:txBody>
        </p:sp>
        <p:sp>
          <p:nvSpPr>
            <p:cNvPr id="229" name="Google Shape;229;p22"/>
            <p:cNvSpPr/>
            <p:nvPr/>
          </p:nvSpPr>
          <p:spPr>
            <a:xfrm>
              <a:off x="3248600" y="2458950"/>
              <a:ext cx="55836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Explores mechanisms to avoid leader performance bottleneck and the impact of network asynchrony</a:t>
              </a:r>
              <a:endParaRPr sz="1600"/>
            </a:p>
          </p:txBody>
        </p:sp>
      </p:grpSp>
      <p:grpSp>
        <p:nvGrpSpPr>
          <p:cNvPr id="230" name="Google Shape;230;p22"/>
          <p:cNvGrpSpPr/>
          <p:nvPr/>
        </p:nvGrpSpPr>
        <p:grpSpPr>
          <a:xfrm>
            <a:off x="505400" y="3220950"/>
            <a:ext cx="8479200" cy="572700"/>
            <a:chOff x="353000" y="3220950"/>
            <a:chExt cx="8479200" cy="572700"/>
          </a:xfrm>
        </p:grpSpPr>
        <p:sp>
          <p:nvSpPr>
            <p:cNvPr id="231" name="Google Shape;231;p22"/>
            <p:cNvSpPr/>
            <p:nvPr/>
          </p:nvSpPr>
          <p:spPr>
            <a:xfrm>
              <a:off x="353000" y="3220950"/>
              <a:ext cx="22587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QuePaxa</a:t>
              </a:r>
              <a:endParaRPr sz="1600"/>
            </a:p>
          </p:txBody>
        </p:sp>
        <p:sp>
          <p:nvSpPr>
            <p:cNvPr id="232" name="Google Shape;232;p22"/>
            <p:cNvSpPr/>
            <p:nvPr/>
          </p:nvSpPr>
          <p:spPr>
            <a:xfrm>
              <a:off x="3248600" y="3220950"/>
              <a:ext cx="55836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Explores mechanisms to avoid the tyranny of timeouts</a:t>
              </a:r>
              <a:endParaRPr sz="1600"/>
            </a:p>
          </p:txBody>
        </p:sp>
      </p:grpSp>
      <p:grpSp>
        <p:nvGrpSpPr>
          <p:cNvPr id="233" name="Google Shape;233;p22"/>
          <p:cNvGrpSpPr/>
          <p:nvPr/>
        </p:nvGrpSpPr>
        <p:grpSpPr>
          <a:xfrm>
            <a:off x="505400" y="3982950"/>
            <a:ext cx="8479200" cy="572700"/>
            <a:chOff x="353000" y="3982950"/>
            <a:chExt cx="8479200" cy="572700"/>
          </a:xfrm>
        </p:grpSpPr>
        <p:sp>
          <p:nvSpPr>
            <p:cNvPr id="234" name="Google Shape;234;p22"/>
            <p:cNvSpPr/>
            <p:nvPr/>
          </p:nvSpPr>
          <p:spPr>
            <a:xfrm>
              <a:off x="353000" y="3982950"/>
              <a:ext cx="22587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Mahi-Mahi</a:t>
              </a:r>
              <a:endParaRPr sz="1600"/>
            </a:p>
          </p:txBody>
        </p:sp>
        <p:sp>
          <p:nvSpPr>
            <p:cNvPr id="235" name="Google Shape;235;p22"/>
            <p:cNvSpPr/>
            <p:nvPr/>
          </p:nvSpPr>
          <p:spPr>
            <a:xfrm>
              <a:off x="3248600" y="3982950"/>
              <a:ext cx="55836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Explores mechanisms to avoid high latency and high resource consumption in blockchain consensus protocols</a:t>
              </a:r>
              <a:endParaRPr sz="1600"/>
            </a:p>
          </p:txBody>
        </p:sp>
      </p:grpSp>
      <p:grpSp>
        <p:nvGrpSpPr>
          <p:cNvPr id="236" name="Google Shape;236;p22"/>
          <p:cNvGrpSpPr/>
          <p:nvPr/>
        </p:nvGrpSpPr>
        <p:grpSpPr>
          <a:xfrm>
            <a:off x="505400" y="1696950"/>
            <a:ext cx="2258700" cy="2858700"/>
            <a:chOff x="353000" y="1696950"/>
            <a:chExt cx="2258700" cy="2858700"/>
          </a:xfrm>
        </p:grpSpPr>
        <p:sp>
          <p:nvSpPr>
            <p:cNvPr id="237" name="Google Shape;237;p22"/>
            <p:cNvSpPr/>
            <p:nvPr/>
          </p:nvSpPr>
          <p:spPr>
            <a:xfrm>
              <a:off x="353000" y="1696950"/>
              <a:ext cx="22587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Baxos</a:t>
              </a:r>
              <a:endParaRPr sz="1600"/>
            </a:p>
          </p:txBody>
        </p:sp>
        <p:sp>
          <p:nvSpPr>
            <p:cNvPr id="238" name="Google Shape;238;p22"/>
            <p:cNvSpPr/>
            <p:nvPr/>
          </p:nvSpPr>
          <p:spPr>
            <a:xfrm>
              <a:off x="353000" y="3220950"/>
              <a:ext cx="22587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QuePaxa</a:t>
              </a:r>
              <a:endParaRPr sz="1600"/>
            </a:p>
          </p:txBody>
        </p:sp>
        <p:sp>
          <p:nvSpPr>
            <p:cNvPr id="239" name="Google Shape;239;p22"/>
            <p:cNvSpPr/>
            <p:nvPr/>
          </p:nvSpPr>
          <p:spPr>
            <a:xfrm>
              <a:off x="353000" y="3982950"/>
              <a:ext cx="2258700" cy="5727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/>
                <a:t>Mahi-Mahi</a:t>
              </a:r>
              <a:endParaRPr sz="1600"/>
            </a:p>
          </p:txBody>
        </p:sp>
      </p:grpSp>
      <p:sp>
        <p:nvSpPr>
          <p:cNvPr id="240" name="Google Shape;24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41" name="Google Shape;241;p22"/>
          <p:cNvGrpSpPr/>
          <p:nvPr/>
        </p:nvGrpSpPr>
        <p:grpSpPr>
          <a:xfrm>
            <a:off x="133650" y="1788350"/>
            <a:ext cx="2446902" cy="2743200"/>
            <a:chOff x="133650" y="1788350"/>
            <a:chExt cx="2446902" cy="2743200"/>
          </a:xfrm>
        </p:grpSpPr>
        <p:sp>
          <p:nvSpPr>
            <p:cNvPr id="242" name="Google Shape;242;p22"/>
            <p:cNvSpPr/>
            <p:nvPr/>
          </p:nvSpPr>
          <p:spPr>
            <a:xfrm>
              <a:off x="133650" y="1788350"/>
              <a:ext cx="219900" cy="27432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3" name="Google Shape;243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8700" y="1994150"/>
              <a:ext cx="2111852" cy="21118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Publications </a:t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353000" y="2916150"/>
            <a:ext cx="2258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RACS-SADL</a:t>
            </a:r>
            <a:endParaRPr sz="1600"/>
          </a:p>
        </p:txBody>
      </p:sp>
      <p:sp>
        <p:nvSpPr>
          <p:cNvPr id="250" name="Google Shape;250;p23"/>
          <p:cNvSpPr/>
          <p:nvPr/>
        </p:nvSpPr>
        <p:spPr>
          <a:xfrm>
            <a:off x="3248600" y="2916150"/>
            <a:ext cx="558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Under review in IEEE CLOUD 2025</a:t>
            </a:r>
            <a:endParaRPr sz="1600"/>
          </a:p>
        </p:txBody>
      </p:sp>
      <p:sp>
        <p:nvSpPr>
          <p:cNvPr id="251" name="Google Shape;251;p23"/>
          <p:cNvSpPr/>
          <p:nvPr/>
        </p:nvSpPr>
        <p:spPr>
          <a:xfrm>
            <a:off x="353000" y="1392150"/>
            <a:ext cx="22587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QuePaxa</a:t>
            </a:r>
            <a:endParaRPr sz="1600"/>
          </a:p>
        </p:txBody>
      </p:sp>
      <p:sp>
        <p:nvSpPr>
          <p:cNvPr id="252" name="Google Shape;252;p23"/>
          <p:cNvSpPr/>
          <p:nvPr/>
        </p:nvSpPr>
        <p:spPr>
          <a:xfrm>
            <a:off x="3248600" y="1392150"/>
            <a:ext cx="5583600" cy="572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Published in SOSP 2023</a:t>
            </a:r>
            <a:endParaRPr sz="1600"/>
          </a:p>
        </p:txBody>
      </p:sp>
      <p:sp>
        <p:nvSpPr>
          <p:cNvPr id="253" name="Google Shape;253;p23"/>
          <p:cNvSpPr/>
          <p:nvPr/>
        </p:nvSpPr>
        <p:spPr>
          <a:xfrm>
            <a:off x="353000" y="2154150"/>
            <a:ext cx="22587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Mahi-Mahi</a:t>
            </a:r>
            <a:endParaRPr sz="1600"/>
          </a:p>
        </p:txBody>
      </p:sp>
      <p:sp>
        <p:nvSpPr>
          <p:cNvPr id="254" name="Google Shape;254;p23"/>
          <p:cNvSpPr/>
          <p:nvPr/>
        </p:nvSpPr>
        <p:spPr>
          <a:xfrm>
            <a:off x="3248600" y="2154150"/>
            <a:ext cx="55836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Under review in ICDCS 2025</a:t>
            </a:r>
            <a:endParaRPr sz="1600"/>
          </a:p>
        </p:txBody>
      </p:sp>
      <p:sp>
        <p:nvSpPr>
          <p:cNvPr id="255" name="Google Shape;25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Thesis Scope</a:t>
            </a:r>
            <a:endParaRPr/>
          </a:p>
        </p:txBody>
      </p:sp>
      <p:sp>
        <p:nvSpPr>
          <p:cNvPr id="261" name="Google Shape;26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4600125" y="1339950"/>
            <a:ext cx="0" cy="327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24"/>
          <p:cNvSpPr/>
          <p:nvPr/>
        </p:nvSpPr>
        <p:spPr>
          <a:xfrm>
            <a:off x="1484725" y="1533375"/>
            <a:ext cx="1770300" cy="65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In Scope</a:t>
            </a:r>
            <a:endParaRPr b="1" sz="1800"/>
          </a:p>
        </p:txBody>
      </p:sp>
      <p:sp>
        <p:nvSpPr>
          <p:cNvPr id="264" name="Google Shape;264;p24"/>
          <p:cNvSpPr/>
          <p:nvPr/>
        </p:nvSpPr>
        <p:spPr>
          <a:xfrm>
            <a:off x="5980525" y="1515825"/>
            <a:ext cx="1770300" cy="65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Out of Scope</a:t>
            </a:r>
            <a:endParaRPr b="1" sz="1800"/>
          </a:p>
        </p:txBody>
      </p:sp>
      <p:sp>
        <p:nvSpPr>
          <p:cNvPr id="265" name="Google Shape;265;p24"/>
          <p:cNvSpPr txBox="1"/>
          <p:nvPr>
            <p:ph idx="1" type="body"/>
          </p:nvPr>
        </p:nvSpPr>
        <p:spPr>
          <a:xfrm>
            <a:off x="525950" y="2490050"/>
            <a:ext cx="3064800" cy="2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Total Ordering.</a:t>
            </a:r>
            <a:endParaRPr sz="1400"/>
          </a:p>
        </p:txBody>
      </p:sp>
      <p:sp>
        <p:nvSpPr>
          <p:cNvPr id="266" name="Google Shape;266;p24"/>
          <p:cNvSpPr txBox="1"/>
          <p:nvPr>
            <p:ph idx="1" type="body"/>
          </p:nvPr>
        </p:nvSpPr>
        <p:spPr>
          <a:xfrm>
            <a:off x="5145250" y="2490050"/>
            <a:ext cx="3998700" cy="2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Node / committee reconfiguration.</a:t>
            </a:r>
            <a:br>
              <a:rPr lang="en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Transaction execution.</a:t>
            </a:r>
            <a:br>
              <a:rPr lang="en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Sharding.</a:t>
            </a:r>
            <a:br>
              <a:rPr lang="en" sz="1700"/>
            </a:b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Distributed </a:t>
            </a:r>
            <a:r>
              <a:rPr lang="en" sz="1700"/>
              <a:t>transactions.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272" name="Google Shape;27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Baxos</a:t>
            </a:r>
            <a:br>
              <a:rPr lang="e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QuePaxa</a:t>
            </a:r>
            <a:br>
              <a:rPr lang="e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Mahi-Mahi</a:t>
            </a:r>
            <a:br>
              <a:rPr lang="e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Summary</a:t>
            </a:r>
            <a:br>
              <a:rPr lang="e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Future Work</a:t>
            </a:r>
            <a:endParaRPr sz="2000"/>
          </a:p>
        </p:txBody>
      </p:sp>
      <p:sp>
        <p:nvSpPr>
          <p:cNvPr id="273" name="Google Shape;27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/>
          <p:nvPr>
            <p:ph type="title"/>
          </p:nvPr>
        </p:nvSpPr>
        <p:spPr>
          <a:xfrm>
            <a:off x="1683300" y="2045225"/>
            <a:ext cx="6084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Baxos: Backing off for robust consensus</a:t>
            </a:r>
            <a:endParaRPr/>
          </a:p>
        </p:txBody>
      </p:sp>
      <p:sp>
        <p:nvSpPr>
          <p:cNvPr id="279" name="Google Shape;27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1616450" y="2675975"/>
            <a:ext cx="5979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Pasindu Tennage*, Cristina Basescu, Lefteris Kokoris-Kogias, Ewa Syta, Philipp Jovanovic, Bryan Ford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Problems with leader based protocols.</a:t>
            </a:r>
            <a:br>
              <a:rPr lang="en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Baxos design.</a:t>
            </a:r>
            <a:br>
              <a:rPr lang="en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Evaluation.</a:t>
            </a:r>
            <a:endParaRPr sz="2100"/>
          </a:p>
        </p:txBody>
      </p:sp>
      <p:sp>
        <p:nvSpPr>
          <p:cNvPr id="286" name="Google Shape;28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Baxos Outline</a:t>
            </a:r>
            <a:endParaRPr/>
          </a:p>
        </p:txBody>
      </p:sp>
      <p:sp>
        <p:nvSpPr>
          <p:cNvPr id="287" name="Google Shape;28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with leader-based protocols</a:t>
            </a:r>
            <a:endParaRPr/>
          </a:p>
        </p:txBody>
      </p:sp>
      <p:sp>
        <p:nvSpPr>
          <p:cNvPr id="293" name="Google Shape;29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4" name="Google Shape;294;p28"/>
          <p:cNvSpPr/>
          <p:nvPr/>
        </p:nvSpPr>
        <p:spPr>
          <a:xfrm>
            <a:off x="23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Cost of view change</a:t>
            </a:r>
            <a:endParaRPr sz="1600"/>
          </a:p>
        </p:txBody>
      </p:sp>
      <p:sp>
        <p:nvSpPr>
          <p:cNvPr id="295" name="Google Shape;295;p28"/>
          <p:cNvSpPr/>
          <p:nvPr/>
        </p:nvSpPr>
        <p:spPr>
          <a:xfrm>
            <a:off x="3071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Leader-</a:t>
            </a:r>
            <a:r>
              <a:rPr lang="en" sz="1600"/>
              <a:t>targeted</a:t>
            </a:r>
            <a:r>
              <a:rPr lang="en" sz="1600"/>
              <a:t> attacks</a:t>
            </a:r>
            <a:endParaRPr sz="1600"/>
          </a:p>
        </p:txBody>
      </p:sp>
      <p:sp>
        <p:nvSpPr>
          <p:cNvPr id="296" name="Google Shape;296;p28"/>
          <p:cNvSpPr/>
          <p:nvPr/>
        </p:nvSpPr>
        <p:spPr>
          <a:xfrm>
            <a:off x="6119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Variability in resource usage</a:t>
            </a:r>
            <a:endParaRPr sz="1600"/>
          </a:p>
        </p:txBody>
      </p:sp>
      <p:sp>
        <p:nvSpPr>
          <p:cNvPr id="297" name="Google Shape;297;p28"/>
          <p:cNvSpPr/>
          <p:nvPr/>
        </p:nvSpPr>
        <p:spPr>
          <a:xfrm>
            <a:off x="23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Cost of view change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case operation of Multi-Paxos</a:t>
            </a:r>
            <a:endParaRPr/>
          </a:p>
        </p:txBody>
      </p:sp>
      <p:cxnSp>
        <p:nvCxnSpPr>
          <p:cNvPr id="303" name="Google Shape;303;p29"/>
          <p:cNvCxnSpPr/>
          <p:nvPr/>
        </p:nvCxnSpPr>
        <p:spPr>
          <a:xfrm>
            <a:off x="743675" y="1828000"/>
            <a:ext cx="7924800" cy="50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29"/>
          <p:cNvCxnSpPr/>
          <p:nvPr/>
        </p:nvCxnSpPr>
        <p:spPr>
          <a:xfrm>
            <a:off x="743675" y="25900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29"/>
          <p:cNvCxnSpPr/>
          <p:nvPr/>
        </p:nvCxnSpPr>
        <p:spPr>
          <a:xfrm>
            <a:off x="743675" y="33520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9"/>
          <p:cNvCxnSpPr/>
          <p:nvPr/>
        </p:nvCxnSpPr>
        <p:spPr>
          <a:xfrm>
            <a:off x="743675" y="41140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29"/>
          <p:cNvSpPr txBox="1"/>
          <p:nvPr/>
        </p:nvSpPr>
        <p:spPr>
          <a:xfrm>
            <a:off x="654325" y="14208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29"/>
          <p:cNvSpPr txBox="1"/>
          <p:nvPr/>
        </p:nvSpPr>
        <p:spPr>
          <a:xfrm>
            <a:off x="339800" y="16107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309" name="Google Shape;309;p29"/>
          <p:cNvSpPr txBox="1"/>
          <p:nvPr/>
        </p:nvSpPr>
        <p:spPr>
          <a:xfrm>
            <a:off x="339800" y="23727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39800" y="31347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39800" y="38967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R4</a:t>
            </a:r>
            <a:endParaRPr/>
          </a:p>
        </p:txBody>
      </p:sp>
      <p:sp>
        <p:nvSpPr>
          <p:cNvPr id="312" name="Google Shape;312;p29"/>
          <p:cNvSpPr txBox="1"/>
          <p:nvPr/>
        </p:nvSpPr>
        <p:spPr>
          <a:xfrm>
            <a:off x="4196100" y="4443675"/>
            <a:ext cx="864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1</a:t>
            </a:r>
            <a:endParaRPr/>
          </a:p>
        </p:txBody>
      </p:sp>
      <p:grpSp>
        <p:nvGrpSpPr>
          <p:cNvPr id="313" name="Google Shape;313;p29"/>
          <p:cNvGrpSpPr/>
          <p:nvPr/>
        </p:nvGrpSpPr>
        <p:grpSpPr>
          <a:xfrm>
            <a:off x="724450" y="1837512"/>
            <a:ext cx="1068037" cy="2245200"/>
            <a:chOff x="724450" y="1837512"/>
            <a:chExt cx="1068037" cy="2245200"/>
          </a:xfrm>
        </p:grpSpPr>
        <p:cxnSp>
          <p:nvCxnSpPr>
            <p:cNvPr id="314" name="Google Shape;314;p29"/>
            <p:cNvCxnSpPr/>
            <p:nvPr/>
          </p:nvCxnSpPr>
          <p:spPr>
            <a:xfrm>
              <a:off x="1216187" y="1837512"/>
              <a:ext cx="444900" cy="746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5" name="Google Shape;315;p29"/>
            <p:cNvCxnSpPr/>
            <p:nvPr/>
          </p:nvCxnSpPr>
          <p:spPr>
            <a:xfrm>
              <a:off x="1216187" y="1837512"/>
              <a:ext cx="554400" cy="152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6" name="Google Shape;316;p29"/>
            <p:cNvCxnSpPr/>
            <p:nvPr/>
          </p:nvCxnSpPr>
          <p:spPr>
            <a:xfrm>
              <a:off x="1216187" y="1837512"/>
              <a:ext cx="576300" cy="2245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7" name="Google Shape;317;p29"/>
            <p:cNvSpPr txBox="1"/>
            <p:nvPr/>
          </p:nvSpPr>
          <p:spPr>
            <a:xfrm>
              <a:off x="724450" y="27993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Prepare</a:t>
              </a:r>
              <a:endParaRPr/>
            </a:p>
          </p:txBody>
        </p:sp>
      </p:grpSp>
      <p:grpSp>
        <p:nvGrpSpPr>
          <p:cNvPr id="318" name="Google Shape;318;p29"/>
          <p:cNvGrpSpPr/>
          <p:nvPr/>
        </p:nvGrpSpPr>
        <p:grpSpPr>
          <a:xfrm>
            <a:off x="1672025" y="1403238"/>
            <a:ext cx="1332125" cy="2767712"/>
            <a:chOff x="1672025" y="1403238"/>
            <a:chExt cx="1332125" cy="2767712"/>
          </a:xfrm>
        </p:grpSpPr>
        <p:pic>
          <p:nvPicPr>
            <p:cNvPr id="319" name="Google Shape;319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24204" y="1403238"/>
              <a:ext cx="628536" cy="3535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20" name="Google Shape;320;p29"/>
            <p:cNvCxnSpPr/>
            <p:nvPr/>
          </p:nvCxnSpPr>
          <p:spPr>
            <a:xfrm flipH="1" rot="10800000">
              <a:off x="1750000" y="1873250"/>
              <a:ext cx="665700" cy="2297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21" name="Google Shape;321;p29"/>
            <p:cNvCxnSpPr/>
            <p:nvPr/>
          </p:nvCxnSpPr>
          <p:spPr>
            <a:xfrm flipH="1" rot="10800000">
              <a:off x="1770475" y="1873150"/>
              <a:ext cx="623400" cy="14658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22" name="Google Shape;322;p29"/>
            <p:cNvCxnSpPr/>
            <p:nvPr/>
          </p:nvCxnSpPr>
          <p:spPr>
            <a:xfrm flipH="1" rot="10800000">
              <a:off x="1672025" y="1895125"/>
              <a:ext cx="721800" cy="689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23" name="Google Shape;323;p29"/>
            <p:cNvSpPr txBox="1"/>
            <p:nvPr/>
          </p:nvSpPr>
          <p:spPr>
            <a:xfrm>
              <a:off x="2019850" y="2799350"/>
              <a:ext cx="984300" cy="313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Promise</a:t>
              </a:r>
              <a:endParaRPr/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2781850" y="1837512"/>
            <a:ext cx="991837" cy="2245200"/>
            <a:chOff x="2781850" y="1837512"/>
            <a:chExt cx="991837" cy="2245200"/>
          </a:xfrm>
        </p:grpSpPr>
        <p:cxnSp>
          <p:nvCxnSpPr>
            <p:cNvPr id="325" name="Google Shape;325;p29"/>
            <p:cNvCxnSpPr/>
            <p:nvPr/>
          </p:nvCxnSpPr>
          <p:spPr>
            <a:xfrm>
              <a:off x="3197387" y="1837512"/>
              <a:ext cx="444900" cy="746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26" name="Google Shape;326;p29"/>
            <p:cNvCxnSpPr/>
            <p:nvPr/>
          </p:nvCxnSpPr>
          <p:spPr>
            <a:xfrm>
              <a:off x="3197387" y="1837512"/>
              <a:ext cx="554400" cy="152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27" name="Google Shape;327;p29"/>
            <p:cNvCxnSpPr/>
            <p:nvPr/>
          </p:nvCxnSpPr>
          <p:spPr>
            <a:xfrm>
              <a:off x="3197387" y="1837512"/>
              <a:ext cx="576300" cy="2245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28" name="Google Shape;328;p29"/>
            <p:cNvSpPr txBox="1"/>
            <p:nvPr/>
          </p:nvSpPr>
          <p:spPr>
            <a:xfrm>
              <a:off x="2781850" y="2799350"/>
              <a:ext cx="984300" cy="3132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Propose</a:t>
              </a:r>
              <a:endParaRPr/>
            </a:p>
          </p:txBody>
        </p:sp>
      </p:grpSp>
      <p:grpSp>
        <p:nvGrpSpPr>
          <p:cNvPr id="329" name="Google Shape;329;p29"/>
          <p:cNvGrpSpPr/>
          <p:nvPr/>
        </p:nvGrpSpPr>
        <p:grpSpPr>
          <a:xfrm>
            <a:off x="3653225" y="1503950"/>
            <a:ext cx="1560725" cy="2667000"/>
            <a:chOff x="3653225" y="1503950"/>
            <a:chExt cx="1560725" cy="2667000"/>
          </a:xfrm>
        </p:grpSpPr>
        <p:cxnSp>
          <p:nvCxnSpPr>
            <p:cNvPr id="330" name="Google Shape;330;p29"/>
            <p:cNvCxnSpPr/>
            <p:nvPr/>
          </p:nvCxnSpPr>
          <p:spPr>
            <a:xfrm flipH="1" rot="10800000">
              <a:off x="3731200" y="1873250"/>
              <a:ext cx="665700" cy="2297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1" name="Google Shape;331;p29"/>
            <p:cNvCxnSpPr/>
            <p:nvPr/>
          </p:nvCxnSpPr>
          <p:spPr>
            <a:xfrm flipH="1" rot="10800000">
              <a:off x="3751675" y="1873150"/>
              <a:ext cx="623400" cy="14658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2" name="Google Shape;332;p29"/>
            <p:cNvCxnSpPr/>
            <p:nvPr/>
          </p:nvCxnSpPr>
          <p:spPr>
            <a:xfrm flipH="1" rot="10800000">
              <a:off x="3653225" y="1895125"/>
              <a:ext cx="721800" cy="689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33" name="Google Shape;333;p29"/>
            <p:cNvSpPr txBox="1"/>
            <p:nvPr/>
          </p:nvSpPr>
          <p:spPr>
            <a:xfrm>
              <a:off x="4001050" y="27993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Accept</a:t>
              </a:r>
              <a:endParaRPr/>
            </a:p>
          </p:txBody>
        </p:sp>
        <p:sp>
          <p:nvSpPr>
            <p:cNvPr id="334" name="Google Shape;334;p29"/>
            <p:cNvSpPr txBox="1"/>
            <p:nvPr/>
          </p:nvSpPr>
          <p:spPr>
            <a:xfrm>
              <a:off x="4229650" y="15039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Commit</a:t>
              </a:r>
              <a:endParaRPr/>
            </a:p>
          </p:txBody>
        </p:sp>
      </p:grpSp>
      <p:grpSp>
        <p:nvGrpSpPr>
          <p:cNvPr id="335" name="Google Shape;335;p29"/>
          <p:cNvGrpSpPr/>
          <p:nvPr/>
        </p:nvGrpSpPr>
        <p:grpSpPr>
          <a:xfrm>
            <a:off x="4686850" y="1837512"/>
            <a:ext cx="991837" cy="2245200"/>
            <a:chOff x="4686850" y="1837512"/>
            <a:chExt cx="991837" cy="2245200"/>
          </a:xfrm>
        </p:grpSpPr>
        <p:cxnSp>
          <p:nvCxnSpPr>
            <p:cNvPr id="336" name="Google Shape;336;p29"/>
            <p:cNvCxnSpPr/>
            <p:nvPr/>
          </p:nvCxnSpPr>
          <p:spPr>
            <a:xfrm>
              <a:off x="5102387" y="1837512"/>
              <a:ext cx="444900" cy="746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7" name="Google Shape;337;p29"/>
            <p:cNvCxnSpPr/>
            <p:nvPr/>
          </p:nvCxnSpPr>
          <p:spPr>
            <a:xfrm>
              <a:off x="5102387" y="1837512"/>
              <a:ext cx="554400" cy="152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38" name="Google Shape;338;p29"/>
            <p:cNvCxnSpPr/>
            <p:nvPr/>
          </p:nvCxnSpPr>
          <p:spPr>
            <a:xfrm>
              <a:off x="5102387" y="1837512"/>
              <a:ext cx="576300" cy="2245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39" name="Google Shape;339;p29"/>
            <p:cNvSpPr txBox="1"/>
            <p:nvPr/>
          </p:nvSpPr>
          <p:spPr>
            <a:xfrm>
              <a:off x="4686850" y="27993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Propose</a:t>
              </a:r>
              <a:endParaRPr/>
            </a:p>
          </p:txBody>
        </p:sp>
      </p:grpSp>
      <p:grpSp>
        <p:nvGrpSpPr>
          <p:cNvPr id="340" name="Google Shape;340;p29"/>
          <p:cNvGrpSpPr/>
          <p:nvPr/>
        </p:nvGrpSpPr>
        <p:grpSpPr>
          <a:xfrm>
            <a:off x="5558225" y="1503950"/>
            <a:ext cx="1560725" cy="2667000"/>
            <a:chOff x="5558225" y="1503950"/>
            <a:chExt cx="1560725" cy="2667000"/>
          </a:xfrm>
        </p:grpSpPr>
        <p:cxnSp>
          <p:nvCxnSpPr>
            <p:cNvPr id="341" name="Google Shape;341;p29"/>
            <p:cNvCxnSpPr/>
            <p:nvPr/>
          </p:nvCxnSpPr>
          <p:spPr>
            <a:xfrm flipH="1" rot="10800000">
              <a:off x="5636200" y="1873250"/>
              <a:ext cx="665700" cy="2297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42" name="Google Shape;342;p29"/>
            <p:cNvCxnSpPr/>
            <p:nvPr/>
          </p:nvCxnSpPr>
          <p:spPr>
            <a:xfrm flipH="1" rot="10800000">
              <a:off x="5656675" y="1873150"/>
              <a:ext cx="623400" cy="14658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43" name="Google Shape;343;p29"/>
            <p:cNvCxnSpPr/>
            <p:nvPr/>
          </p:nvCxnSpPr>
          <p:spPr>
            <a:xfrm flipH="1" rot="10800000">
              <a:off x="5558225" y="1895125"/>
              <a:ext cx="721800" cy="689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44" name="Google Shape;344;p29"/>
            <p:cNvSpPr txBox="1"/>
            <p:nvPr/>
          </p:nvSpPr>
          <p:spPr>
            <a:xfrm>
              <a:off x="5906050" y="27993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Accept</a:t>
              </a:r>
              <a:endParaRPr/>
            </a:p>
          </p:txBody>
        </p:sp>
        <p:sp>
          <p:nvSpPr>
            <p:cNvPr id="345" name="Google Shape;345;p29"/>
            <p:cNvSpPr txBox="1"/>
            <p:nvPr/>
          </p:nvSpPr>
          <p:spPr>
            <a:xfrm>
              <a:off x="6134650" y="15039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Commit</a:t>
              </a:r>
              <a:endParaRPr/>
            </a:p>
          </p:txBody>
        </p:sp>
      </p:grpSp>
      <p:sp>
        <p:nvSpPr>
          <p:cNvPr id="346" name="Google Shape;34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0"/>
          <p:cNvSpPr txBox="1"/>
          <p:nvPr>
            <p:ph type="title"/>
          </p:nvPr>
        </p:nvSpPr>
        <p:spPr>
          <a:xfrm>
            <a:off x="311700" y="14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Timeout based view change in Multi-Paxos</a:t>
            </a:r>
            <a:endParaRPr/>
          </a:p>
        </p:txBody>
      </p:sp>
      <p:cxnSp>
        <p:nvCxnSpPr>
          <p:cNvPr id="352" name="Google Shape;352;p30"/>
          <p:cNvCxnSpPr/>
          <p:nvPr/>
        </p:nvCxnSpPr>
        <p:spPr>
          <a:xfrm>
            <a:off x="438875" y="1599400"/>
            <a:ext cx="7874100" cy="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0"/>
          <p:cNvCxnSpPr/>
          <p:nvPr/>
        </p:nvCxnSpPr>
        <p:spPr>
          <a:xfrm>
            <a:off x="438875" y="23614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0"/>
          <p:cNvCxnSpPr/>
          <p:nvPr/>
        </p:nvCxnSpPr>
        <p:spPr>
          <a:xfrm>
            <a:off x="438875" y="31234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0"/>
          <p:cNvCxnSpPr/>
          <p:nvPr/>
        </p:nvCxnSpPr>
        <p:spPr>
          <a:xfrm>
            <a:off x="438875" y="38854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30"/>
          <p:cNvSpPr txBox="1"/>
          <p:nvPr/>
        </p:nvSpPr>
        <p:spPr>
          <a:xfrm>
            <a:off x="349525" y="1192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30"/>
          <p:cNvSpPr txBox="1"/>
          <p:nvPr/>
        </p:nvSpPr>
        <p:spPr>
          <a:xfrm>
            <a:off x="35000" y="1382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358" name="Google Shape;358;p30"/>
          <p:cNvSpPr txBox="1"/>
          <p:nvPr/>
        </p:nvSpPr>
        <p:spPr>
          <a:xfrm>
            <a:off x="35000" y="2144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359" name="Google Shape;359;p30"/>
          <p:cNvSpPr txBox="1"/>
          <p:nvPr/>
        </p:nvSpPr>
        <p:spPr>
          <a:xfrm>
            <a:off x="35000" y="2906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360" name="Google Shape;360;p30"/>
          <p:cNvSpPr txBox="1"/>
          <p:nvPr/>
        </p:nvSpPr>
        <p:spPr>
          <a:xfrm>
            <a:off x="35000" y="3668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R4</a:t>
            </a:r>
            <a:endParaRPr/>
          </a:p>
        </p:txBody>
      </p:sp>
      <p:cxnSp>
        <p:nvCxnSpPr>
          <p:cNvPr id="361" name="Google Shape;361;p30"/>
          <p:cNvCxnSpPr/>
          <p:nvPr/>
        </p:nvCxnSpPr>
        <p:spPr>
          <a:xfrm rot="10800000">
            <a:off x="3706225" y="1240050"/>
            <a:ext cx="10800" cy="30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30"/>
          <p:cNvSpPr txBox="1"/>
          <p:nvPr/>
        </p:nvSpPr>
        <p:spPr>
          <a:xfrm>
            <a:off x="1529100" y="4215075"/>
            <a:ext cx="864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1</a:t>
            </a:r>
            <a:endParaRPr/>
          </a:p>
        </p:txBody>
      </p:sp>
      <p:cxnSp>
        <p:nvCxnSpPr>
          <p:cNvPr id="363" name="Google Shape;363;p30"/>
          <p:cNvCxnSpPr/>
          <p:nvPr/>
        </p:nvCxnSpPr>
        <p:spPr>
          <a:xfrm>
            <a:off x="911387" y="1608912"/>
            <a:ext cx="444900" cy="74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4" name="Google Shape;364;p30"/>
          <p:cNvCxnSpPr/>
          <p:nvPr/>
        </p:nvCxnSpPr>
        <p:spPr>
          <a:xfrm>
            <a:off x="911387" y="1608912"/>
            <a:ext cx="554400" cy="15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5" name="Google Shape;365;p30"/>
          <p:cNvCxnSpPr/>
          <p:nvPr/>
        </p:nvCxnSpPr>
        <p:spPr>
          <a:xfrm>
            <a:off x="911387" y="1608912"/>
            <a:ext cx="576300" cy="224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66" name="Google Shape;3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204" y="1174638"/>
            <a:ext cx="628536" cy="35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0"/>
          <p:cNvSpPr txBox="1"/>
          <p:nvPr/>
        </p:nvSpPr>
        <p:spPr>
          <a:xfrm>
            <a:off x="495850" y="26469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cxnSp>
        <p:nvCxnSpPr>
          <p:cNvPr id="368" name="Google Shape;368;p30"/>
          <p:cNvCxnSpPr/>
          <p:nvPr/>
        </p:nvCxnSpPr>
        <p:spPr>
          <a:xfrm flipH="1" rot="10800000">
            <a:off x="1445200" y="1644650"/>
            <a:ext cx="665700" cy="229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" name="Google Shape;369;p30"/>
          <p:cNvCxnSpPr/>
          <p:nvPr/>
        </p:nvCxnSpPr>
        <p:spPr>
          <a:xfrm flipH="1" rot="10800000">
            <a:off x="1465675" y="1644550"/>
            <a:ext cx="623400" cy="146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" name="Google Shape;370;p30"/>
          <p:cNvCxnSpPr/>
          <p:nvPr/>
        </p:nvCxnSpPr>
        <p:spPr>
          <a:xfrm flipH="1" rot="10800000">
            <a:off x="1367225" y="1666525"/>
            <a:ext cx="721800" cy="68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" name="Google Shape;371;p30"/>
          <p:cNvSpPr txBox="1"/>
          <p:nvPr/>
        </p:nvSpPr>
        <p:spPr>
          <a:xfrm>
            <a:off x="1715050" y="2570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</a:t>
            </a:r>
            <a:endParaRPr/>
          </a:p>
        </p:txBody>
      </p:sp>
      <p:sp>
        <p:nvSpPr>
          <p:cNvPr id="372" name="Google Shape;372;p30"/>
          <p:cNvSpPr txBox="1"/>
          <p:nvPr/>
        </p:nvSpPr>
        <p:spPr>
          <a:xfrm>
            <a:off x="1943650" y="12753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</p:txBody>
      </p:sp>
      <p:grpSp>
        <p:nvGrpSpPr>
          <p:cNvPr id="373" name="Google Shape;373;p30"/>
          <p:cNvGrpSpPr/>
          <p:nvPr/>
        </p:nvGrpSpPr>
        <p:grpSpPr>
          <a:xfrm>
            <a:off x="2747050" y="1431950"/>
            <a:ext cx="714300" cy="376800"/>
            <a:chOff x="2747050" y="1431950"/>
            <a:chExt cx="714300" cy="376800"/>
          </a:xfrm>
        </p:grpSpPr>
        <p:cxnSp>
          <p:nvCxnSpPr>
            <p:cNvPr id="374" name="Google Shape;374;p30"/>
            <p:cNvCxnSpPr/>
            <p:nvPr/>
          </p:nvCxnSpPr>
          <p:spPr>
            <a:xfrm flipH="1" rot="10800000">
              <a:off x="2747050" y="1431950"/>
              <a:ext cx="257100" cy="37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30"/>
            <p:cNvCxnSpPr/>
            <p:nvPr/>
          </p:nvCxnSpPr>
          <p:spPr>
            <a:xfrm flipH="1" rot="10800000">
              <a:off x="2899450" y="1431950"/>
              <a:ext cx="257100" cy="37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30"/>
            <p:cNvCxnSpPr/>
            <p:nvPr/>
          </p:nvCxnSpPr>
          <p:spPr>
            <a:xfrm flipH="1" rot="10800000">
              <a:off x="3051850" y="1431950"/>
              <a:ext cx="257100" cy="37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30"/>
            <p:cNvCxnSpPr/>
            <p:nvPr/>
          </p:nvCxnSpPr>
          <p:spPr>
            <a:xfrm flipH="1" rot="10800000">
              <a:off x="3204250" y="1431950"/>
              <a:ext cx="257100" cy="376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78" name="Google Shape;378;p30"/>
          <p:cNvSpPr txBox="1"/>
          <p:nvPr/>
        </p:nvSpPr>
        <p:spPr>
          <a:xfrm>
            <a:off x="5948700" y="4138875"/>
            <a:ext cx="864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2</a:t>
            </a:r>
            <a:endParaRPr/>
          </a:p>
        </p:txBody>
      </p:sp>
      <p:grpSp>
        <p:nvGrpSpPr>
          <p:cNvPr id="379" name="Google Shape;379;p30"/>
          <p:cNvGrpSpPr/>
          <p:nvPr/>
        </p:nvGrpSpPr>
        <p:grpSpPr>
          <a:xfrm>
            <a:off x="3543850" y="1600975"/>
            <a:ext cx="984300" cy="2264100"/>
            <a:chOff x="3543850" y="1600975"/>
            <a:chExt cx="984300" cy="2264100"/>
          </a:xfrm>
        </p:grpSpPr>
        <p:cxnSp>
          <p:nvCxnSpPr>
            <p:cNvPr id="380" name="Google Shape;380;p30"/>
            <p:cNvCxnSpPr/>
            <p:nvPr/>
          </p:nvCxnSpPr>
          <p:spPr>
            <a:xfrm flipH="1" rot="10800000">
              <a:off x="3768075" y="1600975"/>
              <a:ext cx="448500" cy="76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1" name="Google Shape;381;p30"/>
            <p:cNvCxnSpPr/>
            <p:nvPr/>
          </p:nvCxnSpPr>
          <p:spPr>
            <a:xfrm>
              <a:off x="3768075" y="2355625"/>
              <a:ext cx="415500" cy="743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2" name="Google Shape;382;p30"/>
            <p:cNvCxnSpPr/>
            <p:nvPr/>
          </p:nvCxnSpPr>
          <p:spPr>
            <a:xfrm>
              <a:off x="3789950" y="2366575"/>
              <a:ext cx="426600" cy="149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83" name="Google Shape;383;p30"/>
            <p:cNvSpPr txBox="1"/>
            <p:nvPr/>
          </p:nvSpPr>
          <p:spPr>
            <a:xfrm>
              <a:off x="3543850" y="18087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Prepare</a:t>
              </a:r>
              <a:endParaRPr/>
            </a:p>
          </p:txBody>
        </p:sp>
      </p:grpSp>
      <p:grpSp>
        <p:nvGrpSpPr>
          <p:cNvPr id="384" name="Google Shape;384;p30"/>
          <p:cNvGrpSpPr/>
          <p:nvPr/>
        </p:nvGrpSpPr>
        <p:grpSpPr>
          <a:xfrm>
            <a:off x="4292725" y="1600925"/>
            <a:ext cx="1302225" cy="2275075"/>
            <a:chOff x="4292725" y="1600925"/>
            <a:chExt cx="1302225" cy="2275075"/>
          </a:xfrm>
        </p:grpSpPr>
        <p:cxnSp>
          <p:nvCxnSpPr>
            <p:cNvPr id="385" name="Google Shape;385;p30"/>
            <p:cNvCxnSpPr/>
            <p:nvPr/>
          </p:nvCxnSpPr>
          <p:spPr>
            <a:xfrm>
              <a:off x="4292725" y="1600925"/>
              <a:ext cx="568800" cy="743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6" name="Google Shape;386;p30"/>
            <p:cNvCxnSpPr/>
            <p:nvPr/>
          </p:nvCxnSpPr>
          <p:spPr>
            <a:xfrm flipH="1" rot="10800000">
              <a:off x="4292725" y="2388450"/>
              <a:ext cx="557700" cy="66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87" name="Google Shape;387;p30"/>
            <p:cNvCxnSpPr/>
            <p:nvPr/>
          </p:nvCxnSpPr>
          <p:spPr>
            <a:xfrm flipH="1" rot="10800000">
              <a:off x="4314600" y="2432100"/>
              <a:ext cx="535800" cy="144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88" name="Google Shape;388;p30"/>
            <p:cNvSpPr txBox="1"/>
            <p:nvPr/>
          </p:nvSpPr>
          <p:spPr>
            <a:xfrm>
              <a:off x="4610650" y="24945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Promise</a:t>
              </a:r>
              <a:endParaRPr/>
            </a:p>
          </p:txBody>
        </p:sp>
        <p:pic>
          <p:nvPicPr>
            <p:cNvPr id="389" name="Google Shape;389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38804" y="2012838"/>
              <a:ext cx="628536" cy="353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0" name="Google Shape;390;p30"/>
          <p:cNvSpPr txBox="1"/>
          <p:nvPr/>
        </p:nvSpPr>
        <p:spPr>
          <a:xfrm>
            <a:off x="3738900" y="3986475"/>
            <a:ext cx="1307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Change</a:t>
            </a:r>
            <a:endParaRPr/>
          </a:p>
        </p:txBody>
      </p:sp>
      <p:sp>
        <p:nvSpPr>
          <p:cNvPr id="391" name="Google Shape;39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92" name="Google Shape;392;p30"/>
          <p:cNvGrpSpPr/>
          <p:nvPr/>
        </p:nvGrpSpPr>
        <p:grpSpPr>
          <a:xfrm>
            <a:off x="5753650" y="1600975"/>
            <a:ext cx="984300" cy="2264100"/>
            <a:chOff x="5753650" y="1600975"/>
            <a:chExt cx="984300" cy="2264100"/>
          </a:xfrm>
        </p:grpSpPr>
        <p:cxnSp>
          <p:nvCxnSpPr>
            <p:cNvPr id="393" name="Google Shape;393;p30"/>
            <p:cNvCxnSpPr/>
            <p:nvPr/>
          </p:nvCxnSpPr>
          <p:spPr>
            <a:xfrm flipH="1" rot="10800000">
              <a:off x="5977875" y="1600975"/>
              <a:ext cx="448500" cy="76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94" name="Google Shape;394;p30"/>
            <p:cNvCxnSpPr/>
            <p:nvPr/>
          </p:nvCxnSpPr>
          <p:spPr>
            <a:xfrm>
              <a:off x="5977875" y="2355625"/>
              <a:ext cx="415500" cy="743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95" name="Google Shape;395;p30"/>
            <p:cNvCxnSpPr/>
            <p:nvPr/>
          </p:nvCxnSpPr>
          <p:spPr>
            <a:xfrm>
              <a:off x="5999750" y="2366575"/>
              <a:ext cx="426600" cy="149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96" name="Google Shape;396;p30"/>
            <p:cNvSpPr txBox="1"/>
            <p:nvPr/>
          </p:nvSpPr>
          <p:spPr>
            <a:xfrm>
              <a:off x="5753650" y="18087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Propose</a:t>
              </a:r>
              <a:endParaRPr/>
            </a:p>
          </p:txBody>
        </p:sp>
      </p:grpSp>
      <p:grpSp>
        <p:nvGrpSpPr>
          <p:cNvPr id="397" name="Google Shape;397;p30"/>
          <p:cNvGrpSpPr/>
          <p:nvPr/>
        </p:nvGrpSpPr>
        <p:grpSpPr>
          <a:xfrm>
            <a:off x="6426325" y="1600925"/>
            <a:ext cx="1378425" cy="2275075"/>
            <a:chOff x="6426325" y="1600925"/>
            <a:chExt cx="1378425" cy="2275075"/>
          </a:xfrm>
        </p:grpSpPr>
        <p:cxnSp>
          <p:nvCxnSpPr>
            <p:cNvPr id="398" name="Google Shape;398;p30"/>
            <p:cNvCxnSpPr/>
            <p:nvPr/>
          </p:nvCxnSpPr>
          <p:spPr>
            <a:xfrm>
              <a:off x="6426325" y="1600925"/>
              <a:ext cx="568800" cy="743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99" name="Google Shape;399;p30"/>
            <p:cNvCxnSpPr/>
            <p:nvPr/>
          </p:nvCxnSpPr>
          <p:spPr>
            <a:xfrm flipH="1" rot="10800000">
              <a:off x="6426325" y="2388450"/>
              <a:ext cx="557700" cy="66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00" name="Google Shape;400;p30"/>
            <p:cNvCxnSpPr/>
            <p:nvPr/>
          </p:nvCxnSpPr>
          <p:spPr>
            <a:xfrm flipH="1" rot="10800000">
              <a:off x="6448200" y="2432100"/>
              <a:ext cx="535800" cy="1443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01" name="Google Shape;401;p30"/>
            <p:cNvSpPr txBox="1"/>
            <p:nvPr/>
          </p:nvSpPr>
          <p:spPr>
            <a:xfrm>
              <a:off x="6820450" y="26469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Accept</a:t>
              </a:r>
              <a:endParaRPr/>
            </a:p>
          </p:txBody>
        </p:sp>
      </p:grpSp>
      <p:grpSp>
        <p:nvGrpSpPr>
          <p:cNvPr id="402" name="Google Shape;402;p30"/>
          <p:cNvGrpSpPr/>
          <p:nvPr/>
        </p:nvGrpSpPr>
        <p:grpSpPr>
          <a:xfrm>
            <a:off x="3223025" y="2232174"/>
            <a:ext cx="268801" cy="1786502"/>
            <a:chOff x="3223025" y="2232174"/>
            <a:chExt cx="268801" cy="1786502"/>
          </a:xfrm>
        </p:grpSpPr>
        <p:pic>
          <p:nvPicPr>
            <p:cNvPr id="403" name="Google Shape;403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23025" y="2232174"/>
              <a:ext cx="268801" cy="262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23025" y="2994174"/>
              <a:ext cx="268801" cy="262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23025" y="3756174"/>
              <a:ext cx="268801" cy="262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6" name="Google Shape;406;p30"/>
          <p:cNvSpPr/>
          <p:nvPr/>
        </p:nvSpPr>
        <p:spPr>
          <a:xfrm>
            <a:off x="2693350" y="1149225"/>
            <a:ext cx="2967900" cy="3558000"/>
          </a:xfrm>
          <a:prstGeom prst="rect">
            <a:avLst/>
          </a:prstGeom>
          <a:noFill/>
          <a:ln cap="flat" cmpd="sng" w="28575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with view change</a:t>
            </a:r>
            <a:endParaRPr/>
          </a:p>
        </p:txBody>
      </p:sp>
      <p:sp>
        <p:nvSpPr>
          <p:cNvPr id="412" name="Google Shape;412;p31"/>
          <p:cNvSpPr/>
          <p:nvPr/>
        </p:nvSpPr>
        <p:spPr>
          <a:xfrm>
            <a:off x="591425" y="1195200"/>
            <a:ext cx="3412500" cy="129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No commands committed during view change</a:t>
            </a:r>
            <a:endParaRPr sz="2100"/>
          </a:p>
        </p:txBody>
      </p:sp>
      <p:sp>
        <p:nvSpPr>
          <p:cNvPr id="413" name="Google Shape;413;p31"/>
          <p:cNvSpPr/>
          <p:nvPr/>
        </p:nvSpPr>
        <p:spPr>
          <a:xfrm>
            <a:off x="4966275" y="1195125"/>
            <a:ext cx="2925000" cy="129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Complex and error prone</a:t>
            </a:r>
            <a:endParaRPr sz="2100"/>
          </a:p>
        </p:txBody>
      </p:sp>
      <p:sp>
        <p:nvSpPr>
          <p:cNvPr id="414" name="Google Shape;41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5" name="Google Shape;415;p31"/>
          <p:cNvSpPr txBox="1"/>
          <p:nvPr/>
        </p:nvSpPr>
        <p:spPr>
          <a:xfrm>
            <a:off x="5261725" y="2652425"/>
            <a:ext cx="3210600" cy="12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Catch-up.</a:t>
            </a:r>
            <a:br>
              <a:rPr lang="en" sz="1900">
                <a:solidFill>
                  <a:schemeClr val="dk2"/>
                </a:solidFill>
              </a:rPr>
            </a:br>
            <a:endParaRPr sz="1900">
              <a:solidFill>
                <a:schemeClr val="dk2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Synchronizer.</a:t>
            </a:r>
            <a:br>
              <a:rPr lang="en" sz="1900">
                <a:solidFill>
                  <a:schemeClr val="dk2"/>
                </a:solidFill>
              </a:rPr>
            </a:br>
            <a:endParaRPr sz="1900">
              <a:solidFill>
                <a:schemeClr val="dk2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</a:pPr>
            <a:r>
              <a:rPr lang="en" sz="1900">
                <a:solidFill>
                  <a:schemeClr val="dk2"/>
                </a:solidFill>
              </a:rPr>
              <a:t>Ignored in prototypes</a:t>
            </a: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with leader-based protocols</a:t>
            </a:r>
            <a:endParaRPr/>
          </a:p>
        </p:txBody>
      </p:sp>
      <p:sp>
        <p:nvSpPr>
          <p:cNvPr id="421" name="Google Shape;42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2" name="Google Shape;422;p32"/>
          <p:cNvSpPr/>
          <p:nvPr/>
        </p:nvSpPr>
        <p:spPr>
          <a:xfrm>
            <a:off x="23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Cost of view change</a:t>
            </a:r>
            <a:endParaRPr sz="1600"/>
          </a:p>
        </p:txBody>
      </p:sp>
      <p:sp>
        <p:nvSpPr>
          <p:cNvPr id="423" name="Google Shape;423;p32"/>
          <p:cNvSpPr/>
          <p:nvPr/>
        </p:nvSpPr>
        <p:spPr>
          <a:xfrm>
            <a:off x="3071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Leader-targeted attacks</a:t>
            </a:r>
            <a:endParaRPr sz="1600"/>
          </a:p>
        </p:txBody>
      </p:sp>
      <p:sp>
        <p:nvSpPr>
          <p:cNvPr id="424" name="Google Shape;424;p32"/>
          <p:cNvSpPr/>
          <p:nvPr/>
        </p:nvSpPr>
        <p:spPr>
          <a:xfrm>
            <a:off x="6119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Variability in resource usage</a:t>
            </a:r>
            <a:endParaRPr sz="1600"/>
          </a:p>
        </p:txBody>
      </p:sp>
      <p:sp>
        <p:nvSpPr>
          <p:cNvPr id="425" name="Google Shape;425;p32"/>
          <p:cNvSpPr/>
          <p:nvPr/>
        </p:nvSpPr>
        <p:spPr>
          <a:xfrm>
            <a:off x="3071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Leader-targeted attacks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Leader-targeted attacks</a:t>
            </a:r>
            <a:endParaRPr/>
          </a:p>
        </p:txBody>
      </p:sp>
      <p:sp>
        <p:nvSpPr>
          <p:cNvPr id="431" name="Google Shape;43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32" name="Google Shape;43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3350" y="2228450"/>
            <a:ext cx="1087225" cy="120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8769" y="1118450"/>
            <a:ext cx="1087230" cy="120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8769" y="2271078"/>
            <a:ext cx="1087230" cy="120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78769" y="3423706"/>
            <a:ext cx="1087230" cy="120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3"/>
          <p:cNvPicPr preferRelativeResize="0"/>
          <p:nvPr/>
        </p:nvPicPr>
        <p:blipFill rotWithShape="1">
          <a:blip r:embed="rId4">
            <a:alphaModFix/>
          </a:blip>
          <a:srcRect b="6305" l="0" r="0" t="0"/>
          <a:stretch/>
        </p:blipFill>
        <p:spPr>
          <a:xfrm>
            <a:off x="2566550" y="2219075"/>
            <a:ext cx="1355248" cy="120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with leader-based protocols</a:t>
            </a:r>
            <a:endParaRPr/>
          </a:p>
        </p:txBody>
      </p:sp>
      <p:sp>
        <p:nvSpPr>
          <p:cNvPr id="442" name="Google Shape;44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3" name="Google Shape;443;p34"/>
          <p:cNvSpPr/>
          <p:nvPr/>
        </p:nvSpPr>
        <p:spPr>
          <a:xfrm>
            <a:off x="23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Cost of view change</a:t>
            </a:r>
            <a:endParaRPr sz="1600"/>
          </a:p>
        </p:txBody>
      </p:sp>
      <p:sp>
        <p:nvSpPr>
          <p:cNvPr id="444" name="Google Shape;444;p34"/>
          <p:cNvSpPr/>
          <p:nvPr/>
        </p:nvSpPr>
        <p:spPr>
          <a:xfrm>
            <a:off x="3071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Leader-targeted attacks</a:t>
            </a:r>
            <a:endParaRPr sz="1600"/>
          </a:p>
        </p:txBody>
      </p:sp>
      <p:sp>
        <p:nvSpPr>
          <p:cNvPr id="445" name="Google Shape;445;p34"/>
          <p:cNvSpPr/>
          <p:nvPr/>
        </p:nvSpPr>
        <p:spPr>
          <a:xfrm>
            <a:off x="6119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Variability in resource usage</a:t>
            </a:r>
            <a:endParaRPr sz="1600"/>
          </a:p>
        </p:txBody>
      </p:sp>
      <p:sp>
        <p:nvSpPr>
          <p:cNvPr id="446" name="Google Shape;446;p34"/>
          <p:cNvSpPr/>
          <p:nvPr/>
        </p:nvSpPr>
        <p:spPr>
          <a:xfrm>
            <a:off x="6119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Variability in resource usage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utilization variability</a:t>
            </a:r>
            <a:endParaRPr/>
          </a:p>
        </p:txBody>
      </p:sp>
      <p:pic>
        <p:nvPicPr>
          <p:cNvPr id="452" name="Google Shape;452;p35"/>
          <p:cNvPicPr preferRelativeResize="0"/>
          <p:nvPr/>
        </p:nvPicPr>
        <p:blipFill rotWithShape="1">
          <a:blip r:embed="rId3">
            <a:alphaModFix/>
          </a:blip>
          <a:srcRect b="17478" l="3725" r="0" t="0"/>
          <a:stretch/>
        </p:blipFill>
        <p:spPr>
          <a:xfrm>
            <a:off x="858925" y="1220550"/>
            <a:ext cx="7184950" cy="315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5300" y="1895174"/>
            <a:ext cx="884875" cy="97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5" name="Google Shape;45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5900" y="2961974"/>
            <a:ext cx="884875" cy="97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8500" y="3114374"/>
            <a:ext cx="884875" cy="97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4500" y="1590374"/>
            <a:ext cx="884875" cy="97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8500" y="1514174"/>
            <a:ext cx="884875" cy="97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5"/>
          <p:cNvSpPr/>
          <p:nvPr/>
        </p:nvSpPr>
        <p:spPr>
          <a:xfrm>
            <a:off x="1824425" y="2241250"/>
            <a:ext cx="458400" cy="393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Baxos Overview</a:t>
            </a:r>
            <a:endParaRPr/>
          </a:p>
        </p:txBody>
      </p:sp>
      <p:sp>
        <p:nvSpPr>
          <p:cNvPr id="465" name="Google Shape;46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6" name="Google Shape;466;p36"/>
          <p:cNvSpPr/>
          <p:nvPr/>
        </p:nvSpPr>
        <p:spPr>
          <a:xfrm>
            <a:off x="678350" y="1631300"/>
            <a:ext cx="3349800" cy="118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Based on Paxos</a:t>
            </a:r>
            <a:endParaRPr sz="1900"/>
          </a:p>
        </p:txBody>
      </p:sp>
      <p:sp>
        <p:nvSpPr>
          <p:cNvPr id="467" name="Google Shape;467;p36"/>
          <p:cNvSpPr/>
          <p:nvPr/>
        </p:nvSpPr>
        <p:spPr>
          <a:xfrm>
            <a:off x="5097950" y="1631300"/>
            <a:ext cx="3349800" cy="118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Replaces view change with random exponential backoff</a:t>
            </a:r>
            <a:endParaRPr sz="19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Threat Model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37"/>
          <p:cNvSpPr txBox="1"/>
          <p:nvPr>
            <p:ph idx="1" type="body"/>
          </p:nvPr>
        </p:nvSpPr>
        <p:spPr>
          <a:xfrm>
            <a:off x="311700" y="1152475"/>
            <a:ext cx="85206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Up to </a:t>
            </a:r>
            <a:r>
              <a:rPr b="1" i="1" lang="en" sz="2100"/>
              <a:t>f</a:t>
            </a:r>
            <a:r>
              <a:rPr lang="en" sz="2100"/>
              <a:t> out of </a:t>
            </a:r>
            <a:r>
              <a:rPr b="1" i="1" lang="en" sz="2100"/>
              <a:t>2</a:t>
            </a:r>
            <a:r>
              <a:rPr b="1" i="1" lang="en" sz="2100"/>
              <a:t>f+1</a:t>
            </a:r>
            <a:r>
              <a:rPr lang="en" sz="2100"/>
              <a:t> nodes can crash.</a:t>
            </a:r>
            <a:br>
              <a:rPr lang="en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The network is partially synchronous.</a:t>
            </a:r>
            <a:endParaRPr sz="2100"/>
          </a:p>
        </p:txBody>
      </p:sp>
      <p:sp>
        <p:nvSpPr>
          <p:cNvPr id="474" name="Google Shape;47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75" name="Google Shape;475;p37"/>
          <p:cNvGrpSpPr/>
          <p:nvPr/>
        </p:nvGrpSpPr>
        <p:grpSpPr>
          <a:xfrm>
            <a:off x="1693500" y="974573"/>
            <a:ext cx="6778947" cy="2533577"/>
            <a:chOff x="1693500" y="974573"/>
            <a:chExt cx="6778947" cy="2533577"/>
          </a:xfrm>
        </p:grpSpPr>
        <p:grpSp>
          <p:nvGrpSpPr>
            <p:cNvPr id="476" name="Google Shape;476;p37"/>
            <p:cNvGrpSpPr/>
            <p:nvPr/>
          </p:nvGrpSpPr>
          <p:grpSpPr>
            <a:xfrm>
              <a:off x="1693500" y="3114550"/>
              <a:ext cx="5739550" cy="393600"/>
              <a:chOff x="1693500" y="3114550"/>
              <a:chExt cx="5739550" cy="393600"/>
            </a:xfrm>
          </p:grpSpPr>
          <p:cxnSp>
            <p:nvCxnSpPr>
              <p:cNvPr id="477" name="Google Shape;477;p37"/>
              <p:cNvCxnSpPr/>
              <p:nvPr/>
            </p:nvCxnSpPr>
            <p:spPr>
              <a:xfrm>
                <a:off x="1693500" y="3146925"/>
                <a:ext cx="50193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478" name="Google Shape;478;p37"/>
              <p:cNvSpPr txBox="1"/>
              <p:nvPr/>
            </p:nvSpPr>
            <p:spPr>
              <a:xfrm>
                <a:off x="6320050" y="3114550"/>
                <a:ext cx="1113000" cy="39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dk2"/>
                    </a:solidFill>
                  </a:rPr>
                  <a:t>time</a:t>
                </a:r>
                <a:endParaRPr sz="1800">
                  <a:solidFill>
                    <a:schemeClr val="dk2"/>
                  </a:solidFill>
                </a:endParaRPr>
              </a:p>
            </p:txBody>
          </p:sp>
        </p:grpSp>
        <p:sp>
          <p:nvSpPr>
            <p:cNvPr id="479" name="Google Shape;479;p37"/>
            <p:cNvSpPr/>
            <p:nvPr/>
          </p:nvSpPr>
          <p:spPr>
            <a:xfrm>
              <a:off x="3306975" y="2459500"/>
              <a:ext cx="960300" cy="63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GST</a:t>
              </a:r>
              <a:endParaRPr/>
            </a:p>
          </p:txBody>
        </p:sp>
        <p:pic>
          <p:nvPicPr>
            <p:cNvPr id="480" name="Google Shape;480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60482" y="974573"/>
              <a:ext cx="3511965" cy="1484925"/>
            </a:xfrm>
            <a:prstGeom prst="rect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481" name="Google Shape;481;p37"/>
          <p:cNvSpPr txBox="1"/>
          <p:nvPr>
            <p:ph idx="1" type="body"/>
          </p:nvPr>
        </p:nvSpPr>
        <p:spPr>
          <a:xfrm>
            <a:off x="311700" y="2524075"/>
            <a:ext cx="85206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Network attacker </a:t>
            </a:r>
            <a:br>
              <a:rPr lang="en" sz="2100"/>
            </a:br>
            <a:endParaRPr sz="2100"/>
          </a:p>
          <a:p>
            <a:pPr indent="-342582" lvl="1" marL="9144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795"/>
              <a:buChar char="○"/>
            </a:pPr>
            <a:r>
              <a:rPr lang="en" sz="1795"/>
              <a:t>Can find and attack the current leader.</a:t>
            </a:r>
            <a:endParaRPr sz="1795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Baxos allows all replicas to propose</a:t>
            </a:r>
            <a:endParaRPr/>
          </a:p>
        </p:txBody>
      </p:sp>
      <p:pic>
        <p:nvPicPr>
          <p:cNvPr id="487" name="Google Shape;48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3750" y="2304652"/>
            <a:ext cx="1087230" cy="120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0094" y="1146525"/>
            <a:ext cx="1087230" cy="120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5244" y="2304653"/>
            <a:ext cx="1087230" cy="1200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00094" y="3684806"/>
            <a:ext cx="1087230" cy="12007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1" name="Google Shape;491;p38"/>
          <p:cNvCxnSpPr>
            <a:stCxn id="487" idx="3"/>
          </p:cNvCxnSpPr>
          <p:nvPr/>
        </p:nvCxnSpPr>
        <p:spPr>
          <a:xfrm flipH="1" rot="10800000">
            <a:off x="3080980" y="2902925"/>
            <a:ext cx="8709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2" name="Google Shape;492;p38"/>
          <p:cNvCxnSpPr>
            <a:stCxn id="488" idx="2"/>
          </p:cNvCxnSpPr>
          <p:nvPr/>
        </p:nvCxnSpPr>
        <p:spPr>
          <a:xfrm flipH="1">
            <a:off x="4439209" y="2347270"/>
            <a:ext cx="4500" cy="27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3" name="Google Shape;493;p38"/>
          <p:cNvCxnSpPr>
            <a:stCxn id="489" idx="1"/>
          </p:cNvCxnSpPr>
          <p:nvPr/>
        </p:nvCxnSpPr>
        <p:spPr>
          <a:xfrm flipH="1">
            <a:off x="4926644" y="2905025"/>
            <a:ext cx="1158600" cy="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4" name="Google Shape;494;p38"/>
          <p:cNvCxnSpPr/>
          <p:nvPr/>
        </p:nvCxnSpPr>
        <p:spPr>
          <a:xfrm rot="10800000">
            <a:off x="4439209" y="3146606"/>
            <a:ext cx="4500" cy="53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5" name="Google Shape;495;p38"/>
          <p:cNvSpPr/>
          <p:nvPr/>
        </p:nvSpPr>
        <p:spPr>
          <a:xfrm>
            <a:off x="4035800" y="2617125"/>
            <a:ext cx="870900" cy="47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sp>
        <p:nvSpPr>
          <p:cNvPr id="496" name="Google Shape;49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Contention under concurrent proposals</a:t>
            </a:r>
            <a:endParaRPr/>
          </a:p>
        </p:txBody>
      </p:sp>
      <p:cxnSp>
        <p:nvCxnSpPr>
          <p:cNvPr id="502" name="Google Shape;502;p39"/>
          <p:cNvCxnSpPr/>
          <p:nvPr/>
        </p:nvCxnSpPr>
        <p:spPr>
          <a:xfrm>
            <a:off x="743675" y="1828000"/>
            <a:ext cx="7924800" cy="50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39"/>
          <p:cNvCxnSpPr/>
          <p:nvPr/>
        </p:nvCxnSpPr>
        <p:spPr>
          <a:xfrm>
            <a:off x="743675" y="25900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39"/>
          <p:cNvCxnSpPr/>
          <p:nvPr/>
        </p:nvCxnSpPr>
        <p:spPr>
          <a:xfrm>
            <a:off x="743675" y="33520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39"/>
          <p:cNvCxnSpPr/>
          <p:nvPr/>
        </p:nvCxnSpPr>
        <p:spPr>
          <a:xfrm>
            <a:off x="743675" y="41140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" name="Google Shape;506;p39"/>
          <p:cNvSpPr txBox="1"/>
          <p:nvPr/>
        </p:nvSpPr>
        <p:spPr>
          <a:xfrm>
            <a:off x="654325" y="14208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7" name="Google Shape;507;p39"/>
          <p:cNvSpPr txBox="1"/>
          <p:nvPr/>
        </p:nvSpPr>
        <p:spPr>
          <a:xfrm>
            <a:off x="339800" y="16107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508" name="Google Shape;508;p39"/>
          <p:cNvSpPr txBox="1"/>
          <p:nvPr/>
        </p:nvSpPr>
        <p:spPr>
          <a:xfrm>
            <a:off x="339800" y="23727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509" name="Google Shape;509;p39"/>
          <p:cNvSpPr txBox="1"/>
          <p:nvPr/>
        </p:nvSpPr>
        <p:spPr>
          <a:xfrm>
            <a:off x="339800" y="31347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510" name="Google Shape;510;p39"/>
          <p:cNvSpPr txBox="1"/>
          <p:nvPr/>
        </p:nvSpPr>
        <p:spPr>
          <a:xfrm>
            <a:off x="339800" y="38967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R4</a:t>
            </a:r>
            <a:endParaRPr/>
          </a:p>
        </p:txBody>
      </p:sp>
      <p:grpSp>
        <p:nvGrpSpPr>
          <p:cNvPr id="511" name="Google Shape;511;p39"/>
          <p:cNvGrpSpPr/>
          <p:nvPr/>
        </p:nvGrpSpPr>
        <p:grpSpPr>
          <a:xfrm>
            <a:off x="724450" y="1837512"/>
            <a:ext cx="2016937" cy="2245200"/>
            <a:chOff x="724450" y="1837512"/>
            <a:chExt cx="2016937" cy="2245200"/>
          </a:xfrm>
        </p:grpSpPr>
        <p:cxnSp>
          <p:nvCxnSpPr>
            <p:cNvPr id="512" name="Google Shape;512;p39"/>
            <p:cNvCxnSpPr/>
            <p:nvPr/>
          </p:nvCxnSpPr>
          <p:spPr>
            <a:xfrm>
              <a:off x="1216187" y="1837512"/>
              <a:ext cx="1525200" cy="746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13" name="Google Shape;513;p39"/>
            <p:cNvCxnSpPr/>
            <p:nvPr/>
          </p:nvCxnSpPr>
          <p:spPr>
            <a:xfrm>
              <a:off x="1216187" y="1837512"/>
              <a:ext cx="554400" cy="152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14" name="Google Shape;514;p39"/>
            <p:cNvCxnSpPr/>
            <p:nvPr/>
          </p:nvCxnSpPr>
          <p:spPr>
            <a:xfrm>
              <a:off x="1216187" y="1837512"/>
              <a:ext cx="576300" cy="2245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15" name="Google Shape;515;p39"/>
            <p:cNvSpPr txBox="1"/>
            <p:nvPr/>
          </p:nvSpPr>
          <p:spPr>
            <a:xfrm>
              <a:off x="724450" y="27993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Prepare</a:t>
              </a:r>
              <a:endParaRPr/>
            </a:p>
          </p:txBody>
        </p:sp>
      </p:grpSp>
      <p:grpSp>
        <p:nvGrpSpPr>
          <p:cNvPr id="516" name="Google Shape;516;p39"/>
          <p:cNvGrpSpPr/>
          <p:nvPr/>
        </p:nvGrpSpPr>
        <p:grpSpPr>
          <a:xfrm>
            <a:off x="1231525" y="1860725"/>
            <a:ext cx="1571725" cy="2260800"/>
            <a:chOff x="1993525" y="1860725"/>
            <a:chExt cx="1571725" cy="2260800"/>
          </a:xfrm>
        </p:grpSpPr>
        <p:cxnSp>
          <p:nvCxnSpPr>
            <p:cNvPr id="517" name="Google Shape;517;p39"/>
            <p:cNvCxnSpPr/>
            <p:nvPr/>
          </p:nvCxnSpPr>
          <p:spPr>
            <a:xfrm flipH="1" rot="10800000">
              <a:off x="1993525" y="3398825"/>
              <a:ext cx="344700" cy="722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18" name="Google Shape;518;p39"/>
            <p:cNvCxnSpPr/>
            <p:nvPr/>
          </p:nvCxnSpPr>
          <p:spPr>
            <a:xfrm flipH="1" rot="10800000">
              <a:off x="2018750" y="2617025"/>
              <a:ext cx="1546500" cy="148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19" name="Google Shape;519;p39"/>
            <p:cNvCxnSpPr/>
            <p:nvPr/>
          </p:nvCxnSpPr>
          <p:spPr>
            <a:xfrm flipH="1" rot="10800000">
              <a:off x="2001925" y="1860725"/>
              <a:ext cx="1412100" cy="2252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20" name="Google Shape;520;p39"/>
            <p:cNvSpPr txBox="1"/>
            <p:nvPr/>
          </p:nvSpPr>
          <p:spPr>
            <a:xfrm>
              <a:off x="2324650" y="36375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Prepare</a:t>
              </a:r>
              <a:endParaRPr/>
            </a:p>
          </p:txBody>
        </p:sp>
      </p:grpSp>
      <p:grpSp>
        <p:nvGrpSpPr>
          <p:cNvPr id="521" name="Google Shape;521;p39"/>
          <p:cNvGrpSpPr/>
          <p:nvPr/>
        </p:nvGrpSpPr>
        <p:grpSpPr>
          <a:xfrm>
            <a:off x="3772450" y="1837512"/>
            <a:ext cx="1940737" cy="2245200"/>
            <a:chOff x="3772450" y="1837512"/>
            <a:chExt cx="1940737" cy="2245200"/>
          </a:xfrm>
        </p:grpSpPr>
        <p:cxnSp>
          <p:nvCxnSpPr>
            <p:cNvPr id="522" name="Google Shape;522;p39"/>
            <p:cNvCxnSpPr/>
            <p:nvPr/>
          </p:nvCxnSpPr>
          <p:spPr>
            <a:xfrm>
              <a:off x="4187987" y="1837512"/>
              <a:ext cx="1525200" cy="746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23" name="Google Shape;523;p39"/>
            <p:cNvCxnSpPr/>
            <p:nvPr/>
          </p:nvCxnSpPr>
          <p:spPr>
            <a:xfrm>
              <a:off x="4187987" y="1837512"/>
              <a:ext cx="554400" cy="152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24" name="Google Shape;524;p39"/>
            <p:cNvCxnSpPr/>
            <p:nvPr/>
          </p:nvCxnSpPr>
          <p:spPr>
            <a:xfrm>
              <a:off x="4187987" y="1837512"/>
              <a:ext cx="576300" cy="2245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25" name="Google Shape;525;p39"/>
            <p:cNvSpPr txBox="1"/>
            <p:nvPr/>
          </p:nvSpPr>
          <p:spPr>
            <a:xfrm>
              <a:off x="3772450" y="27993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Prepare</a:t>
              </a:r>
              <a:endParaRPr/>
            </a:p>
          </p:txBody>
        </p:sp>
      </p:grpSp>
      <p:grpSp>
        <p:nvGrpSpPr>
          <p:cNvPr id="526" name="Google Shape;526;p39"/>
          <p:cNvGrpSpPr/>
          <p:nvPr/>
        </p:nvGrpSpPr>
        <p:grpSpPr>
          <a:xfrm>
            <a:off x="4279525" y="1860725"/>
            <a:ext cx="1620225" cy="2260800"/>
            <a:chOff x="4965325" y="1860725"/>
            <a:chExt cx="1620225" cy="2260800"/>
          </a:xfrm>
        </p:grpSpPr>
        <p:cxnSp>
          <p:nvCxnSpPr>
            <p:cNvPr id="527" name="Google Shape;527;p39"/>
            <p:cNvCxnSpPr/>
            <p:nvPr/>
          </p:nvCxnSpPr>
          <p:spPr>
            <a:xfrm flipH="1" rot="10800000">
              <a:off x="4965325" y="3398825"/>
              <a:ext cx="344700" cy="722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28" name="Google Shape;528;p39"/>
            <p:cNvCxnSpPr/>
            <p:nvPr/>
          </p:nvCxnSpPr>
          <p:spPr>
            <a:xfrm flipH="1" rot="10800000">
              <a:off x="4990550" y="2617025"/>
              <a:ext cx="1546500" cy="148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29" name="Google Shape;529;p39"/>
            <p:cNvCxnSpPr/>
            <p:nvPr/>
          </p:nvCxnSpPr>
          <p:spPr>
            <a:xfrm flipH="1" rot="10800000">
              <a:off x="4973725" y="1860725"/>
              <a:ext cx="1412100" cy="2252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30" name="Google Shape;530;p39"/>
            <p:cNvSpPr txBox="1"/>
            <p:nvPr/>
          </p:nvSpPr>
          <p:spPr>
            <a:xfrm>
              <a:off x="5601250" y="36375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Prepare</a:t>
              </a:r>
              <a:endParaRPr/>
            </a:p>
          </p:txBody>
        </p:sp>
      </p:grpSp>
      <p:sp>
        <p:nvSpPr>
          <p:cNvPr id="531" name="Google Shape;53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32" name="Google Shape;532;p39"/>
          <p:cNvGrpSpPr/>
          <p:nvPr/>
        </p:nvGrpSpPr>
        <p:grpSpPr>
          <a:xfrm>
            <a:off x="1364575" y="1850000"/>
            <a:ext cx="1046400" cy="2277200"/>
            <a:chOff x="1364575" y="1850000"/>
            <a:chExt cx="1046400" cy="2277200"/>
          </a:xfrm>
        </p:grpSpPr>
        <p:cxnSp>
          <p:nvCxnSpPr>
            <p:cNvPr id="533" name="Google Shape;533;p39"/>
            <p:cNvCxnSpPr/>
            <p:nvPr/>
          </p:nvCxnSpPr>
          <p:spPr>
            <a:xfrm flipH="1" rot="10800000">
              <a:off x="1364575" y="2597375"/>
              <a:ext cx="606600" cy="756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34" name="Google Shape;534;p39"/>
            <p:cNvCxnSpPr/>
            <p:nvPr/>
          </p:nvCxnSpPr>
          <p:spPr>
            <a:xfrm flipH="1" rot="10800000">
              <a:off x="1364575" y="1850000"/>
              <a:ext cx="483600" cy="1494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35" name="Google Shape;535;p39"/>
            <p:cNvCxnSpPr/>
            <p:nvPr/>
          </p:nvCxnSpPr>
          <p:spPr>
            <a:xfrm>
              <a:off x="1364575" y="3335800"/>
              <a:ext cx="1046400" cy="79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36" name="Google Shape;536;p39"/>
          <p:cNvGrpSpPr/>
          <p:nvPr/>
        </p:nvGrpSpPr>
        <p:grpSpPr>
          <a:xfrm>
            <a:off x="4869775" y="1850000"/>
            <a:ext cx="1046400" cy="2277200"/>
            <a:chOff x="1364575" y="1850000"/>
            <a:chExt cx="1046400" cy="2277200"/>
          </a:xfrm>
        </p:grpSpPr>
        <p:cxnSp>
          <p:nvCxnSpPr>
            <p:cNvPr id="537" name="Google Shape;537;p39"/>
            <p:cNvCxnSpPr/>
            <p:nvPr/>
          </p:nvCxnSpPr>
          <p:spPr>
            <a:xfrm flipH="1" rot="10800000">
              <a:off x="1364575" y="2597375"/>
              <a:ext cx="606600" cy="756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38" name="Google Shape;538;p39"/>
            <p:cNvCxnSpPr/>
            <p:nvPr/>
          </p:nvCxnSpPr>
          <p:spPr>
            <a:xfrm flipH="1" rot="10800000">
              <a:off x="1364575" y="1850000"/>
              <a:ext cx="483600" cy="1494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39" name="Google Shape;539;p39"/>
            <p:cNvCxnSpPr/>
            <p:nvPr/>
          </p:nvCxnSpPr>
          <p:spPr>
            <a:xfrm>
              <a:off x="1364575" y="3335800"/>
              <a:ext cx="1046400" cy="79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exponential backoff</a:t>
            </a:r>
            <a:endParaRPr/>
          </a:p>
        </p:txBody>
      </p:sp>
      <p:sp>
        <p:nvSpPr>
          <p:cNvPr id="545" name="Google Shape;54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40"/>
          <p:cNvSpPr/>
          <p:nvPr/>
        </p:nvSpPr>
        <p:spPr>
          <a:xfrm>
            <a:off x="525950" y="1555100"/>
            <a:ext cx="3349800" cy="118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Manage</a:t>
            </a:r>
            <a:r>
              <a:rPr lang="en" sz="2100"/>
              <a:t> access to shared </a:t>
            </a:r>
            <a:r>
              <a:rPr lang="en" sz="2100"/>
              <a:t>resources</a:t>
            </a:r>
            <a:r>
              <a:rPr lang="en" sz="2100"/>
              <a:t> in networks</a:t>
            </a:r>
            <a:br>
              <a:rPr lang="en" sz="2100"/>
            </a:br>
            <a:r>
              <a:rPr lang="en" sz="2100"/>
              <a:t>(CSMA CD/CA)</a:t>
            </a:r>
            <a:endParaRPr sz="2100"/>
          </a:p>
        </p:txBody>
      </p:sp>
      <p:sp>
        <p:nvSpPr>
          <p:cNvPr id="547" name="Google Shape;547;p40"/>
          <p:cNvSpPr/>
          <p:nvPr/>
        </p:nvSpPr>
        <p:spPr>
          <a:xfrm>
            <a:off x="5174150" y="1555100"/>
            <a:ext cx="3349800" cy="118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Backing off before retrying to avoid contention</a:t>
            </a:r>
            <a:endParaRPr sz="2100"/>
          </a:p>
        </p:txBody>
      </p:sp>
      <p:sp>
        <p:nvSpPr>
          <p:cNvPr id="548" name="Google Shape;548;p40"/>
          <p:cNvSpPr txBox="1"/>
          <p:nvPr/>
        </p:nvSpPr>
        <p:spPr>
          <a:xfrm>
            <a:off x="264075" y="3768900"/>
            <a:ext cx="8520600" cy="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Can we </a:t>
            </a:r>
            <a:r>
              <a:rPr lang="en" sz="2000">
                <a:solidFill>
                  <a:schemeClr val="dk2"/>
                </a:solidFill>
              </a:rPr>
              <a:t>apply</a:t>
            </a:r>
            <a:r>
              <a:rPr lang="en" sz="2000">
                <a:solidFill>
                  <a:schemeClr val="dk2"/>
                </a:solidFill>
              </a:rPr>
              <a:t> REB to consensus to handle contention?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Baxos uses Random exponential Backoff</a:t>
            </a:r>
            <a:endParaRPr/>
          </a:p>
        </p:txBody>
      </p:sp>
      <p:cxnSp>
        <p:nvCxnSpPr>
          <p:cNvPr id="554" name="Google Shape;554;p41"/>
          <p:cNvCxnSpPr/>
          <p:nvPr/>
        </p:nvCxnSpPr>
        <p:spPr>
          <a:xfrm>
            <a:off x="667475" y="1828000"/>
            <a:ext cx="7924800" cy="50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41"/>
          <p:cNvCxnSpPr/>
          <p:nvPr/>
        </p:nvCxnSpPr>
        <p:spPr>
          <a:xfrm>
            <a:off x="667475" y="25900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41"/>
          <p:cNvCxnSpPr/>
          <p:nvPr/>
        </p:nvCxnSpPr>
        <p:spPr>
          <a:xfrm>
            <a:off x="667475" y="33520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41"/>
          <p:cNvCxnSpPr/>
          <p:nvPr/>
        </p:nvCxnSpPr>
        <p:spPr>
          <a:xfrm>
            <a:off x="667475" y="41140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8" name="Google Shape;558;p41"/>
          <p:cNvSpPr txBox="1"/>
          <p:nvPr/>
        </p:nvSpPr>
        <p:spPr>
          <a:xfrm>
            <a:off x="578125" y="14208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9" name="Google Shape;559;p41"/>
          <p:cNvSpPr txBox="1"/>
          <p:nvPr/>
        </p:nvSpPr>
        <p:spPr>
          <a:xfrm>
            <a:off x="263600" y="16107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560" name="Google Shape;560;p41"/>
          <p:cNvSpPr txBox="1"/>
          <p:nvPr/>
        </p:nvSpPr>
        <p:spPr>
          <a:xfrm>
            <a:off x="263600" y="23727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561" name="Google Shape;561;p41"/>
          <p:cNvSpPr txBox="1"/>
          <p:nvPr/>
        </p:nvSpPr>
        <p:spPr>
          <a:xfrm>
            <a:off x="263600" y="31347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562" name="Google Shape;562;p41"/>
          <p:cNvSpPr txBox="1"/>
          <p:nvPr/>
        </p:nvSpPr>
        <p:spPr>
          <a:xfrm>
            <a:off x="263600" y="38967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R4</a:t>
            </a:r>
            <a:endParaRPr/>
          </a:p>
        </p:txBody>
      </p:sp>
      <p:cxnSp>
        <p:nvCxnSpPr>
          <p:cNvPr id="563" name="Google Shape;563;p41"/>
          <p:cNvCxnSpPr/>
          <p:nvPr/>
        </p:nvCxnSpPr>
        <p:spPr>
          <a:xfrm>
            <a:off x="1139987" y="1837512"/>
            <a:ext cx="1525200" cy="746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p41"/>
          <p:cNvCxnSpPr/>
          <p:nvPr/>
        </p:nvCxnSpPr>
        <p:spPr>
          <a:xfrm>
            <a:off x="1139987" y="1837512"/>
            <a:ext cx="554400" cy="1523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5" name="Google Shape;565;p41"/>
          <p:cNvCxnSpPr/>
          <p:nvPr/>
        </p:nvCxnSpPr>
        <p:spPr>
          <a:xfrm>
            <a:off x="1139987" y="1837512"/>
            <a:ext cx="576300" cy="2245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6" name="Google Shape;566;p41"/>
          <p:cNvSpPr txBox="1"/>
          <p:nvPr/>
        </p:nvSpPr>
        <p:spPr>
          <a:xfrm>
            <a:off x="648250" y="27993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</a:t>
            </a:r>
            <a:endParaRPr/>
          </a:p>
        </p:txBody>
      </p:sp>
      <p:cxnSp>
        <p:nvCxnSpPr>
          <p:cNvPr id="567" name="Google Shape;567;p41"/>
          <p:cNvCxnSpPr/>
          <p:nvPr/>
        </p:nvCxnSpPr>
        <p:spPr>
          <a:xfrm flipH="1" rot="10800000">
            <a:off x="1917325" y="3398825"/>
            <a:ext cx="344700" cy="7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8" name="Google Shape;568;p41"/>
          <p:cNvCxnSpPr/>
          <p:nvPr/>
        </p:nvCxnSpPr>
        <p:spPr>
          <a:xfrm flipH="1" rot="10800000">
            <a:off x="1942550" y="2617025"/>
            <a:ext cx="1546500" cy="148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9" name="Google Shape;569;p41"/>
          <p:cNvCxnSpPr/>
          <p:nvPr/>
        </p:nvCxnSpPr>
        <p:spPr>
          <a:xfrm flipH="1" rot="10800000">
            <a:off x="1925725" y="1860725"/>
            <a:ext cx="1412100" cy="225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0" name="Google Shape;570;p41"/>
          <p:cNvSpPr txBox="1"/>
          <p:nvPr/>
        </p:nvSpPr>
        <p:spPr>
          <a:xfrm>
            <a:off x="2248450" y="36375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</a:t>
            </a:r>
            <a:endParaRPr/>
          </a:p>
        </p:txBody>
      </p:sp>
      <p:pic>
        <p:nvPicPr>
          <p:cNvPr id="571" name="Google Shape;57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3025" y="3984774"/>
            <a:ext cx="268801" cy="262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2" name="Google Shape;572;p41"/>
          <p:cNvGrpSpPr/>
          <p:nvPr/>
        </p:nvGrpSpPr>
        <p:grpSpPr>
          <a:xfrm>
            <a:off x="3696250" y="1796950"/>
            <a:ext cx="2279700" cy="2297800"/>
            <a:chOff x="3696250" y="1796950"/>
            <a:chExt cx="2279700" cy="2297800"/>
          </a:xfrm>
        </p:grpSpPr>
        <p:cxnSp>
          <p:nvCxnSpPr>
            <p:cNvPr id="573" name="Google Shape;573;p41"/>
            <p:cNvCxnSpPr/>
            <p:nvPr/>
          </p:nvCxnSpPr>
          <p:spPr>
            <a:xfrm>
              <a:off x="4111787" y="1837512"/>
              <a:ext cx="529200" cy="737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74" name="Google Shape;574;p41"/>
            <p:cNvCxnSpPr/>
            <p:nvPr/>
          </p:nvCxnSpPr>
          <p:spPr>
            <a:xfrm>
              <a:off x="4111787" y="1837512"/>
              <a:ext cx="554400" cy="152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75" name="Google Shape;575;p41"/>
            <p:cNvCxnSpPr/>
            <p:nvPr/>
          </p:nvCxnSpPr>
          <p:spPr>
            <a:xfrm>
              <a:off x="4111787" y="1837512"/>
              <a:ext cx="576300" cy="2245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76" name="Google Shape;576;p41"/>
            <p:cNvSpPr txBox="1"/>
            <p:nvPr/>
          </p:nvSpPr>
          <p:spPr>
            <a:xfrm>
              <a:off x="3696250" y="27993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Prepare</a:t>
              </a:r>
              <a:endParaRPr/>
            </a:p>
          </p:txBody>
        </p:sp>
        <p:cxnSp>
          <p:nvCxnSpPr>
            <p:cNvPr id="577" name="Google Shape;577;p41"/>
            <p:cNvCxnSpPr/>
            <p:nvPr/>
          </p:nvCxnSpPr>
          <p:spPr>
            <a:xfrm flipH="1" rot="10800000">
              <a:off x="4721800" y="1797050"/>
              <a:ext cx="665700" cy="2297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78" name="Google Shape;578;p41"/>
            <p:cNvCxnSpPr/>
            <p:nvPr/>
          </p:nvCxnSpPr>
          <p:spPr>
            <a:xfrm flipH="1" rot="10800000">
              <a:off x="4661475" y="1796950"/>
              <a:ext cx="704100" cy="1557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79" name="Google Shape;579;p41"/>
            <p:cNvCxnSpPr/>
            <p:nvPr/>
          </p:nvCxnSpPr>
          <p:spPr>
            <a:xfrm flipH="1" rot="10800000">
              <a:off x="4643825" y="1818925"/>
              <a:ext cx="721800" cy="689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80" name="Google Shape;580;p41"/>
            <p:cNvSpPr txBox="1"/>
            <p:nvPr/>
          </p:nvSpPr>
          <p:spPr>
            <a:xfrm>
              <a:off x="4991650" y="28755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Promise</a:t>
              </a:r>
              <a:endParaRPr/>
            </a:p>
          </p:txBody>
        </p:sp>
      </p:grpSp>
      <p:grpSp>
        <p:nvGrpSpPr>
          <p:cNvPr id="581" name="Google Shape;581;p41"/>
          <p:cNvGrpSpPr/>
          <p:nvPr/>
        </p:nvGrpSpPr>
        <p:grpSpPr>
          <a:xfrm>
            <a:off x="5829850" y="1797025"/>
            <a:ext cx="2279700" cy="2297725"/>
            <a:chOff x="5829850" y="1797025"/>
            <a:chExt cx="2279700" cy="2297725"/>
          </a:xfrm>
        </p:grpSpPr>
        <p:cxnSp>
          <p:nvCxnSpPr>
            <p:cNvPr id="582" name="Google Shape;582;p41"/>
            <p:cNvCxnSpPr/>
            <p:nvPr/>
          </p:nvCxnSpPr>
          <p:spPr>
            <a:xfrm>
              <a:off x="6245387" y="1837512"/>
              <a:ext cx="554400" cy="152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3" name="Google Shape;583;p41"/>
            <p:cNvCxnSpPr/>
            <p:nvPr/>
          </p:nvCxnSpPr>
          <p:spPr>
            <a:xfrm>
              <a:off x="6245387" y="1837512"/>
              <a:ext cx="576300" cy="2245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84" name="Google Shape;584;p41"/>
            <p:cNvSpPr txBox="1"/>
            <p:nvPr/>
          </p:nvSpPr>
          <p:spPr>
            <a:xfrm>
              <a:off x="5829850" y="27993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Propose</a:t>
              </a:r>
              <a:endParaRPr/>
            </a:p>
          </p:txBody>
        </p:sp>
        <p:cxnSp>
          <p:nvCxnSpPr>
            <p:cNvPr id="585" name="Google Shape;585;p41"/>
            <p:cNvCxnSpPr/>
            <p:nvPr/>
          </p:nvCxnSpPr>
          <p:spPr>
            <a:xfrm flipH="1" rot="10800000">
              <a:off x="6855400" y="1797050"/>
              <a:ext cx="665700" cy="2297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6" name="Google Shape;586;p41"/>
            <p:cNvCxnSpPr/>
            <p:nvPr/>
          </p:nvCxnSpPr>
          <p:spPr>
            <a:xfrm flipH="1" rot="10800000">
              <a:off x="6851275" y="1797025"/>
              <a:ext cx="648000" cy="1551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87" name="Google Shape;587;p41"/>
            <p:cNvSpPr txBox="1"/>
            <p:nvPr/>
          </p:nvSpPr>
          <p:spPr>
            <a:xfrm>
              <a:off x="7125250" y="2875550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Accept</a:t>
              </a:r>
              <a:endParaRPr/>
            </a:p>
          </p:txBody>
        </p:sp>
        <p:cxnSp>
          <p:nvCxnSpPr>
            <p:cNvPr id="588" name="Google Shape;588;p41"/>
            <p:cNvCxnSpPr/>
            <p:nvPr/>
          </p:nvCxnSpPr>
          <p:spPr>
            <a:xfrm>
              <a:off x="6245387" y="1837512"/>
              <a:ext cx="529200" cy="737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89" name="Google Shape;589;p41"/>
            <p:cNvCxnSpPr/>
            <p:nvPr/>
          </p:nvCxnSpPr>
          <p:spPr>
            <a:xfrm flipH="1" rot="10800000">
              <a:off x="6777425" y="1895125"/>
              <a:ext cx="721800" cy="689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90" name="Google Shape;590;p41"/>
          <p:cNvSpPr txBox="1"/>
          <p:nvPr/>
        </p:nvSpPr>
        <p:spPr>
          <a:xfrm>
            <a:off x="7049050" y="15039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</p:txBody>
      </p:sp>
      <p:sp>
        <p:nvSpPr>
          <p:cNvPr id="591" name="Google Shape;59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Multi-Paxos vs Baxos</a:t>
            </a:r>
            <a:endParaRPr/>
          </a:p>
        </p:txBody>
      </p:sp>
      <p:sp>
        <p:nvSpPr>
          <p:cNvPr id="597" name="Google Shape;59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98" name="Google Shape;598;p42"/>
          <p:cNvGrpSpPr/>
          <p:nvPr/>
        </p:nvGrpSpPr>
        <p:grpSpPr>
          <a:xfrm>
            <a:off x="1060625" y="1728400"/>
            <a:ext cx="6395400" cy="633000"/>
            <a:chOff x="1060625" y="1728400"/>
            <a:chExt cx="6395400" cy="633000"/>
          </a:xfrm>
        </p:grpSpPr>
        <p:sp>
          <p:nvSpPr>
            <p:cNvPr id="599" name="Google Shape;599;p42"/>
            <p:cNvSpPr/>
            <p:nvPr/>
          </p:nvSpPr>
          <p:spPr>
            <a:xfrm>
              <a:off x="1060625" y="1728400"/>
              <a:ext cx="2356800" cy="6330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Multi Paxos</a:t>
              </a:r>
              <a:endParaRPr sz="1800"/>
            </a:p>
          </p:txBody>
        </p:sp>
        <p:sp>
          <p:nvSpPr>
            <p:cNvPr id="600" name="Google Shape;600;p42"/>
            <p:cNvSpPr/>
            <p:nvPr/>
          </p:nvSpPr>
          <p:spPr>
            <a:xfrm>
              <a:off x="5099225" y="1728400"/>
              <a:ext cx="2356800" cy="6330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Baxos</a:t>
              </a:r>
              <a:endParaRPr sz="1800"/>
            </a:p>
          </p:txBody>
        </p:sp>
      </p:grpSp>
      <p:grpSp>
        <p:nvGrpSpPr>
          <p:cNvPr id="601" name="Google Shape;601;p42"/>
          <p:cNvGrpSpPr/>
          <p:nvPr/>
        </p:nvGrpSpPr>
        <p:grpSpPr>
          <a:xfrm>
            <a:off x="1060625" y="2642800"/>
            <a:ext cx="6395400" cy="633000"/>
            <a:chOff x="1060625" y="2642800"/>
            <a:chExt cx="6395400" cy="633000"/>
          </a:xfrm>
        </p:grpSpPr>
        <p:sp>
          <p:nvSpPr>
            <p:cNvPr id="602" name="Google Shape;602;p42"/>
            <p:cNvSpPr/>
            <p:nvPr/>
          </p:nvSpPr>
          <p:spPr>
            <a:xfrm>
              <a:off x="1060625" y="2642800"/>
              <a:ext cx="2356800" cy="633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Uses Paxos core</a:t>
              </a:r>
              <a:endParaRPr sz="1800"/>
            </a:p>
          </p:txBody>
        </p:sp>
        <p:sp>
          <p:nvSpPr>
            <p:cNvPr id="603" name="Google Shape;603;p42"/>
            <p:cNvSpPr/>
            <p:nvPr/>
          </p:nvSpPr>
          <p:spPr>
            <a:xfrm>
              <a:off x="5099225" y="2642800"/>
              <a:ext cx="2356800" cy="633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Uses Paxos core</a:t>
              </a:r>
              <a:endParaRPr sz="1800"/>
            </a:p>
          </p:txBody>
        </p:sp>
      </p:grpSp>
      <p:sp>
        <p:nvSpPr>
          <p:cNvPr id="604" name="Google Shape;604;p42"/>
          <p:cNvSpPr/>
          <p:nvPr/>
        </p:nvSpPr>
        <p:spPr>
          <a:xfrm>
            <a:off x="1060625" y="3557200"/>
            <a:ext cx="2356800" cy="63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Only the leader proposes</a:t>
            </a:r>
            <a:endParaRPr sz="1800"/>
          </a:p>
        </p:txBody>
      </p:sp>
      <p:sp>
        <p:nvSpPr>
          <p:cNvPr id="605" name="Google Shape;605;p42"/>
          <p:cNvSpPr/>
          <p:nvPr/>
        </p:nvSpPr>
        <p:spPr>
          <a:xfrm>
            <a:off x="5099225" y="3557200"/>
            <a:ext cx="2356800" cy="63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Every node proposes</a:t>
            </a:r>
            <a:endParaRPr sz="1800"/>
          </a:p>
        </p:txBody>
      </p:sp>
      <p:sp>
        <p:nvSpPr>
          <p:cNvPr id="606" name="Google Shape;606;p42"/>
          <p:cNvSpPr/>
          <p:nvPr/>
        </p:nvSpPr>
        <p:spPr>
          <a:xfrm>
            <a:off x="1060625" y="4395400"/>
            <a:ext cx="2356800" cy="63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Uses view change</a:t>
            </a:r>
            <a:endParaRPr sz="1800"/>
          </a:p>
        </p:txBody>
      </p:sp>
      <p:sp>
        <p:nvSpPr>
          <p:cNvPr id="607" name="Google Shape;607;p42"/>
          <p:cNvSpPr/>
          <p:nvPr/>
        </p:nvSpPr>
        <p:spPr>
          <a:xfrm>
            <a:off x="5099225" y="4395400"/>
            <a:ext cx="2356800" cy="63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Uses REB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Baxos Evaluation</a:t>
            </a:r>
            <a:endParaRPr/>
          </a:p>
        </p:txBody>
      </p:sp>
      <p:pic>
        <p:nvPicPr>
          <p:cNvPr id="613" name="Google Shape;613;p43"/>
          <p:cNvPicPr preferRelativeResize="0"/>
          <p:nvPr/>
        </p:nvPicPr>
        <p:blipFill rotWithShape="1">
          <a:blip r:embed="rId3">
            <a:alphaModFix/>
          </a:blip>
          <a:srcRect b="17478" l="3725" r="0" t="0"/>
          <a:stretch/>
        </p:blipFill>
        <p:spPr>
          <a:xfrm>
            <a:off x="858925" y="1220550"/>
            <a:ext cx="7184950" cy="3153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4" name="Google Shape;614;p43"/>
          <p:cNvGrpSpPr/>
          <p:nvPr/>
        </p:nvGrpSpPr>
        <p:grpSpPr>
          <a:xfrm>
            <a:off x="1623400" y="1590376"/>
            <a:ext cx="5819775" cy="1374700"/>
            <a:chOff x="1623400" y="1590376"/>
            <a:chExt cx="5819775" cy="1374700"/>
          </a:xfrm>
        </p:grpSpPr>
        <p:pic>
          <p:nvPicPr>
            <p:cNvPr id="615" name="Google Shape;615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23400" y="2047576"/>
              <a:ext cx="485775" cy="53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6" name="Google Shape;616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33000" y="2047576"/>
              <a:ext cx="485775" cy="53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7" name="Google Shape;617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214200" y="1590376"/>
              <a:ext cx="485775" cy="53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8" name="Google Shape;618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57400" y="2123776"/>
              <a:ext cx="485775" cy="53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9" name="Google Shape;619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00200" y="2428576"/>
              <a:ext cx="485775" cy="536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0" name="Google Shape;62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Robustness of Baxos</a:t>
            </a:r>
            <a:endParaRPr/>
          </a:p>
        </p:txBody>
      </p:sp>
      <p:pic>
        <p:nvPicPr>
          <p:cNvPr id="626" name="Google Shape;62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9800" y="1017725"/>
            <a:ext cx="4490299" cy="3264025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8" name="Google Shape;628;p44"/>
          <p:cNvSpPr/>
          <p:nvPr/>
        </p:nvSpPr>
        <p:spPr>
          <a:xfrm>
            <a:off x="2544050" y="4413425"/>
            <a:ext cx="4299900" cy="26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Baxos is resilient against leader-targeted attacks</a:t>
            </a:r>
            <a:endParaRPr sz="15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utilization of Baxos</a:t>
            </a:r>
            <a:endParaRPr/>
          </a:p>
        </p:txBody>
      </p:sp>
      <p:pic>
        <p:nvPicPr>
          <p:cNvPr id="634" name="Google Shape;63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0" y="1246325"/>
            <a:ext cx="3496950" cy="2849374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6" name="Google Shape;636;p45"/>
          <p:cNvSpPr/>
          <p:nvPr/>
        </p:nvSpPr>
        <p:spPr>
          <a:xfrm>
            <a:off x="2239250" y="4489625"/>
            <a:ext cx="4812900" cy="26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Baxos has uniform </a:t>
            </a:r>
            <a:r>
              <a:rPr lang="en" sz="1500"/>
              <a:t>resource</a:t>
            </a:r>
            <a:r>
              <a:rPr lang="en" sz="1500"/>
              <a:t> utilization across replicas</a:t>
            </a:r>
            <a:endParaRPr sz="15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Baxos Summary</a:t>
            </a:r>
            <a:endParaRPr/>
          </a:p>
        </p:txBody>
      </p:sp>
      <p:sp>
        <p:nvSpPr>
          <p:cNvPr id="642" name="Google Shape;64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3" name="Google Shape;643;p46"/>
          <p:cNvSpPr/>
          <p:nvPr/>
        </p:nvSpPr>
        <p:spPr>
          <a:xfrm>
            <a:off x="3301150" y="2383125"/>
            <a:ext cx="2226000" cy="11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Robust against leader-</a:t>
            </a:r>
            <a:r>
              <a:rPr lang="en" sz="1900"/>
              <a:t>targeted</a:t>
            </a:r>
            <a:r>
              <a:rPr lang="en" sz="1900"/>
              <a:t> attacks</a:t>
            </a:r>
            <a:endParaRPr sz="1900"/>
          </a:p>
        </p:txBody>
      </p:sp>
      <p:sp>
        <p:nvSpPr>
          <p:cNvPr id="644" name="Google Shape;644;p46"/>
          <p:cNvSpPr/>
          <p:nvPr/>
        </p:nvSpPr>
        <p:spPr>
          <a:xfrm>
            <a:off x="391000" y="2383125"/>
            <a:ext cx="2226000" cy="11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Avoid view changes</a:t>
            </a:r>
            <a:endParaRPr sz="1900"/>
          </a:p>
        </p:txBody>
      </p:sp>
      <p:sp>
        <p:nvSpPr>
          <p:cNvPr id="645" name="Google Shape;645;p46"/>
          <p:cNvSpPr/>
          <p:nvPr/>
        </p:nvSpPr>
        <p:spPr>
          <a:xfrm>
            <a:off x="6501550" y="2383125"/>
            <a:ext cx="2226000" cy="111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Uniform resource usage</a:t>
            </a:r>
            <a:endParaRPr sz="19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51" name="Google Shape;651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Baxos</a:t>
            </a:r>
            <a:br>
              <a:rPr lang="en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" sz="2100"/>
              <a:t>QuePaxa</a:t>
            </a:r>
            <a:br>
              <a:rPr lang="en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Mahi-Mahi</a:t>
            </a:r>
            <a:br>
              <a:rPr lang="en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Summary</a:t>
            </a:r>
            <a:br>
              <a:rPr lang="en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Future Work</a:t>
            </a:r>
            <a:endParaRPr sz="2100"/>
          </a:p>
        </p:txBody>
      </p:sp>
      <p:sp>
        <p:nvSpPr>
          <p:cNvPr id="652" name="Google Shape;65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8"/>
          <p:cNvSpPr txBox="1"/>
          <p:nvPr>
            <p:ph type="title"/>
          </p:nvPr>
        </p:nvSpPr>
        <p:spPr>
          <a:xfrm>
            <a:off x="1454700" y="2197625"/>
            <a:ext cx="635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QuePaxa: Escaping the </a:t>
            </a:r>
            <a:r>
              <a:rPr lang="en"/>
              <a:t>tyranny</a:t>
            </a:r>
            <a:r>
              <a:rPr lang="en"/>
              <a:t> of timeouts</a:t>
            </a:r>
            <a:endParaRPr/>
          </a:p>
        </p:txBody>
      </p:sp>
      <p:sp>
        <p:nvSpPr>
          <p:cNvPr id="658" name="Google Shape;65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9" name="Google Shape;659;p48"/>
          <p:cNvSpPr txBox="1"/>
          <p:nvPr/>
        </p:nvSpPr>
        <p:spPr>
          <a:xfrm>
            <a:off x="1235450" y="2675975"/>
            <a:ext cx="6806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Pasindu Tennage*, Cristina Basescu, Lefteris Kokoris-Kogias, Ewa Syta, Philipp Jovanovic, Vero Estrada, Bryan Ford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QuePaxa Outline</a:t>
            </a:r>
            <a:endParaRPr/>
          </a:p>
        </p:txBody>
      </p:sp>
      <p:sp>
        <p:nvSpPr>
          <p:cNvPr id="665" name="Google Shape;665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Tyranny of timeouts.</a:t>
            </a:r>
            <a:br>
              <a:rPr lang="en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QuePaxa.</a:t>
            </a:r>
            <a:br>
              <a:rPr lang="en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Evaluation.</a:t>
            </a:r>
            <a:endParaRPr sz="2100"/>
          </a:p>
        </p:txBody>
      </p:sp>
      <p:sp>
        <p:nvSpPr>
          <p:cNvPr id="666" name="Google Shape;666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Tyranny of Timeout Problems in Consensus</a:t>
            </a:r>
            <a:endParaRPr/>
          </a:p>
        </p:txBody>
      </p:sp>
      <p:sp>
        <p:nvSpPr>
          <p:cNvPr id="672" name="Google Shape;672;p50"/>
          <p:cNvSpPr/>
          <p:nvPr/>
        </p:nvSpPr>
        <p:spPr>
          <a:xfrm>
            <a:off x="23350" y="21385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Timeout based view change</a:t>
            </a:r>
            <a:endParaRPr sz="1600"/>
          </a:p>
        </p:txBody>
      </p:sp>
      <p:sp>
        <p:nvSpPr>
          <p:cNvPr id="673" name="Google Shape;673;p50"/>
          <p:cNvSpPr/>
          <p:nvPr/>
        </p:nvSpPr>
        <p:spPr>
          <a:xfrm>
            <a:off x="3071350" y="21385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Conservative timeouts</a:t>
            </a:r>
            <a:endParaRPr sz="1600"/>
          </a:p>
        </p:txBody>
      </p:sp>
      <p:sp>
        <p:nvSpPr>
          <p:cNvPr id="674" name="Google Shape;674;p50"/>
          <p:cNvSpPr/>
          <p:nvPr/>
        </p:nvSpPr>
        <p:spPr>
          <a:xfrm>
            <a:off x="6119350" y="21385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Manually configured timeouts</a:t>
            </a:r>
            <a:endParaRPr sz="1600"/>
          </a:p>
        </p:txBody>
      </p:sp>
      <p:sp>
        <p:nvSpPr>
          <p:cNvPr id="675" name="Google Shape;675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6" name="Google Shape;676;p50"/>
          <p:cNvSpPr/>
          <p:nvPr/>
        </p:nvSpPr>
        <p:spPr>
          <a:xfrm>
            <a:off x="23350" y="21385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Timeout based view change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Timeout based view change</a:t>
            </a:r>
            <a:endParaRPr/>
          </a:p>
        </p:txBody>
      </p:sp>
      <p:sp>
        <p:nvSpPr>
          <p:cNvPr id="682" name="Google Shape;68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3" name="Google Shape;683;p51"/>
          <p:cNvSpPr/>
          <p:nvPr/>
        </p:nvSpPr>
        <p:spPr>
          <a:xfrm>
            <a:off x="4782425" y="1728600"/>
            <a:ext cx="3412500" cy="129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Loss of liveness under asynchronous networks</a:t>
            </a:r>
            <a:endParaRPr sz="2100"/>
          </a:p>
        </p:txBody>
      </p:sp>
      <p:sp>
        <p:nvSpPr>
          <p:cNvPr id="684" name="Google Shape;684;p51"/>
          <p:cNvSpPr/>
          <p:nvPr/>
        </p:nvSpPr>
        <p:spPr>
          <a:xfrm>
            <a:off x="927675" y="1728525"/>
            <a:ext cx="2925000" cy="129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View change </a:t>
            </a:r>
            <a:r>
              <a:rPr lang="en" sz="2100"/>
              <a:t>succeeds</a:t>
            </a:r>
            <a:r>
              <a:rPr lang="en" sz="2100"/>
              <a:t> only when the network is synchronous</a:t>
            </a:r>
            <a:endParaRPr sz="2100"/>
          </a:p>
        </p:txBody>
      </p:sp>
      <p:sp>
        <p:nvSpPr>
          <p:cNvPr id="685" name="Google Shape;685;p51"/>
          <p:cNvSpPr/>
          <p:nvPr/>
        </p:nvSpPr>
        <p:spPr>
          <a:xfrm>
            <a:off x="4125350" y="2289525"/>
            <a:ext cx="446700" cy="282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Tyranny of Timeout Problems in Consensus</a:t>
            </a:r>
            <a:endParaRPr/>
          </a:p>
        </p:txBody>
      </p:sp>
      <p:sp>
        <p:nvSpPr>
          <p:cNvPr id="691" name="Google Shape;691;p52"/>
          <p:cNvSpPr/>
          <p:nvPr/>
        </p:nvSpPr>
        <p:spPr>
          <a:xfrm>
            <a:off x="23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Timeout based view change</a:t>
            </a:r>
            <a:endParaRPr sz="1600"/>
          </a:p>
        </p:txBody>
      </p:sp>
      <p:sp>
        <p:nvSpPr>
          <p:cNvPr id="692" name="Google Shape;692;p52"/>
          <p:cNvSpPr/>
          <p:nvPr/>
        </p:nvSpPr>
        <p:spPr>
          <a:xfrm>
            <a:off x="3071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Conservative timeouts</a:t>
            </a:r>
            <a:endParaRPr sz="1600"/>
          </a:p>
        </p:txBody>
      </p:sp>
      <p:sp>
        <p:nvSpPr>
          <p:cNvPr id="693" name="Google Shape;693;p52"/>
          <p:cNvSpPr/>
          <p:nvPr/>
        </p:nvSpPr>
        <p:spPr>
          <a:xfrm>
            <a:off x="6119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Manually configured timeouts</a:t>
            </a:r>
            <a:endParaRPr sz="1600"/>
          </a:p>
        </p:txBody>
      </p:sp>
      <p:sp>
        <p:nvSpPr>
          <p:cNvPr id="694" name="Google Shape;694;p52"/>
          <p:cNvSpPr/>
          <p:nvPr/>
        </p:nvSpPr>
        <p:spPr>
          <a:xfrm>
            <a:off x="3071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Conservative timeouts</a:t>
            </a:r>
            <a:endParaRPr sz="1600"/>
          </a:p>
        </p:txBody>
      </p:sp>
      <p:sp>
        <p:nvSpPr>
          <p:cNvPr id="695" name="Google Shape;695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3"/>
          <p:cNvSpPr txBox="1"/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Timeouts in leader based protocols</a:t>
            </a:r>
            <a:endParaRPr/>
          </a:p>
        </p:txBody>
      </p:sp>
      <p:sp>
        <p:nvSpPr>
          <p:cNvPr id="701" name="Google Shape;701;p53"/>
          <p:cNvSpPr/>
          <p:nvPr/>
        </p:nvSpPr>
        <p:spPr>
          <a:xfrm>
            <a:off x="1924100" y="1557175"/>
            <a:ext cx="5195700" cy="4239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Timeout</a:t>
            </a:r>
            <a:endParaRPr/>
          </a:p>
        </p:txBody>
      </p:sp>
      <p:sp>
        <p:nvSpPr>
          <p:cNvPr id="702" name="Google Shape;702;p53"/>
          <p:cNvSpPr/>
          <p:nvPr/>
        </p:nvSpPr>
        <p:spPr>
          <a:xfrm>
            <a:off x="71898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High Timeout</a:t>
            </a:r>
            <a:endParaRPr sz="1500"/>
          </a:p>
        </p:txBody>
      </p:sp>
      <p:sp>
        <p:nvSpPr>
          <p:cNvPr id="703" name="Google Shape;703;p53"/>
          <p:cNvSpPr/>
          <p:nvPr/>
        </p:nvSpPr>
        <p:spPr>
          <a:xfrm>
            <a:off x="1794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Low Timeout</a:t>
            </a:r>
            <a:endParaRPr sz="1500"/>
          </a:p>
        </p:txBody>
      </p:sp>
      <p:sp>
        <p:nvSpPr>
          <p:cNvPr id="704" name="Google Shape;704;p53"/>
          <p:cNvSpPr/>
          <p:nvPr/>
        </p:nvSpPr>
        <p:spPr>
          <a:xfrm>
            <a:off x="71898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High Timeout</a:t>
            </a:r>
            <a:endParaRPr sz="1500"/>
          </a:p>
        </p:txBody>
      </p:sp>
      <p:sp>
        <p:nvSpPr>
          <p:cNvPr id="705" name="Google Shape;70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4"/>
          <p:cNvSpPr txBox="1"/>
          <p:nvPr>
            <p:ph type="title"/>
          </p:nvPr>
        </p:nvSpPr>
        <p:spPr>
          <a:xfrm>
            <a:off x="311700" y="149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Timeout based view change [Multi-Paxos]</a:t>
            </a:r>
            <a:endParaRPr/>
          </a:p>
        </p:txBody>
      </p:sp>
      <p:cxnSp>
        <p:nvCxnSpPr>
          <p:cNvPr id="711" name="Google Shape;711;p54"/>
          <p:cNvCxnSpPr/>
          <p:nvPr/>
        </p:nvCxnSpPr>
        <p:spPr>
          <a:xfrm>
            <a:off x="438875" y="1218400"/>
            <a:ext cx="7874100" cy="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54"/>
          <p:cNvCxnSpPr/>
          <p:nvPr/>
        </p:nvCxnSpPr>
        <p:spPr>
          <a:xfrm>
            <a:off x="438875" y="19804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54"/>
          <p:cNvCxnSpPr/>
          <p:nvPr/>
        </p:nvCxnSpPr>
        <p:spPr>
          <a:xfrm>
            <a:off x="438875" y="27424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54"/>
          <p:cNvCxnSpPr/>
          <p:nvPr/>
        </p:nvCxnSpPr>
        <p:spPr>
          <a:xfrm>
            <a:off x="438875" y="35044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5" name="Google Shape;715;p54"/>
          <p:cNvSpPr txBox="1"/>
          <p:nvPr/>
        </p:nvSpPr>
        <p:spPr>
          <a:xfrm>
            <a:off x="349525" y="811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6" name="Google Shape;716;p54"/>
          <p:cNvSpPr txBox="1"/>
          <p:nvPr/>
        </p:nvSpPr>
        <p:spPr>
          <a:xfrm>
            <a:off x="35000" y="1001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717" name="Google Shape;717;p54"/>
          <p:cNvSpPr txBox="1"/>
          <p:nvPr/>
        </p:nvSpPr>
        <p:spPr>
          <a:xfrm>
            <a:off x="35000" y="1763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718" name="Google Shape;718;p54"/>
          <p:cNvSpPr txBox="1"/>
          <p:nvPr/>
        </p:nvSpPr>
        <p:spPr>
          <a:xfrm>
            <a:off x="35000" y="2525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719" name="Google Shape;719;p54"/>
          <p:cNvSpPr txBox="1"/>
          <p:nvPr/>
        </p:nvSpPr>
        <p:spPr>
          <a:xfrm>
            <a:off x="35000" y="3287175"/>
            <a:ext cx="5142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R4</a:t>
            </a:r>
            <a:endParaRPr/>
          </a:p>
        </p:txBody>
      </p:sp>
      <p:cxnSp>
        <p:nvCxnSpPr>
          <p:cNvPr id="720" name="Google Shape;720;p54"/>
          <p:cNvCxnSpPr/>
          <p:nvPr/>
        </p:nvCxnSpPr>
        <p:spPr>
          <a:xfrm rot="10800000">
            <a:off x="3706225" y="859050"/>
            <a:ext cx="10800" cy="30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" name="Google Shape;721;p54"/>
          <p:cNvSpPr txBox="1"/>
          <p:nvPr/>
        </p:nvSpPr>
        <p:spPr>
          <a:xfrm>
            <a:off x="1529100" y="3834075"/>
            <a:ext cx="864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1</a:t>
            </a:r>
            <a:endParaRPr/>
          </a:p>
        </p:txBody>
      </p:sp>
      <p:cxnSp>
        <p:nvCxnSpPr>
          <p:cNvPr id="722" name="Google Shape;722;p54"/>
          <p:cNvCxnSpPr/>
          <p:nvPr/>
        </p:nvCxnSpPr>
        <p:spPr>
          <a:xfrm>
            <a:off x="911387" y="1227912"/>
            <a:ext cx="444900" cy="74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3" name="Google Shape;723;p54"/>
          <p:cNvCxnSpPr/>
          <p:nvPr/>
        </p:nvCxnSpPr>
        <p:spPr>
          <a:xfrm>
            <a:off x="911387" y="1227912"/>
            <a:ext cx="554400" cy="15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4" name="Google Shape;724;p54"/>
          <p:cNvCxnSpPr/>
          <p:nvPr/>
        </p:nvCxnSpPr>
        <p:spPr>
          <a:xfrm>
            <a:off x="911387" y="1227912"/>
            <a:ext cx="576300" cy="224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25" name="Google Shape;72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204" y="793638"/>
            <a:ext cx="628536" cy="353550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4"/>
          <p:cNvSpPr txBox="1"/>
          <p:nvPr/>
        </p:nvSpPr>
        <p:spPr>
          <a:xfrm>
            <a:off x="495850" y="22659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cxnSp>
        <p:nvCxnSpPr>
          <p:cNvPr id="727" name="Google Shape;727;p54"/>
          <p:cNvCxnSpPr/>
          <p:nvPr/>
        </p:nvCxnSpPr>
        <p:spPr>
          <a:xfrm flipH="1" rot="10800000">
            <a:off x="1445200" y="1263650"/>
            <a:ext cx="665700" cy="229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8" name="Google Shape;728;p54"/>
          <p:cNvCxnSpPr/>
          <p:nvPr/>
        </p:nvCxnSpPr>
        <p:spPr>
          <a:xfrm flipH="1" rot="10800000">
            <a:off x="1465675" y="1263550"/>
            <a:ext cx="623400" cy="146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9" name="Google Shape;729;p54"/>
          <p:cNvCxnSpPr/>
          <p:nvPr/>
        </p:nvCxnSpPr>
        <p:spPr>
          <a:xfrm flipH="1" rot="10800000">
            <a:off x="1367225" y="1285525"/>
            <a:ext cx="721800" cy="68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0" name="Google Shape;730;p54"/>
          <p:cNvSpPr txBox="1"/>
          <p:nvPr/>
        </p:nvSpPr>
        <p:spPr>
          <a:xfrm>
            <a:off x="1715050" y="2189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</a:t>
            </a:r>
            <a:endParaRPr/>
          </a:p>
        </p:txBody>
      </p:sp>
      <p:sp>
        <p:nvSpPr>
          <p:cNvPr id="731" name="Google Shape;731;p54"/>
          <p:cNvSpPr txBox="1"/>
          <p:nvPr/>
        </p:nvSpPr>
        <p:spPr>
          <a:xfrm>
            <a:off x="1943650" y="8943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</p:txBody>
      </p:sp>
      <p:cxnSp>
        <p:nvCxnSpPr>
          <p:cNvPr id="732" name="Google Shape;732;p54"/>
          <p:cNvCxnSpPr/>
          <p:nvPr/>
        </p:nvCxnSpPr>
        <p:spPr>
          <a:xfrm flipH="1" rot="10800000">
            <a:off x="2747050" y="1050950"/>
            <a:ext cx="257100" cy="37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54"/>
          <p:cNvCxnSpPr/>
          <p:nvPr/>
        </p:nvCxnSpPr>
        <p:spPr>
          <a:xfrm flipH="1" rot="10800000">
            <a:off x="2899450" y="1050950"/>
            <a:ext cx="257100" cy="37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54"/>
          <p:cNvCxnSpPr/>
          <p:nvPr/>
        </p:nvCxnSpPr>
        <p:spPr>
          <a:xfrm flipH="1" rot="10800000">
            <a:off x="3051850" y="1050950"/>
            <a:ext cx="257100" cy="37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" name="Google Shape;735;p54"/>
          <p:cNvCxnSpPr/>
          <p:nvPr/>
        </p:nvCxnSpPr>
        <p:spPr>
          <a:xfrm flipH="1" rot="10800000">
            <a:off x="3204250" y="1050950"/>
            <a:ext cx="257100" cy="37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6" name="Google Shape;736;p54"/>
          <p:cNvSpPr txBox="1"/>
          <p:nvPr/>
        </p:nvSpPr>
        <p:spPr>
          <a:xfrm>
            <a:off x="5948700" y="3757875"/>
            <a:ext cx="864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2</a:t>
            </a:r>
            <a:endParaRPr/>
          </a:p>
        </p:txBody>
      </p:sp>
      <p:cxnSp>
        <p:nvCxnSpPr>
          <p:cNvPr id="737" name="Google Shape;737;p54"/>
          <p:cNvCxnSpPr/>
          <p:nvPr/>
        </p:nvCxnSpPr>
        <p:spPr>
          <a:xfrm flipH="1" rot="10800000">
            <a:off x="3768075" y="1219975"/>
            <a:ext cx="448500" cy="7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8" name="Google Shape;738;p54"/>
          <p:cNvCxnSpPr/>
          <p:nvPr/>
        </p:nvCxnSpPr>
        <p:spPr>
          <a:xfrm>
            <a:off x="3768075" y="1974625"/>
            <a:ext cx="415500" cy="7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9" name="Google Shape;739;p54"/>
          <p:cNvCxnSpPr/>
          <p:nvPr/>
        </p:nvCxnSpPr>
        <p:spPr>
          <a:xfrm>
            <a:off x="3789950" y="1985575"/>
            <a:ext cx="426600" cy="149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0" name="Google Shape;740;p54"/>
          <p:cNvSpPr txBox="1"/>
          <p:nvPr/>
        </p:nvSpPr>
        <p:spPr>
          <a:xfrm>
            <a:off x="3543850" y="1427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Prepare</a:t>
            </a:r>
            <a:endParaRPr/>
          </a:p>
        </p:txBody>
      </p:sp>
      <p:cxnSp>
        <p:nvCxnSpPr>
          <p:cNvPr id="741" name="Google Shape;741;p54"/>
          <p:cNvCxnSpPr/>
          <p:nvPr/>
        </p:nvCxnSpPr>
        <p:spPr>
          <a:xfrm>
            <a:off x="4292725" y="1219925"/>
            <a:ext cx="568800" cy="7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2" name="Google Shape;742;p54"/>
          <p:cNvCxnSpPr/>
          <p:nvPr/>
        </p:nvCxnSpPr>
        <p:spPr>
          <a:xfrm flipH="1" rot="10800000">
            <a:off x="4292725" y="2007450"/>
            <a:ext cx="55770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3" name="Google Shape;743;p54"/>
          <p:cNvCxnSpPr/>
          <p:nvPr/>
        </p:nvCxnSpPr>
        <p:spPr>
          <a:xfrm flipH="1" rot="10800000">
            <a:off x="4314600" y="2051100"/>
            <a:ext cx="535800" cy="144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4" name="Google Shape;744;p54"/>
          <p:cNvSpPr txBox="1"/>
          <p:nvPr/>
        </p:nvSpPr>
        <p:spPr>
          <a:xfrm>
            <a:off x="4610650" y="21135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Promise</a:t>
            </a:r>
            <a:endParaRPr/>
          </a:p>
        </p:txBody>
      </p:sp>
      <p:pic>
        <p:nvPicPr>
          <p:cNvPr id="745" name="Google Shape;74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8804" y="1631838"/>
            <a:ext cx="628536" cy="353550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54"/>
          <p:cNvSpPr txBox="1"/>
          <p:nvPr/>
        </p:nvSpPr>
        <p:spPr>
          <a:xfrm>
            <a:off x="3738900" y="3605475"/>
            <a:ext cx="1307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Change</a:t>
            </a:r>
            <a:endParaRPr/>
          </a:p>
        </p:txBody>
      </p:sp>
      <p:sp>
        <p:nvSpPr>
          <p:cNvPr id="747" name="Google Shape;747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48" name="Google Shape;748;p54"/>
          <p:cNvCxnSpPr/>
          <p:nvPr/>
        </p:nvCxnSpPr>
        <p:spPr>
          <a:xfrm flipH="1" rot="10800000">
            <a:off x="5977875" y="1219975"/>
            <a:ext cx="448500" cy="76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9" name="Google Shape;749;p54"/>
          <p:cNvCxnSpPr/>
          <p:nvPr/>
        </p:nvCxnSpPr>
        <p:spPr>
          <a:xfrm>
            <a:off x="5977875" y="1974625"/>
            <a:ext cx="415500" cy="7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0" name="Google Shape;750;p54"/>
          <p:cNvCxnSpPr/>
          <p:nvPr/>
        </p:nvCxnSpPr>
        <p:spPr>
          <a:xfrm>
            <a:off x="5999750" y="1985575"/>
            <a:ext cx="426600" cy="149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1" name="Google Shape;751;p54"/>
          <p:cNvSpPr txBox="1"/>
          <p:nvPr/>
        </p:nvSpPr>
        <p:spPr>
          <a:xfrm>
            <a:off x="5753650" y="14277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cxnSp>
        <p:nvCxnSpPr>
          <p:cNvPr id="752" name="Google Shape;752;p54"/>
          <p:cNvCxnSpPr/>
          <p:nvPr/>
        </p:nvCxnSpPr>
        <p:spPr>
          <a:xfrm>
            <a:off x="6426325" y="1219925"/>
            <a:ext cx="568800" cy="74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3" name="Google Shape;753;p54"/>
          <p:cNvCxnSpPr/>
          <p:nvPr/>
        </p:nvCxnSpPr>
        <p:spPr>
          <a:xfrm flipH="1" rot="10800000">
            <a:off x="6426325" y="2007450"/>
            <a:ext cx="557700" cy="66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4" name="Google Shape;754;p54"/>
          <p:cNvCxnSpPr/>
          <p:nvPr/>
        </p:nvCxnSpPr>
        <p:spPr>
          <a:xfrm flipH="1" rot="10800000">
            <a:off x="6448200" y="2051100"/>
            <a:ext cx="535800" cy="144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5" name="Google Shape;755;p54"/>
          <p:cNvSpPr txBox="1"/>
          <p:nvPr/>
        </p:nvSpPr>
        <p:spPr>
          <a:xfrm>
            <a:off x="6820450" y="2265950"/>
            <a:ext cx="984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</a:t>
            </a:r>
            <a:endParaRPr/>
          </a:p>
        </p:txBody>
      </p:sp>
      <p:pic>
        <p:nvPicPr>
          <p:cNvPr id="756" name="Google Shape;75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3025" y="1851174"/>
            <a:ext cx="268801" cy="262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3025" y="2613174"/>
            <a:ext cx="268801" cy="262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3025" y="3375174"/>
            <a:ext cx="268801" cy="262502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54"/>
          <p:cNvSpPr/>
          <p:nvPr/>
        </p:nvSpPr>
        <p:spPr>
          <a:xfrm>
            <a:off x="1859800" y="4124475"/>
            <a:ext cx="2158800" cy="470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Recovery Time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55"/>
          <p:cNvSpPr txBox="1"/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Timeouts in leader based protocols</a:t>
            </a:r>
            <a:endParaRPr/>
          </a:p>
        </p:txBody>
      </p:sp>
      <p:sp>
        <p:nvSpPr>
          <p:cNvPr id="765" name="Google Shape;765;p55"/>
          <p:cNvSpPr/>
          <p:nvPr/>
        </p:nvSpPr>
        <p:spPr>
          <a:xfrm>
            <a:off x="1924100" y="1557175"/>
            <a:ext cx="5195700" cy="4239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Timeout</a:t>
            </a:r>
            <a:endParaRPr/>
          </a:p>
        </p:txBody>
      </p:sp>
      <p:sp>
        <p:nvSpPr>
          <p:cNvPr id="766" name="Google Shape;766;p55"/>
          <p:cNvSpPr/>
          <p:nvPr/>
        </p:nvSpPr>
        <p:spPr>
          <a:xfrm>
            <a:off x="71898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High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7" name="Google Shape;767;p55"/>
          <p:cNvSpPr/>
          <p:nvPr/>
        </p:nvSpPr>
        <p:spPr>
          <a:xfrm>
            <a:off x="1794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Low Timeout</a:t>
            </a:r>
            <a:endParaRPr sz="1500"/>
          </a:p>
        </p:txBody>
      </p:sp>
      <p:sp>
        <p:nvSpPr>
          <p:cNvPr id="768" name="Google Shape;768;p55"/>
          <p:cNvSpPr txBox="1"/>
          <p:nvPr/>
        </p:nvSpPr>
        <p:spPr>
          <a:xfrm>
            <a:off x="7087700" y="2497825"/>
            <a:ext cx="1815600" cy="4239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Recovery Time</a:t>
            </a:r>
            <a:endParaRPr/>
          </a:p>
        </p:txBody>
      </p:sp>
      <p:sp>
        <p:nvSpPr>
          <p:cNvPr id="769" name="Google Shape;769;p55"/>
          <p:cNvSpPr/>
          <p:nvPr/>
        </p:nvSpPr>
        <p:spPr>
          <a:xfrm>
            <a:off x="71898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High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0" name="Google Shape;770;p55"/>
          <p:cNvSpPr/>
          <p:nvPr/>
        </p:nvSpPr>
        <p:spPr>
          <a:xfrm>
            <a:off x="71898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High Timeout</a:t>
            </a:r>
            <a:endParaRPr sz="1500"/>
          </a:p>
        </p:txBody>
      </p:sp>
      <p:sp>
        <p:nvSpPr>
          <p:cNvPr id="771" name="Google Shape;771;p55"/>
          <p:cNvSpPr/>
          <p:nvPr/>
        </p:nvSpPr>
        <p:spPr>
          <a:xfrm>
            <a:off x="1794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Low Timeout</a:t>
            </a:r>
            <a:endParaRPr sz="1500"/>
          </a:p>
        </p:txBody>
      </p:sp>
      <p:sp>
        <p:nvSpPr>
          <p:cNvPr id="772" name="Google Shape;77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3" name="Google Shape;773;p55"/>
          <p:cNvPicPr preferRelativeResize="0"/>
          <p:nvPr/>
        </p:nvPicPr>
        <p:blipFill rotWithShape="1">
          <a:blip r:embed="rId3">
            <a:alphaModFix/>
          </a:blip>
          <a:srcRect b="16832" l="17661" r="0" t="36396"/>
          <a:stretch/>
        </p:blipFill>
        <p:spPr>
          <a:xfrm>
            <a:off x="5603140" y="3279454"/>
            <a:ext cx="3420286" cy="96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Liveness loss with low timeouts</a:t>
            </a:r>
            <a:endParaRPr/>
          </a:p>
        </p:txBody>
      </p:sp>
      <p:sp>
        <p:nvSpPr>
          <p:cNvPr id="779" name="Google Shape;779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80" name="Google Shape;780;p56"/>
          <p:cNvCxnSpPr/>
          <p:nvPr/>
        </p:nvCxnSpPr>
        <p:spPr>
          <a:xfrm flipH="1" rot="10800000">
            <a:off x="1062425" y="1710075"/>
            <a:ext cx="8137800" cy="1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1" name="Google Shape;781;p56"/>
          <p:cNvCxnSpPr/>
          <p:nvPr/>
        </p:nvCxnSpPr>
        <p:spPr>
          <a:xfrm flipH="1" rot="10800000">
            <a:off x="1062425" y="2319675"/>
            <a:ext cx="8137800" cy="1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56"/>
          <p:cNvCxnSpPr/>
          <p:nvPr/>
        </p:nvCxnSpPr>
        <p:spPr>
          <a:xfrm flipH="1" rot="10800000">
            <a:off x="1062425" y="2929275"/>
            <a:ext cx="8137800" cy="1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3" name="Google Shape;783;p56"/>
          <p:cNvCxnSpPr/>
          <p:nvPr/>
        </p:nvCxnSpPr>
        <p:spPr>
          <a:xfrm flipH="1" rot="10800000">
            <a:off x="1062425" y="3538875"/>
            <a:ext cx="8137800" cy="1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4" name="Google Shape;784;p56"/>
          <p:cNvSpPr txBox="1"/>
          <p:nvPr/>
        </p:nvSpPr>
        <p:spPr>
          <a:xfrm>
            <a:off x="384275" y="1502500"/>
            <a:ext cx="5250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785" name="Google Shape;785;p56"/>
          <p:cNvSpPr txBox="1"/>
          <p:nvPr/>
        </p:nvSpPr>
        <p:spPr>
          <a:xfrm>
            <a:off x="384275" y="2112100"/>
            <a:ext cx="5250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786" name="Google Shape;786;p56"/>
          <p:cNvSpPr txBox="1"/>
          <p:nvPr/>
        </p:nvSpPr>
        <p:spPr>
          <a:xfrm>
            <a:off x="384275" y="2797900"/>
            <a:ext cx="5250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787" name="Google Shape;787;p56"/>
          <p:cNvSpPr txBox="1"/>
          <p:nvPr/>
        </p:nvSpPr>
        <p:spPr>
          <a:xfrm>
            <a:off x="384275" y="3407500"/>
            <a:ext cx="5250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R4</a:t>
            </a:r>
            <a:endParaRPr/>
          </a:p>
        </p:txBody>
      </p:sp>
      <p:sp>
        <p:nvSpPr>
          <p:cNvPr id="788" name="Google Shape;788;p56"/>
          <p:cNvSpPr txBox="1"/>
          <p:nvPr/>
        </p:nvSpPr>
        <p:spPr>
          <a:xfrm>
            <a:off x="1523550" y="3712300"/>
            <a:ext cx="8559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1</a:t>
            </a:r>
            <a:endParaRPr/>
          </a:p>
        </p:txBody>
      </p:sp>
      <p:grpSp>
        <p:nvGrpSpPr>
          <p:cNvPr id="789" name="Google Shape;789;p56"/>
          <p:cNvGrpSpPr/>
          <p:nvPr/>
        </p:nvGrpSpPr>
        <p:grpSpPr>
          <a:xfrm>
            <a:off x="2501697" y="1563175"/>
            <a:ext cx="1478078" cy="2411625"/>
            <a:chOff x="2349297" y="1410775"/>
            <a:chExt cx="1478078" cy="2411625"/>
          </a:xfrm>
        </p:grpSpPr>
        <p:sp>
          <p:nvSpPr>
            <p:cNvPr id="790" name="Google Shape;790;p56"/>
            <p:cNvSpPr txBox="1"/>
            <p:nvPr/>
          </p:nvSpPr>
          <p:spPr>
            <a:xfrm>
              <a:off x="2971475" y="3559900"/>
              <a:ext cx="8559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View 2</a:t>
              </a:r>
              <a:endParaRPr/>
            </a:p>
          </p:txBody>
        </p:sp>
        <p:cxnSp>
          <p:nvCxnSpPr>
            <p:cNvPr id="791" name="Google Shape;791;p56"/>
            <p:cNvCxnSpPr/>
            <p:nvPr/>
          </p:nvCxnSpPr>
          <p:spPr>
            <a:xfrm>
              <a:off x="2492150" y="1410775"/>
              <a:ext cx="0" cy="23625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pic>
          <p:nvPicPr>
            <p:cNvPr id="792" name="Google Shape;792;p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63410" y="3042538"/>
              <a:ext cx="285724" cy="262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3" name="Google Shape;793;p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49297" y="2346213"/>
              <a:ext cx="285724" cy="262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4" name="Google Shape;794;p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63410" y="1826088"/>
              <a:ext cx="285724" cy="2625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95" name="Google Shape;795;p56"/>
          <p:cNvGrpSpPr/>
          <p:nvPr/>
        </p:nvGrpSpPr>
        <p:grpSpPr>
          <a:xfrm>
            <a:off x="3076113" y="1810850"/>
            <a:ext cx="1700163" cy="1657700"/>
            <a:chOff x="4099063" y="1625550"/>
            <a:chExt cx="1700163" cy="1657700"/>
          </a:xfrm>
        </p:grpSpPr>
        <p:cxnSp>
          <p:nvCxnSpPr>
            <p:cNvPr id="796" name="Google Shape;796;p56"/>
            <p:cNvCxnSpPr/>
            <p:nvPr/>
          </p:nvCxnSpPr>
          <p:spPr>
            <a:xfrm flipH="1" rot="10800000">
              <a:off x="4805475" y="1625550"/>
              <a:ext cx="765300" cy="490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97" name="Google Shape;797;p56"/>
            <p:cNvCxnSpPr/>
            <p:nvPr/>
          </p:nvCxnSpPr>
          <p:spPr>
            <a:xfrm>
              <a:off x="4756425" y="2135375"/>
              <a:ext cx="1042800" cy="554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98" name="Google Shape;798;p56"/>
            <p:cNvCxnSpPr/>
            <p:nvPr/>
          </p:nvCxnSpPr>
          <p:spPr>
            <a:xfrm>
              <a:off x="4766225" y="2125550"/>
              <a:ext cx="912600" cy="1157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99" name="Google Shape;799;p56"/>
            <p:cNvSpPr txBox="1"/>
            <p:nvPr/>
          </p:nvSpPr>
          <p:spPr>
            <a:xfrm>
              <a:off x="4099063" y="2137375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Prepare</a:t>
              </a:r>
              <a:endParaRPr/>
            </a:p>
          </p:txBody>
        </p:sp>
      </p:grpSp>
      <p:grpSp>
        <p:nvGrpSpPr>
          <p:cNvPr id="800" name="Google Shape;800;p56"/>
          <p:cNvGrpSpPr/>
          <p:nvPr/>
        </p:nvGrpSpPr>
        <p:grpSpPr>
          <a:xfrm>
            <a:off x="4227135" y="1502500"/>
            <a:ext cx="1712528" cy="2472300"/>
            <a:chOff x="4074735" y="1350100"/>
            <a:chExt cx="1712528" cy="2472300"/>
          </a:xfrm>
        </p:grpSpPr>
        <p:sp>
          <p:nvSpPr>
            <p:cNvPr id="801" name="Google Shape;801;p56"/>
            <p:cNvSpPr txBox="1"/>
            <p:nvPr/>
          </p:nvSpPr>
          <p:spPr>
            <a:xfrm>
              <a:off x="4828163" y="3559900"/>
              <a:ext cx="9591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View 3</a:t>
              </a:r>
              <a:endParaRPr/>
            </a:p>
          </p:txBody>
        </p:sp>
        <p:cxnSp>
          <p:nvCxnSpPr>
            <p:cNvPr id="802" name="Google Shape;802;p56"/>
            <p:cNvCxnSpPr/>
            <p:nvPr/>
          </p:nvCxnSpPr>
          <p:spPr>
            <a:xfrm>
              <a:off x="4240663" y="1350100"/>
              <a:ext cx="0" cy="23625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pic>
          <p:nvPicPr>
            <p:cNvPr id="803" name="Google Shape;803;p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11922" y="2981863"/>
              <a:ext cx="285724" cy="262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4" name="Google Shape;804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74735" y="2448713"/>
              <a:ext cx="285724" cy="2625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5" name="Google Shape;805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11922" y="1634113"/>
              <a:ext cx="285724" cy="2625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6" name="Google Shape;806;p56"/>
          <p:cNvGrpSpPr/>
          <p:nvPr/>
        </p:nvGrpSpPr>
        <p:grpSpPr>
          <a:xfrm>
            <a:off x="5208088" y="1790825"/>
            <a:ext cx="1743313" cy="1668100"/>
            <a:chOff x="4126213" y="1615350"/>
            <a:chExt cx="1743313" cy="1668100"/>
          </a:xfrm>
        </p:grpSpPr>
        <p:cxnSp>
          <p:nvCxnSpPr>
            <p:cNvPr id="807" name="Google Shape;807;p56"/>
            <p:cNvCxnSpPr/>
            <p:nvPr/>
          </p:nvCxnSpPr>
          <p:spPr>
            <a:xfrm flipH="1" rot="10800000">
              <a:off x="4957225" y="1615350"/>
              <a:ext cx="912300" cy="1098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08" name="Google Shape;808;p56"/>
            <p:cNvCxnSpPr/>
            <p:nvPr/>
          </p:nvCxnSpPr>
          <p:spPr>
            <a:xfrm flipH="1" rot="10800000">
              <a:off x="4967025" y="2164850"/>
              <a:ext cx="834000" cy="559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09" name="Google Shape;809;p56"/>
            <p:cNvCxnSpPr/>
            <p:nvPr/>
          </p:nvCxnSpPr>
          <p:spPr>
            <a:xfrm>
              <a:off x="4927775" y="2733850"/>
              <a:ext cx="751200" cy="549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10" name="Google Shape;810;p56"/>
            <p:cNvSpPr txBox="1"/>
            <p:nvPr/>
          </p:nvSpPr>
          <p:spPr>
            <a:xfrm>
              <a:off x="4126213" y="2765513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Prepare</a:t>
              </a:r>
              <a:endParaRPr/>
            </a:p>
          </p:txBody>
        </p:sp>
      </p:grpSp>
      <p:grpSp>
        <p:nvGrpSpPr>
          <p:cNvPr id="811" name="Google Shape;811;p56"/>
          <p:cNvGrpSpPr/>
          <p:nvPr/>
        </p:nvGrpSpPr>
        <p:grpSpPr>
          <a:xfrm>
            <a:off x="6527160" y="1502500"/>
            <a:ext cx="2737190" cy="2472300"/>
            <a:chOff x="6374760" y="1350100"/>
            <a:chExt cx="2737190" cy="2472300"/>
          </a:xfrm>
        </p:grpSpPr>
        <p:sp>
          <p:nvSpPr>
            <p:cNvPr id="812" name="Google Shape;812;p56"/>
            <p:cNvSpPr txBox="1"/>
            <p:nvPr/>
          </p:nvSpPr>
          <p:spPr>
            <a:xfrm>
              <a:off x="7211075" y="3559900"/>
              <a:ext cx="981300" cy="2625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View 4</a:t>
              </a:r>
              <a:endParaRPr/>
            </a:p>
          </p:txBody>
        </p:sp>
        <p:cxnSp>
          <p:nvCxnSpPr>
            <p:cNvPr id="813" name="Google Shape;813;p56"/>
            <p:cNvCxnSpPr/>
            <p:nvPr/>
          </p:nvCxnSpPr>
          <p:spPr>
            <a:xfrm>
              <a:off x="6522088" y="1350100"/>
              <a:ext cx="0" cy="2362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pic>
          <p:nvPicPr>
            <p:cNvPr id="814" name="Google Shape;814;p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393347" y="3134763"/>
              <a:ext cx="285724" cy="262502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815" name="Google Shape;815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74760" y="2256738"/>
              <a:ext cx="285724" cy="262502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816" name="Google Shape;816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93347" y="1736613"/>
              <a:ext cx="285724" cy="262502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17" name="Google Shape;817;p56"/>
            <p:cNvSpPr txBox="1"/>
            <p:nvPr/>
          </p:nvSpPr>
          <p:spPr>
            <a:xfrm>
              <a:off x="7530350" y="2280675"/>
              <a:ext cx="1581600" cy="3936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/>
                <a:t>…</a:t>
              </a:r>
              <a:endParaRPr sz="2300"/>
            </a:p>
          </p:txBody>
        </p:sp>
      </p:grpSp>
      <p:grpSp>
        <p:nvGrpSpPr>
          <p:cNvPr id="818" name="Google Shape;818;p56"/>
          <p:cNvGrpSpPr/>
          <p:nvPr/>
        </p:nvGrpSpPr>
        <p:grpSpPr>
          <a:xfrm>
            <a:off x="1172625" y="1261738"/>
            <a:ext cx="1736787" cy="2216574"/>
            <a:chOff x="358400" y="1098438"/>
            <a:chExt cx="1736787" cy="2216574"/>
          </a:xfrm>
        </p:grpSpPr>
        <p:cxnSp>
          <p:nvCxnSpPr>
            <p:cNvPr id="819" name="Google Shape;819;p56"/>
            <p:cNvCxnSpPr/>
            <p:nvPr/>
          </p:nvCxnSpPr>
          <p:spPr>
            <a:xfrm>
              <a:off x="911387" y="1532712"/>
              <a:ext cx="1183800" cy="1164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20" name="Google Shape;820;p56"/>
            <p:cNvCxnSpPr/>
            <p:nvPr/>
          </p:nvCxnSpPr>
          <p:spPr>
            <a:xfrm>
              <a:off x="911276" y="1532626"/>
              <a:ext cx="1144500" cy="5562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21" name="Google Shape;821;p56"/>
            <p:cNvCxnSpPr/>
            <p:nvPr/>
          </p:nvCxnSpPr>
          <p:spPr>
            <a:xfrm>
              <a:off x="911387" y="1532712"/>
              <a:ext cx="1183800" cy="1782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22" name="Google Shape;822;p56"/>
            <p:cNvSpPr txBox="1"/>
            <p:nvPr/>
          </p:nvSpPr>
          <p:spPr>
            <a:xfrm>
              <a:off x="358400" y="1700375"/>
              <a:ext cx="984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Propose</a:t>
              </a:r>
              <a:endParaRPr/>
            </a:p>
          </p:txBody>
        </p:sp>
        <p:pic>
          <p:nvPicPr>
            <p:cNvPr id="823" name="Google Shape;823;p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9204" y="1098438"/>
              <a:ext cx="628536" cy="353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7"/>
          <p:cNvSpPr txBox="1"/>
          <p:nvPr>
            <p:ph type="title"/>
          </p:nvPr>
        </p:nvSpPr>
        <p:spPr>
          <a:xfrm>
            <a:off x="311700" y="52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Timeouts in leader based protocols</a:t>
            </a:r>
            <a:endParaRPr/>
          </a:p>
        </p:txBody>
      </p:sp>
      <p:sp>
        <p:nvSpPr>
          <p:cNvPr id="829" name="Google Shape;829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30" name="Google Shape;830;p57"/>
          <p:cNvPicPr preferRelativeResize="0"/>
          <p:nvPr/>
        </p:nvPicPr>
        <p:blipFill rotWithShape="1">
          <a:blip r:embed="rId3">
            <a:alphaModFix/>
          </a:blip>
          <a:srcRect b="18953" l="0" r="0" t="29246"/>
          <a:stretch/>
        </p:blipFill>
        <p:spPr>
          <a:xfrm>
            <a:off x="0" y="3280528"/>
            <a:ext cx="4312997" cy="9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57"/>
          <p:cNvSpPr txBox="1"/>
          <p:nvPr/>
        </p:nvSpPr>
        <p:spPr>
          <a:xfrm>
            <a:off x="305900" y="2497825"/>
            <a:ext cx="1488900" cy="4239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Liveness Loss</a:t>
            </a:r>
            <a:endParaRPr/>
          </a:p>
        </p:txBody>
      </p:sp>
      <p:sp>
        <p:nvSpPr>
          <p:cNvPr id="832" name="Google Shape;832;p57"/>
          <p:cNvSpPr/>
          <p:nvPr/>
        </p:nvSpPr>
        <p:spPr>
          <a:xfrm>
            <a:off x="1924100" y="1557175"/>
            <a:ext cx="5195700" cy="4239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Timeout</a:t>
            </a:r>
            <a:endParaRPr/>
          </a:p>
        </p:txBody>
      </p:sp>
      <p:sp>
        <p:nvSpPr>
          <p:cNvPr id="833" name="Google Shape;833;p57"/>
          <p:cNvSpPr/>
          <p:nvPr/>
        </p:nvSpPr>
        <p:spPr>
          <a:xfrm>
            <a:off x="71898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E6B8A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High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4" name="Google Shape;834;p57"/>
          <p:cNvSpPr/>
          <p:nvPr/>
        </p:nvSpPr>
        <p:spPr>
          <a:xfrm>
            <a:off x="1794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Low Timeout</a:t>
            </a:r>
            <a:endParaRPr sz="1500"/>
          </a:p>
        </p:txBody>
      </p:sp>
      <p:sp>
        <p:nvSpPr>
          <p:cNvPr id="835" name="Google Shape;835;p57"/>
          <p:cNvSpPr txBox="1"/>
          <p:nvPr/>
        </p:nvSpPr>
        <p:spPr>
          <a:xfrm>
            <a:off x="7087700" y="2497825"/>
            <a:ext cx="1815600" cy="4239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Recovery Time</a:t>
            </a:r>
            <a:endParaRPr/>
          </a:p>
        </p:txBody>
      </p:sp>
      <p:sp>
        <p:nvSpPr>
          <p:cNvPr id="836" name="Google Shape;836;p57"/>
          <p:cNvSpPr/>
          <p:nvPr/>
        </p:nvSpPr>
        <p:spPr>
          <a:xfrm>
            <a:off x="71898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High Timeout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7" name="Google Shape;837;p57"/>
          <p:cNvSpPr/>
          <p:nvPr/>
        </p:nvSpPr>
        <p:spPr>
          <a:xfrm>
            <a:off x="71898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High Timeout</a:t>
            </a:r>
            <a:endParaRPr sz="1500"/>
          </a:p>
        </p:txBody>
      </p:sp>
      <p:sp>
        <p:nvSpPr>
          <p:cNvPr id="838" name="Google Shape;838;p57"/>
          <p:cNvSpPr/>
          <p:nvPr/>
        </p:nvSpPr>
        <p:spPr>
          <a:xfrm>
            <a:off x="179450" y="1252375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Low Timeout</a:t>
            </a:r>
            <a:endParaRPr sz="1500"/>
          </a:p>
        </p:txBody>
      </p:sp>
      <p:pic>
        <p:nvPicPr>
          <p:cNvPr id="839" name="Google Shape;839;p57"/>
          <p:cNvPicPr preferRelativeResize="0"/>
          <p:nvPr/>
        </p:nvPicPr>
        <p:blipFill rotWithShape="1">
          <a:blip r:embed="rId4">
            <a:alphaModFix/>
          </a:blip>
          <a:srcRect b="16832" l="17661" r="0" t="36396"/>
          <a:stretch/>
        </p:blipFill>
        <p:spPr>
          <a:xfrm>
            <a:off x="5603140" y="3279454"/>
            <a:ext cx="3420286" cy="96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Tyranny of Timeout Problems in Consensus</a:t>
            </a:r>
            <a:endParaRPr/>
          </a:p>
        </p:txBody>
      </p:sp>
      <p:sp>
        <p:nvSpPr>
          <p:cNvPr id="845" name="Google Shape;845;p58"/>
          <p:cNvSpPr/>
          <p:nvPr/>
        </p:nvSpPr>
        <p:spPr>
          <a:xfrm>
            <a:off x="23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Timeout based view change</a:t>
            </a:r>
            <a:endParaRPr sz="1600"/>
          </a:p>
        </p:txBody>
      </p:sp>
      <p:sp>
        <p:nvSpPr>
          <p:cNvPr id="846" name="Google Shape;846;p58"/>
          <p:cNvSpPr/>
          <p:nvPr/>
        </p:nvSpPr>
        <p:spPr>
          <a:xfrm>
            <a:off x="3071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Conservative timeouts</a:t>
            </a:r>
            <a:endParaRPr sz="1600"/>
          </a:p>
        </p:txBody>
      </p:sp>
      <p:sp>
        <p:nvSpPr>
          <p:cNvPr id="847" name="Google Shape;847;p58"/>
          <p:cNvSpPr/>
          <p:nvPr/>
        </p:nvSpPr>
        <p:spPr>
          <a:xfrm>
            <a:off x="6119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Manually configured timeouts</a:t>
            </a:r>
            <a:endParaRPr sz="1600"/>
          </a:p>
        </p:txBody>
      </p:sp>
      <p:sp>
        <p:nvSpPr>
          <p:cNvPr id="848" name="Google Shape;848;p58"/>
          <p:cNvSpPr/>
          <p:nvPr/>
        </p:nvSpPr>
        <p:spPr>
          <a:xfrm>
            <a:off x="6119350" y="2214725"/>
            <a:ext cx="2937300" cy="891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Manually configured timeouts</a:t>
            </a:r>
            <a:endParaRPr sz="1600"/>
          </a:p>
        </p:txBody>
      </p:sp>
      <p:sp>
        <p:nvSpPr>
          <p:cNvPr id="849" name="Google Shape;849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Manual configuration of timeouts</a:t>
            </a:r>
            <a:endParaRPr/>
          </a:p>
        </p:txBody>
      </p:sp>
      <p:sp>
        <p:nvSpPr>
          <p:cNvPr id="855" name="Google Shape;855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6" name="Google Shape;85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050" y="2340525"/>
            <a:ext cx="1304450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7950" y="290450"/>
            <a:ext cx="1304450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7950" y="1890650"/>
            <a:ext cx="1304450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7950" y="3490850"/>
            <a:ext cx="1304450" cy="166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0" name="Google Shape;860;p59"/>
          <p:cNvGrpSpPr/>
          <p:nvPr/>
        </p:nvGrpSpPr>
        <p:grpSpPr>
          <a:xfrm>
            <a:off x="3458700" y="1123900"/>
            <a:ext cx="1659325" cy="3350700"/>
            <a:chOff x="4754100" y="1047700"/>
            <a:chExt cx="1659325" cy="3350700"/>
          </a:xfrm>
        </p:grpSpPr>
        <p:cxnSp>
          <p:nvCxnSpPr>
            <p:cNvPr id="861" name="Google Shape;861;p59"/>
            <p:cNvCxnSpPr/>
            <p:nvPr/>
          </p:nvCxnSpPr>
          <p:spPr>
            <a:xfrm flipH="1" rot="10800000">
              <a:off x="4825825" y="1047700"/>
              <a:ext cx="1587600" cy="1317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62" name="Google Shape;862;p59"/>
            <p:cNvCxnSpPr/>
            <p:nvPr/>
          </p:nvCxnSpPr>
          <p:spPr>
            <a:xfrm>
              <a:off x="4754100" y="2928100"/>
              <a:ext cx="14205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63" name="Google Shape;863;p59"/>
            <p:cNvCxnSpPr/>
            <p:nvPr/>
          </p:nvCxnSpPr>
          <p:spPr>
            <a:xfrm>
              <a:off x="4817400" y="3516400"/>
              <a:ext cx="1554900" cy="8820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64" name="Google Shape;864;p59"/>
          <p:cNvGrpSpPr/>
          <p:nvPr/>
        </p:nvGrpSpPr>
        <p:grpSpPr>
          <a:xfrm>
            <a:off x="3464300" y="1564550"/>
            <a:ext cx="1560350" cy="3022550"/>
            <a:chOff x="4759700" y="1488350"/>
            <a:chExt cx="1560350" cy="3022550"/>
          </a:xfrm>
        </p:grpSpPr>
        <p:cxnSp>
          <p:nvCxnSpPr>
            <p:cNvPr id="865" name="Google Shape;865;p59"/>
            <p:cNvCxnSpPr/>
            <p:nvPr/>
          </p:nvCxnSpPr>
          <p:spPr>
            <a:xfrm flipH="1">
              <a:off x="5021650" y="1488350"/>
              <a:ext cx="1298400" cy="1047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66" name="Google Shape;866;p59"/>
            <p:cNvCxnSpPr/>
            <p:nvPr/>
          </p:nvCxnSpPr>
          <p:spPr>
            <a:xfrm flipH="1">
              <a:off x="4792350" y="3114200"/>
              <a:ext cx="1342200" cy="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67" name="Google Shape;867;p59"/>
            <p:cNvCxnSpPr/>
            <p:nvPr/>
          </p:nvCxnSpPr>
          <p:spPr>
            <a:xfrm rot="10800000">
              <a:off x="4759700" y="3714400"/>
              <a:ext cx="1320300" cy="7965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68" name="Google Shape;868;p59"/>
          <p:cNvSpPr txBox="1"/>
          <p:nvPr/>
        </p:nvSpPr>
        <p:spPr>
          <a:xfrm>
            <a:off x="6422400" y="1291950"/>
            <a:ext cx="2549400" cy="3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Slow but functioning leader.</a:t>
            </a:r>
            <a:br>
              <a:rPr lang="en" sz="2000">
                <a:solidFill>
                  <a:schemeClr val="dk2"/>
                </a:solidFill>
              </a:rPr>
            </a:b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Timeout does not adapt to changing network delay.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60"/>
          <p:cNvSpPr txBox="1"/>
          <p:nvPr>
            <p:ph type="title"/>
          </p:nvPr>
        </p:nvSpPr>
        <p:spPr>
          <a:xfrm>
            <a:off x="1606200" y="1511825"/>
            <a:ext cx="566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timeouts necessary for progress?</a:t>
            </a:r>
            <a:endParaRPr/>
          </a:p>
        </p:txBody>
      </p:sp>
      <p:sp>
        <p:nvSpPr>
          <p:cNvPr id="874" name="Google Shape;874;p60"/>
          <p:cNvSpPr txBox="1"/>
          <p:nvPr>
            <p:ph idx="1" type="body"/>
          </p:nvPr>
        </p:nvSpPr>
        <p:spPr>
          <a:xfrm>
            <a:off x="767275" y="2524075"/>
            <a:ext cx="7561500" cy="4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Can we eliminate the impact of timeout for liveness?</a:t>
            </a:r>
            <a:endParaRPr sz="2500"/>
          </a:p>
        </p:txBody>
      </p:sp>
      <p:sp>
        <p:nvSpPr>
          <p:cNvPr id="875" name="Google Shape;87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alternative approach? (Hedging)</a:t>
            </a:r>
            <a:endParaRPr/>
          </a:p>
        </p:txBody>
      </p:sp>
      <p:cxnSp>
        <p:nvCxnSpPr>
          <p:cNvPr id="881" name="Google Shape;881;p61"/>
          <p:cNvCxnSpPr/>
          <p:nvPr/>
        </p:nvCxnSpPr>
        <p:spPr>
          <a:xfrm flipH="1" rot="10800000">
            <a:off x="438875" y="1514800"/>
            <a:ext cx="7903200" cy="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2" name="Google Shape;882;p61"/>
          <p:cNvCxnSpPr/>
          <p:nvPr/>
        </p:nvCxnSpPr>
        <p:spPr>
          <a:xfrm>
            <a:off x="438875" y="2285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3" name="Google Shape;883;p61"/>
          <p:cNvCxnSpPr/>
          <p:nvPr/>
        </p:nvCxnSpPr>
        <p:spPr>
          <a:xfrm>
            <a:off x="438875" y="3047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4" name="Google Shape;884;p61"/>
          <p:cNvCxnSpPr/>
          <p:nvPr/>
        </p:nvCxnSpPr>
        <p:spPr>
          <a:xfrm>
            <a:off x="438875" y="3809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5" name="Google Shape;885;p61"/>
          <p:cNvSpPr txBox="1"/>
          <p:nvPr/>
        </p:nvSpPr>
        <p:spPr>
          <a:xfrm>
            <a:off x="349525" y="1116075"/>
            <a:ext cx="1856700" cy="31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6" name="Google Shape;886;p61"/>
          <p:cNvSpPr txBox="1"/>
          <p:nvPr/>
        </p:nvSpPr>
        <p:spPr>
          <a:xfrm>
            <a:off x="349525" y="1954275"/>
            <a:ext cx="1856700" cy="31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Leader 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7" name="Google Shape;887;p61"/>
          <p:cNvSpPr txBox="1"/>
          <p:nvPr/>
        </p:nvSpPr>
        <p:spPr>
          <a:xfrm>
            <a:off x="349525" y="2716275"/>
            <a:ext cx="1856700" cy="31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Leader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8" name="Google Shape;888;p61"/>
          <p:cNvSpPr txBox="1"/>
          <p:nvPr/>
        </p:nvSpPr>
        <p:spPr>
          <a:xfrm>
            <a:off x="349525" y="3478275"/>
            <a:ext cx="1856700" cy="31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Leader 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9" name="Google Shape;889;p61"/>
          <p:cNvSpPr txBox="1"/>
          <p:nvPr/>
        </p:nvSpPr>
        <p:spPr>
          <a:xfrm>
            <a:off x="349525" y="1192275"/>
            <a:ext cx="1856700" cy="31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Leader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0" name="Google Shape;890;p61"/>
          <p:cNvSpPr txBox="1"/>
          <p:nvPr/>
        </p:nvSpPr>
        <p:spPr>
          <a:xfrm>
            <a:off x="0" y="1262225"/>
            <a:ext cx="438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891" name="Google Shape;891;p61"/>
          <p:cNvSpPr txBox="1"/>
          <p:nvPr/>
        </p:nvSpPr>
        <p:spPr>
          <a:xfrm>
            <a:off x="0" y="2100425"/>
            <a:ext cx="438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892" name="Google Shape;892;p61"/>
          <p:cNvSpPr txBox="1"/>
          <p:nvPr/>
        </p:nvSpPr>
        <p:spPr>
          <a:xfrm>
            <a:off x="0" y="2786225"/>
            <a:ext cx="438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893" name="Google Shape;893;p61"/>
          <p:cNvSpPr txBox="1"/>
          <p:nvPr/>
        </p:nvSpPr>
        <p:spPr>
          <a:xfrm>
            <a:off x="0" y="3548225"/>
            <a:ext cx="438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R4</a:t>
            </a:r>
            <a:endParaRPr/>
          </a:p>
        </p:txBody>
      </p:sp>
      <p:cxnSp>
        <p:nvCxnSpPr>
          <p:cNvPr id="894" name="Google Shape;894;p61"/>
          <p:cNvCxnSpPr>
            <a:stCxn id="889" idx="2"/>
          </p:cNvCxnSpPr>
          <p:nvPr/>
        </p:nvCxnSpPr>
        <p:spPr>
          <a:xfrm>
            <a:off x="1277875" y="1505475"/>
            <a:ext cx="408600" cy="76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5" name="Google Shape;895;p61"/>
          <p:cNvCxnSpPr>
            <a:stCxn id="889" idx="2"/>
          </p:cNvCxnSpPr>
          <p:nvPr/>
        </p:nvCxnSpPr>
        <p:spPr>
          <a:xfrm>
            <a:off x="1277875" y="1505475"/>
            <a:ext cx="441600" cy="153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6" name="Google Shape;896;p61"/>
          <p:cNvCxnSpPr>
            <a:stCxn id="889" idx="2"/>
          </p:cNvCxnSpPr>
          <p:nvPr/>
        </p:nvCxnSpPr>
        <p:spPr>
          <a:xfrm>
            <a:off x="1277875" y="1505475"/>
            <a:ext cx="441600" cy="230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7" name="Google Shape;897;p61"/>
          <p:cNvSpPr txBox="1"/>
          <p:nvPr/>
        </p:nvSpPr>
        <p:spPr>
          <a:xfrm>
            <a:off x="921300" y="1737725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cxnSp>
        <p:nvCxnSpPr>
          <p:cNvPr id="898" name="Google Shape;898;p61"/>
          <p:cNvCxnSpPr/>
          <p:nvPr/>
        </p:nvCxnSpPr>
        <p:spPr>
          <a:xfrm flipH="1" rot="10800000">
            <a:off x="1763175" y="1557625"/>
            <a:ext cx="645300" cy="2220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9" name="Google Shape;899;p61"/>
          <p:cNvCxnSpPr/>
          <p:nvPr/>
        </p:nvCxnSpPr>
        <p:spPr>
          <a:xfrm flipH="1" rot="10800000">
            <a:off x="1741300" y="1568375"/>
            <a:ext cx="634500" cy="144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0" name="Google Shape;900;p61"/>
          <p:cNvCxnSpPr/>
          <p:nvPr/>
        </p:nvCxnSpPr>
        <p:spPr>
          <a:xfrm flipH="1" rot="10800000">
            <a:off x="1697550" y="1590250"/>
            <a:ext cx="689100" cy="63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1" name="Google Shape;901;p61"/>
          <p:cNvSpPr txBox="1"/>
          <p:nvPr/>
        </p:nvSpPr>
        <p:spPr>
          <a:xfrm>
            <a:off x="1988100" y="1737725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</a:t>
            </a:r>
            <a:endParaRPr/>
          </a:p>
        </p:txBody>
      </p:sp>
      <p:sp>
        <p:nvSpPr>
          <p:cNvPr id="902" name="Google Shape;902;p61"/>
          <p:cNvSpPr txBox="1"/>
          <p:nvPr/>
        </p:nvSpPr>
        <p:spPr>
          <a:xfrm>
            <a:off x="2216700" y="1128125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</p:txBody>
      </p:sp>
      <p:cxnSp>
        <p:nvCxnSpPr>
          <p:cNvPr id="903" name="Google Shape;903;p61"/>
          <p:cNvCxnSpPr/>
          <p:nvPr/>
        </p:nvCxnSpPr>
        <p:spPr>
          <a:xfrm flipH="1" rot="10800000">
            <a:off x="2880275" y="12951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61"/>
          <p:cNvCxnSpPr/>
          <p:nvPr/>
        </p:nvCxnSpPr>
        <p:spPr>
          <a:xfrm flipH="1" rot="10800000">
            <a:off x="3032675" y="12951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61"/>
          <p:cNvCxnSpPr/>
          <p:nvPr/>
        </p:nvCxnSpPr>
        <p:spPr>
          <a:xfrm flipH="1" rot="10800000">
            <a:off x="3185075" y="12951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6" name="Google Shape;906;p61"/>
          <p:cNvCxnSpPr/>
          <p:nvPr/>
        </p:nvCxnSpPr>
        <p:spPr>
          <a:xfrm flipH="1" rot="10800000">
            <a:off x="3949029" y="1524624"/>
            <a:ext cx="317100" cy="76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7" name="Google Shape;907;p61"/>
          <p:cNvCxnSpPr/>
          <p:nvPr/>
        </p:nvCxnSpPr>
        <p:spPr>
          <a:xfrm>
            <a:off x="3949029" y="2287224"/>
            <a:ext cx="273300" cy="75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8" name="Google Shape;908;p61"/>
          <p:cNvCxnSpPr/>
          <p:nvPr/>
        </p:nvCxnSpPr>
        <p:spPr>
          <a:xfrm>
            <a:off x="3949029" y="2287224"/>
            <a:ext cx="327900" cy="1490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9" name="Google Shape;909;p61"/>
          <p:cNvCxnSpPr/>
          <p:nvPr/>
        </p:nvCxnSpPr>
        <p:spPr>
          <a:xfrm flipH="1" rot="10800000">
            <a:off x="4287975" y="2312150"/>
            <a:ext cx="207900" cy="144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0" name="Google Shape;910;p61"/>
          <p:cNvCxnSpPr/>
          <p:nvPr/>
        </p:nvCxnSpPr>
        <p:spPr>
          <a:xfrm flipH="1" rot="10800000">
            <a:off x="4244225" y="2323175"/>
            <a:ext cx="240600" cy="689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1" name="Google Shape;911;p61"/>
          <p:cNvCxnSpPr/>
          <p:nvPr/>
        </p:nvCxnSpPr>
        <p:spPr>
          <a:xfrm>
            <a:off x="4255175" y="1546600"/>
            <a:ext cx="218700" cy="76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2" name="Google Shape;912;p61"/>
          <p:cNvCxnSpPr/>
          <p:nvPr/>
        </p:nvCxnSpPr>
        <p:spPr>
          <a:xfrm flipH="1" rot="10800000">
            <a:off x="6004475" y="12189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3" name="Google Shape;913;p61"/>
          <p:cNvCxnSpPr/>
          <p:nvPr/>
        </p:nvCxnSpPr>
        <p:spPr>
          <a:xfrm flipH="1" rot="10800000">
            <a:off x="6156875" y="12189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4" name="Google Shape;914;p61"/>
          <p:cNvCxnSpPr/>
          <p:nvPr/>
        </p:nvCxnSpPr>
        <p:spPr>
          <a:xfrm flipH="1" rot="10800000">
            <a:off x="6309275" y="12189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61"/>
          <p:cNvCxnSpPr/>
          <p:nvPr/>
        </p:nvCxnSpPr>
        <p:spPr>
          <a:xfrm flipH="1" rot="10800000">
            <a:off x="5852075" y="20571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61"/>
          <p:cNvCxnSpPr/>
          <p:nvPr/>
        </p:nvCxnSpPr>
        <p:spPr>
          <a:xfrm flipH="1" rot="10800000">
            <a:off x="6004475" y="20571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61"/>
          <p:cNvCxnSpPr/>
          <p:nvPr/>
        </p:nvCxnSpPr>
        <p:spPr>
          <a:xfrm flipH="1" rot="10800000">
            <a:off x="6156875" y="2057175"/>
            <a:ext cx="207900" cy="415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61"/>
          <p:cNvCxnSpPr/>
          <p:nvPr/>
        </p:nvCxnSpPr>
        <p:spPr>
          <a:xfrm flipH="1" rot="10800000">
            <a:off x="6616029" y="2312124"/>
            <a:ext cx="164700" cy="73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9" name="Google Shape;919;p61"/>
          <p:cNvCxnSpPr/>
          <p:nvPr/>
        </p:nvCxnSpPr>
        <p:spPr>
          <a:xfrm flipH="1" rot="10800000">
            <a:off x="6616029" y="1535724"/>
            <a:ext cx="110100" cy="151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0" name="Google Shape;920;p61"/>
          <p:cNvCxnSpPr/>
          <p:nvPr/>
        </p:nvCxnSpPr>
        <p:spPr>
          <a:xfrm flipH="1" rot="10800000">
            <a:off x="6768875" y="3078075"/>
            <a:ext cx="462300" cy="70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1" name="Google Shape;921;p61"/>
          <p:cNvCxnSpPr/>
          <p:nvPr/>
        </p:nvCxnSpPr>
        <p:spPr>
          <a:xfrm>
            <a:off x="6739150" y="1524725"/>
            <a:ext cx="514200" cy="1531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22" name="Google Shape;92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6500" y="2092050"/>
            <a:ext cx="441600" cy="441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23" name="Google Shape;92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9700" y="2854050"/>
            <a:ext cx="441600" cy="441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4" name="Google Shape;924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5" name="Google Shape;92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01" y="10697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01" y="18317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01" y="33557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01" y="2593765"/>
            <a:ext cx="408600" cy="229831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61"/>
          <p:cNvSpPr txBox="1"/>
          <p:nvPr/>
        </p:nvSpPr>
        <p:spPr>
          <a:xfrm>
            <a:off x="3359700" y="2499725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  <p:sp>
        <p:nvSpPr>
          <p:cNvPr id="930" name="Google Shape;930;p61"/>
          <p:cNvSpPr txBox="1"/>
          <p:nvPr/>
        </p:nvSpPr>
        <p:spPr>
          <a:xfrm>
            <a:off x="4229738" y="2506763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</a:t>
            </a:r>
            <a:endParaRPr/>
          </a:p>
        </p:txBody>
      </p:sp>
      <p:sp>
        <p:nvSpPr>
          <p:cNvPr id="931" name="Google Shape;931;p61"/>
          <p:cNvSpPr txBox="1"/>
          <p:nvPr/>
        </p:nvSpPr>
        <p:spPr>
          <a:xfrm>
            <a:off x="4502700" y="1966325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</p:txBody>
      </p:sp>
      <p:sp>
        <p:nvSpPr>
          <p:cNvPr id="932" name="Google Shape;932;p61"/>
          <p:cNvSpPr/>
          <p:nvPr/>
        </p:nvSpPr>
        <p:spPr>
          <a:xfrm>
            <a:off x="3120325" y="2323175"/>
            <a:ext cx="327900" cy="17304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61"/>
          <p:cNvSpPr/>
          <p:nvPr/>
        </p:nvSpPr>
        <p:spPr>
          <a:xfrm>
            <a:off x="2789700" y="4042475"/>
            <a:ext cx="1060500" cy="44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view change</a:t>
            </a:r>
            <a:endParaRPr/>
          </a:p>
        </p:txBody>
      </p:sp>
      <p:sp>
        <p:nvSpPr>
          <p:cNvPr id="934" name="Google Shape;934;p61"/>
          <p:cNvSpPr txBox="1"/>
          <p:nvPr/>
        </p:nvSpPr>
        <p:spPr>
          <a:xfrm>
            <a:off x="7017300" y="2575925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</a:t>
            </a:r>
            <a:endParaRPr/>
          </a:p>
        </p:txBody>
      </p:sp>
      <p:sp>
        <p:nvSpPr>
          <p:cNvPr id="935" name="Google Shape;935;p61"/>
          <p:cNvSpPr txBox="1"/>
          <p:nvPr/>
        </p:nvSpPr>
        <p:spPr>
          <a:xfrm>
            <a:off x="7245900" y="3033125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</a:t>
            </a:r>
            <a:endParaRPr/>
          </a:p>
        </p:txBody>
      </p:sp>
      <p:sp>
        <p:nvSpPr>
          <p:cNvPr id="936" name="Google Shape;936;p61"/>
          <p:cNvSpPr/>
          <p:nvPr/>
        </p:nvSpPr>
        <p:spPr>
          <a:xfrm>
            <a:off x="6168325" y="3295650"/>
            <a:ext cx="327900" cy="7578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61"/>
          <p:cNvSpPr/>
          <p:nvPr/>
        </p:nvSpPr>
        <p:spPr>
          <a:xfrm>
            <a:off x="5761500" y="4042475"/>
            <a:ext cx="1060500" cy="441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view change</a:t>
            </a:r>
            <a:endParaRPr/>
          </a:p>
        </p:txBody>
      </p:sp>
      <p:cxnSp>
        <p:nvCxnSpPr>
          <p:cNvPr id="938" name="Google Shape;938;p61"/>
          <p:cNvCxnSpPr>
            <a:stCxn id="923" idx="3"/>
          </p:cNvCxnSpPr>
          <p:nvPr/>
        </p:nvCxnSpPr>
        <p:spPr>
          <a:xfrm>
            <a:off x="6591300" y="3074850"/>
            <a:ext cx="191100" cy="735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9" name="Google Shape;939;p61"/>
          <p:cNvSpPr txBox="1"/>
          <p:nvPr/>
        </p:nvSpPr>
        <p:spPr>
          <a:xfrm>
            <a:off x="6179100" y="2652125"/>
            <a:ext cx="9663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multiple leaders could </a:t>
            </a:r>
            <a:r>
              <a:rPr b="1" lang="en"/>
              <a:t>cooperate</a:t>
            </a:r>
            <a:r>
              <a:rPr lang="en"/>
              <a:t> instead of </a:t>
            </a:r>
            <a:r>
              <a:rPr b="1" lang="en"/>
              <a:t>interfere</a:t>
            </a:r>
            <a:r>
              <a:rPr lang="en"/>
              <a:t>?</a:t>
            </a:r>
            <a:endParaRPr/>
          </a:p>
        </p:txBody>
      </p:sp>
      <p:sp>
        <p:nvSpPr>
          <p:cNvPr id="945" name="Google Shape;945;p62"/>
          <p:cNvSpPr txBox="1"/>
          <p:nvPr/>
        </p:nvSpPr>
        <p:spPr>
          <a:xfrm>
            <a:off x="0" y="1567025"/>
            <a:ext cx="438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</a:t>
            </a:r>
            <a:endParaRPr/>
          </a:p>
        </p:txBody>
      </p:sp>
      <p:sp>
        <p:nvSpPr>
          <p:cNvPr id="946" name="Google Shape;946;p62"/>
          <p:cNvSpPr txBox="1"/>
          <p:nvPr/>
        </p:nvSpPr>
        <p:spPr>
          <a:xfrm>
            <a:off x="0" y="2405225"/>
            <a:ext cx="438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R2</a:t>
            </a:r>
            <a:endParaRPr/>
          </a:p>
        </p:txBody>
      </p:sp>
      <p:sp>
        <p:nvSpPr>
          <p:cNvPr id="947" name="Google Shape;947;p62"/>
          <p:cNvSpPr txBox="1"/>
          <p:nvPr/>
        </p:nvSpPr>
        <p:spPr>
          <a:xfrm>
            <a:off x="0" y="3091025"/>
            <a:ext cx="438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R3</a:t>
            </a:r>
            <a:endParaRPr/>
          </a:p>
        </p:txBody>
      </p:sp>
      <p:sp>
        <p:nvSpPr>
          <p:cNvPr id="948" name="Google Shape;948;p62"/>
          <p:cNvSpPr txBox="1"/>
          <p:nvPr/>
        </p:nvSpPr>
        <p:spPr>
          <a:xfrm>
            <a:off x="0" y="3853025"/>
            <a:ext cx="438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R4</a:t>
            </a:r>
            <a:endParaRPr/>
          </a:p>
        </p:txBody>
      </p:sp>
      <p:cxnSp>
        <p:nvCxnSpPr>
          <p:cNvPr id="949" name="Google Shape;949;p62"/>
          <p:cNvCxnSpPr/>
          <p:nvPr/>
        </p:nvCxnSpPr>
        <p:spPr>
          <a:xfrm>
            <a:off x="438875" y="1828000"/>
            <a:ext cx="1866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0" name="Google Shape;950;p62"/>
          <p:cNvCxnSpPr/>
          <p:nvPr/>
        </p:nvCxnSpPr>
        <p:spPr>
          <a:xfrm>
            <a:off x="438875" y="25900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62"/>
          <p:cNvCxnSpPr/>
          <p:nvPr/>
        </p:nvCxnSpPr>
        <p:spPr>
          <a:xfrm>
            <a:off x="438875" y="33520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2" name="Google Shape;952;p62"/>
          <p:cNvCxnSpPr/>
          <p:nvPr/>
        </p:nvCxnSpPr>
        <p:spPr>
          <a:xfrm>
            <a:off x="438875" y="41140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3" name="Google Shape;953;p62"/>
          <p:cNvSpPr txBox="1"/>
          <p:nvPr/>
        </p:nvSpPr>
        <p:spPr>
          <a:xfrm>
            <a:off x="349525" y="14208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4" name="Google Shape;954;p62"/>
          <p:cNvSpPr txBox="1"/>
          <p:nvPr/>
        </p:nvSpPr>
        <p:spPr>
          <a:xfrm>
            <a:off x="349525" y="22590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Leader 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5" name="Google Shape;955;p62"/>
          <p:cNvSpPr txBox="1"/>
          <p:nvPr/>
        </p:nvSpPr>
        <p:spPr>
          <a:xfrm>
            <a:off x="349525" y="30210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Leader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6" name="Google Shape;956;p62"/>
          <p:cNvSpPr txBox="1"/>
          <p:nvPr/>
        </p:nvSpPr>
        <p:spPr>
          <a:xfrm>
            <a:off x="349525" y="37830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Leader 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57" name="Google Shape;957;p62"/>
          <p:cNvCxnSpPr/>
          <p:nvPr/>
        </p:nvCxnSpPr>
        <p:spPr>
          <a:xfrm>
            <a:off x="2267675" y="1828000"/>
            <a:ext cx="6030300" cy="9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8" name="Google Shape;958;p62"/>
          <p:cNvSpPr txBox="1"/>
          <p:nvPr/>
        </p:nvSpPr>
        <p:spPr>
          <a:xfrm>
            <a:off x="349525" y="1497075"/>
            <a:ext cx="1856700" cy="31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Leader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9" name="Google Shape;95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8850" y="1929931"/>
            <a:ext cx="3137231" cy="2091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0" name="Google Shape;960;p62"/>
          <p:cNvGrpSpPr/>
          <p:nvPr/>
        </p:nvGrpSpPr>
        <p:grpSpPr>
          <a:xfrm>
            <a:off x="889175" y="1773238"/>
            <a:ext cx="2603722" cy="2338200"/>
            <a:chOff x="889175" y="1468438"/>
            <a:chExt cx="2603722" cy="2338200"/>
          </a:xfrm>
        </p:grpSpPr>
        <p:cxnSp>
          <p:nvCxnSpPr>
            <p:cNvPr id="961" name="Google Shape;961;p62"/>
            <p:cNvCxnSpPr/>
            <p:nvPr/>
          </p:nvCxnSpPr>
          <p:spPr>
            <a:xfrm>
              <a:off x="1493697" y="1468438"/>
              <a:ext cx="1999200" cy="77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62" name="Google Shape;962;p62"/>
            <p:cNvCxnSpPr/>
            <p:nvPr/>
          </p:nvCxnSpPr>
          <p:spPr>
            <a:xfrm>
              <a:off x="1493697" y="1468438"/>
              <a:ext cx="1704900" cy="1582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63" name="Google Shape;963;p62"/>
            <p:cNvCxnSpPr/>
            <p:nvPr/>
          </p:nvCxnSpPr>
          <p:spPr>
            <a:xfrm>
              <a:off x="1493697" y="1468438"/>
              <a:ext cx="1979400" cy="233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64" name="Google Shape;964;p62"/>
            <p:cNvSpPr txBox="1"/>
            <p:nvPr/>
          </p:nvSpPr>
          <p:spPr>
            <a:xfrm>
              <a:off x="889175" y="1573263"/>
              <a:ext cx="966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Propose</a:t>
              </a:r>
              <a:endParaRPr/>
            </a:p>
          </p:txBody>
        </p:sp>
      </p:grpSp>
      <p:grpSp>
        <p:nvGrpSpPr>
          <p:cNvPr id="965" name="Google Shape;965;p62"/>
          <p:cNvGrpSpPr/>
          <p:nvPr/>
        </p:nvGrpSpPr>
        <p:grpSpPr>
          <a:xfrm>
            <a:off x="3067237" y="1462513"/>
            <a:ext cx="3009522" cy="2649800"/>
            <a:chOff x="1697550" y="1128125"/>
            <a:chExt cx="1485450" cy="2649800"/>
          </a:xfrm>
        </p:grpSpPr>
        <p:cxnSp>
          <p:nvCxnSpPr>
            <p:cNvPr id="966" name="Google Shape;966;p62"/>
            <p:cNvCxnSpPr/>
            <p:nvPr/>
          </p:nvCxnSpPr>
          <p:spPr>
            <a:xfrm flipH="1" rot="10800000">
              <a:off x="1763175" y="1559725"/>
              <a:ext cx="715800" cy="221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67" name="Google Shape;967;p62"/>
            <p:cNvCxnSpPr/>
            <p:nvPr/>
          </p:nvCxnSpPr>
          <p:spPr>
            <a:xfrm flipH="1" rot="10800000">
              <a:off x="1741300" y="1550075"/>
              <a:ext cx="723300" cy="146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68" name="Google Shape;968;p62"/>
            <p:cNvCxnSpPr/>
            <p:nvPr/>
          </p:nvCxnSpPr>
          <p:spPr>
            <a:xfrm flipH="1" rot="10800000">
              <a:off x="1697550" y="1559950"/>
              <a:ext cx="742800" cy="664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69" name="Google Shape;969;p62"/>
            <p:cNvSpPr txBox="1"/>
            <p:nvPr/>
          </p:nvSpPr>
          <p:spPr>
            <a:xfrm>
              <a:off x="2216700" y="1128125"/>
              <a:ext cx="966300" cy="31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commit</a:t>
              </a:r>
              <a:endParaRPr/>
            </a:p>
          </p:txBody>
        </p:sp>
      </p:grpSp>
      <p:sp>
        <p:nvSpPr>
          <p:cNvPr id="970" name="Google Shape;970;p62"/>
          <p:cNvSpPr txBox="1"/>
          <p:nvPr/>
        </p:nvSpPr>
        <p:spPr>
          <a:xfrm>
            <a:off x="2206225" y="4252325"/>
            <a:ext cx="15555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 1</a:t>
            </a:r>
            <a:endParaRPr/>
          </a:p>
        </p:txBody>
      </p:sp>
      <p:grpSp>
        <p:nvGrpSpPr>
          <p:cNvPr id="971" name="Google Shape;971;p62"/>
          <p:cNvGrpSpPr/>
          <p:nvPr/>
        </p:nvGrpSpPr>
        <p:grpSpPr>
          <a:xfrm>
            <a:off x="3863341" y="1851400"/>
            <a:ext cx="794239" cy="2230700"/>
            <a:chOff x="3863225" y="1546600"/>
            <a:chExt cx="251652" cy="2230700"/>
          </a:xfrm>
        </p:grpSpPr>
        <p:cxnSp>
          <p:nvCxnSpPr>
            <p:cNvPr id="972" name="Google Shape;972;p62"/>
            <p:cNvCxnSpPr/>
            <p:nvPr/>
          </p:nvCxnSpPr>
          <p:spPr>
            <a:xfrm flipH="1" rot="10800000">
              <a:off x="3876377" y="2312100"/>
              <a:ext cx="238500" cy="146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73" name="Google Shape;973;p62"/>
            <p:cNvCxnSpPr/>
            <p:nvPr/>
          </p:nvCxnSpPr>
          <p:spPr>
            <a:xfrm flipH="1" rot="10800000">
              <a:off x="3863225" y="2323175"/>
              <a:ext cx="240600" cy="68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74" name="Google Shape;974;p62"/>
            <p:cNvCxnSpPr/>
            <p:nvPr/>
          </p:nvCxnSpPr>
          <p:spPr>
            <a:xfrm>
              <a:off x="3874175" y="1546600"/>
              <a:ext cx="218700" cy="765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75" name="Google Shape;975;p62"/>
          <p:cNvGrpSpPr/>
          <p:nvPr/>
        </p:nvGrpSpPr>
        <p:grpSpPr>
          <a:xfrm>
            <a:off x="2420250" y="1835499"/>
            <a:ext cx="1465029" cy="2266200"/>
            <a:chOff x="3101700" y="1562724"/>
            <a:chExt cx="1465029" cy="2266200"/>
          </a:xfrm>
        </p:grpSpPr>
        <p:cxnSp>
          <p:nvCxnSpPr>
            <p:cNvPr id="976" name="Google Shape;976;p62"/>
            <p:cNvCxnSpPr/>
            <p:nvPr/>
          </p:nvCxnSpPr>
          <p:spPr>
            <a:xfrm flipH="1" rot="10800000">
              <a:off x="3568029" y="1562724"/>
              <a:ext cx="988800" cy="72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77" name="Google Shape;977;p62"/>
            <p:cNvCxnSpPr/>
            <p:nvPr/>
          </p:nvCxnSpPr>
          <p:spPr>
            <a:xfrm>
              <a:off x="3568029" y="2287224"/>
              <a:ext cx="939900" cy="75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78" name="Google Shape;978;p62"/>
            <p:cNvCxnSpPr/>
            <p:nvPr/>
          </p:nvCxnSpPr>
          <p:spPr>
            <a:xfrm>
              <a:off x="3568029" y="2287224"/>
              <a:ext cx="998700" cy="154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pic>
          <p:nvPicPr>
            <p:cNvPr id="979" name="Google Shape;979;p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01700" y="2092050"/>
              <a:ext cx="441600" cy="4416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0" name="Google Shape;980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81" name="Google Shape;981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401" y="21365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401" y="36605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401" y="28985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401" y="1374565"/>
            <a:ext cx="408600" cy="229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QuePaxa Contributions</a:t>
            </a:r>
            <a:endParaRPr/>
          </a:p>
        </p:txBody>
      </p:sp>
      <p:sp>
        <p:nvSpPr>
          <p:cNvPr id="990" name="Google Shape;990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1" name="Google Shape;991;p63"/>
          <p:cNvSpPr/>
          <p:nvPr/>
        </p:nvSpPr>
        <p:spPr>
          <a:xfrm>
            <a:off x="613225" y="1990300"/>
            <a:ext cx="3041400" cy="152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Optimal</a:t>
            </a:r>
            <a:r>
              <a:rPr lang="en" sz="2200"/>
              <a:t> Performance under synchrony and asynchrony</a:t>
            </a:r>
            <a:endParaRPr sz="2200"/>
          </a:p>
        </p:txBody>
      </p:sp>
      <p:sp>
        <p:nvSpPr>
          <p:cNvPr id="992" name="Google Shape;992;p63"/>
          <p:cNvSpPr/>
          <p:nvPr/>
        </p:nvSpPr>
        <p:spPr>
          <a:xfrm>
            <a:off x="5006850" y="1990350"/>
            <a:ext cx="2742600" cy="152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Enables Hedging</a:t>
            </a:r>
            <a:endParaRPr sz="22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Threat Model</a:t>
            </a:r>
            <a:endParaRPr/>
          </a:p>
        </p:txBody>
      </p:sp>
      <p:sp>
        <p:nvSpPr>
          <p:cNvPr id="998" name="Google Shape;998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Up to </a:t>
            </a:r>
            <a:r>
              <a:rPr b="1" i="1" lang="en" sz="2000"/>
              <a:t>f</a:t>
            </a:r>
            <a:r>
              <a:rPr lang="en" sz="2000"/>
              <a:t> out of </a:t>
            </a:r>
            <a:r>
              <a:rPr b="1" i="1" lang="en" sz="2000"/>
              <a:t>2</a:t>
            </a:r>
            <a:r>
              <a:rPr b="1" i="1" lang="en" sz="2000"/>
              <a:t>f+1</a:t>
            </a:r>
            <a:r>
              <a:rPr lang="en" sz="2000"/>
              <a:t> nodes can crash.</a:t>
            </a:r>
            <a:br>
              <a:rPr lang="e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network is </a:t>
            </a:r>
            <a:r>
              <a:rPr b="1" lang="en" sz="2000"/>
              <a:t>asynchronous</a:t>
            </a:r>
            <a:r>
              <a:rPr lang="en" sz="2000"/>
              <a:t> – there exists </a:t>
            </a:r>
            <a:r>
              <a:rPr b="1" lang="en" sz="2000"/>
              <a:t>no bound Δ</a:t>
            </a:r>
            <a:r>
              <a:rPr lang="en" sz="2000"/>
              <a:t> on message transmission delay.</a:t>
            </a:r>
            <a:br>
              <a:rPr lang="en" sz="2000"/>
            </a:b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Network attacker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Can reorder and delay messages.</a:t>
            </a:r>
            <a:br>
              <a:rPr lang="en" sz="1600"/>
            </a:b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Cannot see internal replica state and message contents.</a:t>
            </a:r>
            <a:endParaRPr sz="1600"/>
          </a:p>
        </p:txBody>
      </p:sp>
      <p:sp>
        <p:nvSpPr>
          <p:cNvPr id="999" name="Google Shape;999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QuePaxa Architecture </a:t>
            </a:r>
            <a:endParaRPr/>
          </a:p>
        </p:txBody>
      </p:sp>
      <p:sp>
        <p:nvSpPr>
          <p:cNvPr id="1005" name="Google Shape;1005;p65"/>
          <p:cNvSpPr/>
          <p:nvPr/>
        </p:nvSpPr>
        <p:spPr>
          <a:xfrm>
            <a:off x="816725" y="2834125"/>
            <a:ext cx="1845600" cy="183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Replica</a:t>
            </a:r>
            <a:endParaRPr/>
          </a:p>
        </p:txBody>
      </p:sp>
      <p:sp>
        <p:nvSpPr>
          <p:cNvPr id="1006" name="Google Shape;1006;p65"/>
          <p:cNvSpPr/>
          <p:nvPr/>
        </p:nvSpPr>
        <p:spPr>
          <a:xfrm>
            <a:off x="3636125" y="2834125"/>
            <a:ext cx="1845600" cy="183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Replica</a:t>
            </a:r>
            <a:endParaRPr/>
          </a:p>
        </p:txBody>
      </p:sp>
      <p:sp>
        <p:nvSpPr>
          <p:cNvPr id="1007" name="Google Shape;1007;p65"/>
          <p:cNvSpPr/>
          <p:nvPr/>
        </p:nvSpPr>
        <p:spPr>
          <a:xfrm>
            <a:off x="6531725" y="2834125"/>
            <a:ext cx="1845600" cy="183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Replica</a:t>
            </a:r>
            <a:endParaRPr/>
          </a:p>
        </p:txBody>
      </p:sp>
      <p:grpSp>
        <p:nvGrpSpPr>
          <p:cNvPr id="1008" name="Google Shape;1008;p65"/>
          <p:cNvGrpSpPr/>
          <p:nvPr/>
        </p:nvGrpSpPr>
        <p:grpSpPr>
          <a:xfrm>
            <a:off x="972375" y="3093500"/>
            <a:ext cx="7256700" cy="452100"/>
            <a:chOff x="972375" y="3093500"/>
            <a:chExt cx="7256700" cy="452100"/>
          </a:xfrm>
        </p:grpSpPr>
        <p:sp>
          <p:nvSpPr>
            <p:cNvPr id="1009" name="Google Shape;1009;p65"/>
            <p:cNvSpPr/>
            <p:nvPr/>
          </p:nvSpPr>
          <p:spPr>
            <a:xfrm>
              <a:off x="972375" y="3093500"/>
              <a:ext cx="1541700" cy="452100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Proposer</a:t>
              </a:r>
              <a:endParaRPr/>
            </a:p>
          </p:txBody>
        </p:sp>
        <p:sp>
          <p:nvSpPr>
            <p:cNvPr id="1010" name="Google Shape;1010;p65"/>
            <p:cNvSpPr/>
            <p:nvPr/>
          </p:nvSpPr>
          <p:spPr>
            <a:xfrm>
              <a:off x="3791775" y="3093500"/>
              <a:ext cx="1541700" cy="452100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Proposer</a:t>
              </a:r>
              <a:endParaRPr/>
            </a:p>
          </p:txBody>
        </p:sp>
        <p:sp>
          <p:nvSpPr>
            <p:cNvPr id="1011" name="Google Shape;1011;p65"/>
            <p:cNvSpPr/>
            <p:nvPr/>
          </p:nvSpPr>
          <p:spPr>
            <a:xfrm>
              <a:off x="6687375" y="3093500"/>
              <a:ext cx="1541700" cy="452100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Proposer</a:t>
              </a:r>
              <a:endParaRPr/>
            </a:p>
          </p:txBody>
        </p:sp>
      </p:grpSp>
      <p:grpSp>
        <p:nvGrpSpPr>
          <p:cNvPr id="1012" name="Google Shape;1012;p65"/>
          <p:cNvGrpSpPr/>
          <p:nvPr/>
        </p:nvGrpSpPr>
        <p:grpSpPr>
          <a:xfrm>
            <a:off x="972375" y="3779300"/>
            <a:ext cx="7256700" cy="452100"/>
            <a:chOff x="972375" y="3779300"/>
            <a:chExt cx="7256700" cy="452100"/>
          </a:xfrm>
        </p:grpSpPr>
        <p:sp>
          <p:nvSpPr>
            <p:cNvPr id="1013" name="Google Shape;1013;p65"/>
            <p:cNvSpPr/>
            <p:nvPr/>
          </p:nvSpPr>
          <p:spPr>
            <a:xfrm>
              <a:off x="972375" y="3779300"/>
              <a:ext cx="1541700" cy="452100"/>
            </a:xfrm>
            <a:prstGeom prst="rect">
              <a:avLst/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Recorder</a:t>
              </a:r>
              <a:endParaRPr/>
            </a:p>
          </p:txBody>
        </p:sp>
        <p:sp>
          <p:nvSpPr>
            <p:cNvPr id="1014" name="Google Shape;1014;p65"/>
            <p:cNvSpPr/>
            <p:nvPr/>
          </p:nvSpPr>
          <p:spPr>
            <a:xfrm>
              <a:off x="3791775" y="3779300"/>
              <a:ext cx="1541700" cy="452100"/>
            </a:xfrm>
            <a:prstGeom prst="rect">
              <a:avLst/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Recorder</a:t>
              </a:r>
              <a:endParaRPr/>
            </a:p>
          </p:txBody>
        </p:sp>
        <p:sp>
          <p:nvSpPr>
            <p:cNvPr id="1015" name="Google Shape;1015;p65"/>
            <p:cNvSpPr/>
            <p:nvPr/>
          </p:nvSpPr>
          <p:spPr>
            <a:xfrm>
              <a:off x="6687375" y="3779300"/>
              <a:ext cx="1541700" cy="452100"/>
            </a:xfrm>
            <a:prstGeom prst="rect">
              <a:avLst/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Recorder</a:t>
              </a:r>
              <a:endParaRPr/>
            </a:p>
          </p:txBody>
        </p:sp>
      </p:grpSp>
      <p:sp>
        <p:nvSpPr>
          <p:cNvPr id="1016" name="Google Shape;1016;p65"/>
          <p:cNvSpPr/>
          <p:nvPr/>
        </p:nvSpPr>
        <p:spPr>
          <a:xfrm>
            <a:off x="1962975" y="1569500"/>
            <a:ext cx="1541700" cy="45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Submitter</a:t>
            </a:r>
            <a:endParaRPr/>
          </a:p>
        </p:txBody>
      </p:sp>
      <p:sp>
        <p:nvSpPr>
          <p:cNvPr id="1017" name="Google Shape;1017;p65"/>
          <p:cNvSpPr/>
          <p:nvPr/>
        </p:nvSpPr>
        <p:spPr>
          <a:xfrm>
            <a:off x="5391975" y="1569500"/>
            <a:ext cx="1541700" cy="45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Submitter</a:t>
            </a:r>
            <a:endParaRPr/>
          </a:p>
        </p:txBody>
      </p:sp>
      <p:cxnSp>
        <p:nvCxnSpPr>
          <p:cNvPr id="1018" name="Google Shape;1018;p65"/>
          <p:cNvCxnSpPr>
            <a:stCxn id="1016" idx="2"/>
            <a:endCxn id="1005" idx="0"/>
          </p:cNvCxnSpPr>
          <p:nvPr/>
        </p:nvCxnSpPr>
        <p:spPr>
          <a:xfrm flipH="1">
            <a:off x="1739625" y="2021600"/>
            <a:ext cx="9942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9" name="Google Shape;1019;p65"/>
          <p:cNvCxnSpPr>
            <a:stCxn id="1016" idx="2"/>
            <a:endCxn id="1006" idx="0"/>
          </p:cNvCxnSpPr>
          <p:nvPr/>
        </p:nvCxnSpPr>
        <p:spPr>
          <a:xfrm>
            <a:off x="2733825" y="2021600"/>
            <a:ext cx="18252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0" name="Google Shape;1020;p65"/>
          <p:cNvCxnSpPr>
            <a:stCxn id="1016" idx="2"/>
            <a:endCxn id="1007" idx="0"/>
          </p:cNvCxnSpPr>
          <p:nvPr/>
        </p:nvCxnSpPr>
        <p:spPr>
          <a:xfrm>
            <a:off x="2733825" y="2021600"/>
            <a:ext cx="47208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1" name="Google Shape;1021;p65"/>
          <p:cNvCxnSpPr>
            <a:stCxn id="1017" idx="2"/>
            <a:endCxn id="1005" idx="0"/>
          </p:cNvCxnSpPr>
          <p:nvPr/>
        </p:nvCxnSpPr>
        <p:spPr>
          <a:xfrm flipH="1">
            <a:off x="1739625" y="2021600"/>
            <a:ext cx="44232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2" name="Google Shape;1022;p65"/>
          <p:cNvCxnSpPr>
            <a:stCxn id="1017" idx="2"/>
            <a:endCxn id="1006" idx="0"/>
          </p:cNvCxnSpPr>
          <p:nvPr/>
        </p:nvCxnSpPr>
        <p:spPr>
          <a:xfrm flipH="1">
            <a:off x="4559025" y="2021600"/>
            <a:ext cx="16038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3" name="Google Shape;1023;p65"/>
          <p:cNvCxnSpPr>
            <a:stCxn id="1017" idx="2"/>
            <a:endCxn id="1007" idx="0"/>
          </p:cNvCxnSpPr>
          <p:nvPr/>
        </p:nvCxnSpPr>
        <p:spPr>
          <a:xfrm>
            <a:off x="6162825" y="2021600"/>
            <a:ext cx="1291800" cy="8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4" name="Google Shape;1024;p65"/>
          <p:cNvSpPr txBox="1"/>
          <p:nvPr/>
        </p:nvSpPr>
        <p:spPr>
          <a:xfrm>
            <a:off x="3654850" y="1952125"/>
            <a:ext cx="16038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Requests</a:t>
            </a:r>
            <a:endParaRPr/>
          </a:p>
        </p:txBody>
      </p:sp>
      <p:grpSp>
        <p:nvGrpSpPr>
          <p:cNvPr id="1025" name="Google Shape;1025;p65"/>
          <p:cNvGrpSpPr/>
          <p:nvPr/>
        </p:nvGrpSpPr>
        <p:grpSpPr>
          <a:xfrm>
            <a:off x="1743225" y="3545600"/>
            <a:ext cx="5715000" cy="233700"/>
            <a:chOff x="1743225" y="3545600"/>
            <a:chExt cx="5715000" cy="233700"/>
          </a:xfrm>
        </p:grpSpPr>
        <p:cxnSp>
          <p:nvCxnSpPr>
            <p:cNvPr id="1026" name="Google Shape;1026;p65"/>
            <p:cNvCxnSpPr>
              <a:stCxn id="1009" idx="2"/>
              <a:endCxn id="1013" idx="0"/>
            </p:cNvCxnSpPr>
            <p:nvPr/>
          </p:nvCxnSpPr>
          <p:spPr>
            <a:xfrm>
              <a:off x="1743225" y="3545600"/>
              <a:ext cx="0" cy="233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27" name="Google Shape;1027;p65"/>
            <p:cNvCxnSpPr>
              <a:stCxn id="1009" idx="2"/>
              <a:endCxn id="1014" idx="0"/>
            </p:cNvCxnSpPr>
            <p:nvPr/>
          </p:nvCxnSpPr>
          <p:spPr>
            <a:xfrm>
              <a:off x="1743225" y="3545600"/>
              <a:ext cx="2819400" cy="233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28" name="Google Shape;1028;p65"/>
            <p:cNvCxnSpPr>
              <a:stCxn id="1009" idx="2"/>
              <a:endCxn id="1015" idx="0"/>
            </p:cNvCxnSpPr>
            <p:nvPr/>
          </p:nvCxnSpPr>
          <p:spPr>
            <a:xfrm>
              <a:off x="1743225" y="3545600"/>
              <a:ext cx="5715000" cy="233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29" name="Google Shape;1029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QuePaxa Log Structure</a:t>
            </a:r>
            <a:endParaRPr/>
          </a:p>
        </p:txBody>
      </p:sp>
      <p:sp>
        <p:nvSpPr>
          <p:cNvPr id="1035" name="Google Shape;1035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6" name="Google Shape;1036;p66"/>
          <p:cNvSpPr/>
          <p:nvPr/>
        </p:nvSpPr>
        <p:spPr>
          <a:xfrm>
            <a:off x="1212750" y="1243750"/>
            <a:ext cx="7303500" cy="74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66"/>
          <p:cNvSpPr txBox="1"/>
          <p:nvPr/>
        </p:nvSpPr>
        <p:spPr>
          <a:xfrm>
            <a:off x="98800" y="1379350"/>
            <a:ext cx="978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Slot 1</a:t>
            </a:r>
            <a:endParaRPr/>
          </a:p>
        </p:txBody>
      </p:sp>
      <p:sp>
        <p:nvSpPr>
          <p:cNvPr id="1038" name="Google Shape;1038;p66"/>
          <p:cNvSpPr/>
          <p:nvPr/>
        </p:nvSpPr>
        <p:spPr>
          <a:xfrm>
            <a:off x="1212750" y="2234350"/>
            <a:ext cx="7303500" cy="74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66"/>
          <p:cNvSpPr txBox="1"/>
          <p:nvPr/>
        </p:nvSpPr>
        <p:spPr>
          <a:xfrm>
            <a:off x="98800" y="2369950"/>
            <a:ext cx="978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Slot 2</a:t>
            </a:r>
            <a:endParaRPr/>
          </a:p>
        </p:txBody>
      </p:sp>
      <p:sp>
        <p:nvSpPr>
          <p:cNvPr id="1040" name="Google Shape;1040;p66"/>
          <p:cNvSpPr/>
          <p:nvPr/>
        </p:nvSpPr>
        <p:spPr>
          <a:xfrm>
            <a:off x="1212750" y="3377350"/>
            <a:ext cx="7303500" cy="74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6"/>
          <p:cNvSpPr txBox="1"/>
          <p:nvPr/>
        </p:nvSpPr>
        <p:spPr>
          <a:xfrm>
            <a:off x="98800" y="3512950"/>
            <a:ext cx="978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Slot 3</a:t>
            </a:r>
            <a:endParaRPr/>
          </a:p>
        </p:txBody>
      </p:sp>
      <p:cxnSp>
        <p:nvCxnSpPr>
          <p:cNvPr id="1042" name="Google Shape;1042;p66"/>
          <p:cNvCxnSpPr/>
          <p:nvPr/>
        </p:nvCxnSpPr>
        <p:spPr>
          <a:xfrm flipH="1">
            <a:off x="4854925" y="4305950"/>
            <a:ext cx="9600" cy="765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43" name="Google Shape;1043;p66"/>
          <p:cNvSpPr/>
          <p:nvPr/>
        </p:nvSpPr>
        <p:spPr>
          <a:xfrm>
            <a:off x="1309600" y="1311550"/>
            <a:ext cx="28671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 1</a:t>
            </a:r>
            <a:endParaRPr/>
          </a:p>
        </p:txBody>
      </p:sp>
      <p:sp>
        <p:nvSpPr>
          <p:cNvPr id="1044" name="Google Shape;1044;p66"/>
          <p:cNvSpPr/>
          <p:nvPr/>
        </p:nvSpPr>
        <p:spPr>
          <a:xfrm>
            <a:off x="4205200" y="1311550"/>
            <a:ext cx="2925900" cy="572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Round 2</a:t>
            </a:r>
            <a:endParaRPr/>
          </a:p>
        </p:txBody>
      </p:sp>
      <p:cxnSp>
        <p:nvCxnSpPr>
          <p:cNvPr id="1045" name="Google Shape;1045;p66"/>
          <p:cNvCxnSpPr/>
          <p:nvPr/>
        </p:nvCxnSpPr>
        <p:spPr>
          <a:xfrm>
            <a:off x="7287450" y="1611550"/>
            <a:ext cx="1152600" cy="5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46" name="Google Shape;1046;p66"/>
          <p:cNvSpPr/>
          <p:nvPr/>
        </p:nvSpPr>
        <p:spPr>
          <a:xfrm>
            <a:off x="1406475" y="1369675"/>
            <a:ext cx="2683200" cy="40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47" name="Google Shape;1047;p66"/>
          <p:cNvCxnSpPr>
            <a:stCxn id="1046" idx="0"/>
          </p:cNvCxnSpPr>
          <p:nvPr/>
        </p:nvCxnSpPr>
        <p:spPr>
          <a:xfrm>
            <a:off x="2748075" y="1369675"/>
            <a:ext cx="0" cy="40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66"/>
          <p:cNvCxnSpPr/>
          <p:nvPr/>
        </p:nvCxnSpPr>
        <p:spPr>
          <a:xfrm>
            <a:off x="1939225" y="1379350"/>
            <a:ext cx="0" cy="39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66"/>
          <p:cNvCxnSpPr/>
          <p:nvPr/>
        </p:nvCxnSpPr>
        <p:spPr>
          <a:xfrm>
            <a:off x="3489050" y="1379350"/>
            <a:ext cx="9600" cy="38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0" name="Google Shape;1050;p66"/>
          <p:cNvSpPr txBox="1"/>
          <p:nvPr/>
        </p:nvSpPr>
        <p:spPr>
          <a:xfrm>
            <a:off x="1482675" y="1351575"/>
            <a:ext cx="416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P1</a:t>
            </a:r>
            <a:endParaRPr/>
          </a:p>
        </p:txBody>
      </p:sp>
      <p:sp>
        <p:nvSpPr>
          <p:cNvPr id="1051" name="Google Shape;1051;p66"/>
          <p:cNvSpPr txBox="1"/>
          <p:nvPr/>
        </p:nvSpPr>
        <p:spPr>
          <a:xfrm>
            <a:off x="2168475" y="1351575"/>
            <a:ext cx="416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P2</a:t>
            </a:r>
            <a:endParaRPr/>
          </a:p>
        </p:txBody>
      </p:sp>
      <p:sp>
        <p:nvSpPr>
          <p:cNvPr id="1052" name="Google Shape;1052;p66"/>
          <p:cNvSpPr txBox="1"/>
          <p:nvPr/>
        </p:nvSpPr>
        <p:spPr>
          <a:xfrm>
            <a:off x="2930475" y="1351575"/>
            <a:ext cx="416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P3</a:t>
            </a:r>
            <a:endParaRPr/>
          </a:p>
        </p:txBody>
      </p:sp>
      <p:sp>
        <p:nvSpPr>
          <p:cNvPr id="1053" name="Google Shape;1053;p66"/>
          <p:cNvSpPr txBox="1"/>
          <p:nvPr/>
        </p:nvSpPr>
        <p:spPr>
          <a:xfrm>
            <a:off x="3616275" y="1351575"/>
            <a:ext cx="4167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QuePaxa Proposer Sequence</a:t>
            </a:r>
            <a:endParaRPr/>
          </a:p>
        </p:txBody>
      </p:sp>
      <p:sp>
        <p:nvSpPr>
          <p:cNvPr id="1059" name="Google Shape;1059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060" name="Google Shape;1060;p67"/>
          <p:cNvCxnSpPr/>
          <p:nvPr/>
        </p:nvCxnSpPr>
        <p:spPr>
          <a:xfrm flipH="1" rot="10800000">
            <a:off x="438875" y="1591000"/>
            <a:ext cx="7903200" cy="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1" name="Google Shape;1061;p67"/>
          <p:cNvCxnSpPr/>
          <p:nvPr/>
        </p:nvCxnSpPr>
        <p:spPr>
          <a:xfrm>
            <a:off x="438875" y="2285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2" name="Google Shape;1062;p67"/>
          <p:cNvCxnSpPr/>
          <p:nvPr/>
        </p:nvCxnSpPr>
        <p:spPr>
          <a:xfrm>
            <a:off x="438875" y="3047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3" name="Google Shape;1063;p67"/>
          <p:cNvCxnSpPr/>
          <p:nvPr/>
        </p:nvCxnSpPr>
        <p:spPr>
          <a:xfrm>
            <a:off x="438875" y="3809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4" name="Google Shape;1064;p67"/>
          <p:cNvSpPr txBox="1"/>
          <p:nvPr/>
        </p:nvSpPr>
        <p:spPr>
          <a:xfrm>
            <a:off x="349525" y="1116075"/>
            <a:ext cx="1856700" cy="31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5" name="Google Shape;1065;p67"/>
          <p:cNvSpPr txBox="1"/>
          <p:nvPr/>
        </p:nvSpPr>
        <p:spPr>
          <a:xfrm>
            <a:off x="349525" y="1954275"/>
            <a:ext cx="1856700" cy="31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 </a:t>
            </a: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6" name="Google Shape;1066;p67"/>
          <p:cNvSpPr txBox="1"/>
          <p:nvPr/>
        </p:nvSpPr>
        <p:spPr>
          <a:xfrm>
            <a:off x="349525" y="2716275"/>
            <a:ext cx="1856700" cy="31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 </a:t>
            </a: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7" name="Google Shape;1067;p67"/>
          <p:cNvSpPr txBox="1"/>
          <p:nvPr/>
        </p:nvSpPr>
        <p:spPr>
          <a:xfrm>
            <a:off x="349525" y="3478275"/>
            <a:ext cx="1856700" cy="31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 </a:t>
            </a: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endParaRPr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8" name="Google Shape;1068;p67"/>
          <p:cNvSpPr txBox="1"/>
          <p:nvPr/>
        </p:nvSpPr>
        <p:spPr>
          <a:xfrm>
            <a:off x="349525" y="1192275"/>
            <a:ext cx="1856700" cy="313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</a:t>
            </a: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9" name="Google Shape;106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01" y="10697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01" y="18317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01" y="33557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01" y="2593765"/>
            <a:ext cx="408600" cy="229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68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20"/>
              <a:t>QuePaxa Protocol Diagram</a:t>
            </a:r>
            <a:endParaRPr sz="2520"/>
          </a:p>
        </p:txBody>
      </p:sp>
      <p:cxnSp>
        <p:nvCxnSpPr>
          <p:cNvPr id="1078" name="Google Shape;1078;p68"/>
          <p:cNvCxnSpPr/>
          <p:nvPr/>
        </p:nvCxnSpPr>
        <p:spPr>
          <a:xfrm>
            <a:off x="1313625" y="2123025"/>
            <a:ext cx="7766100" cy="2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9" name="Google Shape;1079;p68"/>
          <p:cNvCxnSpPr/>
          <p:nvPr/>
        </p:nvCxnSpPr>
        <p:spPr>
          <a:xfrm flipH="1" rot="10800000">
            <a:off x="1335500" y="2748225"/>
            <a:ext cx="7744800" cy="21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0" name="Google Shape;1080;p68"/>
          <p:cNvCxnSpPr/>
          <p:nvPr/>
        </p:nvCxnSpPr>
        <p:spPr>
          <a:xfrm flipH="1" rot="10800000">
            <a:off x="1313625" y="3289875"/>
            <a:ext cx="7766100" cy="15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1" name="Google Shape;1081;p68"/>
          <p:cNvCxnSpPr/>
          <p:nvPr/>
        </p:nvCxnSpPr>
        <p:spPr>
          <a:xfrm flipH="1" rot="10800000">
            <a:off x="1313625" y="3823275"/>
            <a:ext cx="7690200" cy="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2" name="Google Shape;1082;p68"/>
          <p:cNvCxnSpPr/>
          <p:nvPr/>
        </p:nvCxnSpPr>
        <p:spPr>
          <a:xfrm flipH="1" rot="10800000">
            <a:off x="1346450" y="4432975"/>
            <a:ext cx="7733400" cy="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3" name="Google Shape;1083;p68"/>
          <p:cNvSpPr txBox="1"/>
          <p:nvPr/>
        </p:nvSpPr>
        <p:spPr>
          <a:xfrm>
            <a:off x="199075" y="19360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 1</a:t>
            </a:r>
            <a:endParaRPr sz="15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4" name="Google Shape;1084;p68"/>
          <p:cNvSpPr txBox="1"/>
          <p:nvPr/>
        </p:nvSpPr>
        <p:spPr>
          <a:xfrm>
            <a:off x="199075" y="42220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 2</a:t>
            </a:r>
            <a:endParaRPr sz="15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5" name="Google Shape;1085;p68"/>
          <p:cNvSpPr txBox="1"/>
          <p:nvPr/>
        </p:nvSpPr>
        <p:spPr>
          <a:xfrm>
            <a:off x="199075" y="25456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Recorder 1</a:t>
            </a:r>
            <a:endParaRPr sz="15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6" name="Google Shape;1086;p68"/>
          <p:cNvSpPr txBox="1"/>
          <p:nvPr/>
        </p:nvSpPr>
        <p:spPr>
          <a:xfrm>
            <a:off x="199075" y="30790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Recorder 2</a:t>
            </a:r>
            <a:endParaRPr sz="15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7" name="Google Shape;1087;p68"/>
          <p:cNvSpPr txBox="1"/>
          <p:nvPr/>
        </p:nvSpPr>
        <p:spPr>
          <a:xfrm>
            <a:off x="199075" y="36124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Recorder 3</a:t>
            </a:r>
            <a:endParaRPr sz="15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88" name="Google Shape;1088;p68"/>
          <p:cNvCxnSpPr/>
          <p:nvPr/>
        </p:nvCxnSpPr>
        <p:spPr>
          <a:xfrm>
            <a:off x="1555350" y="2116100"/>
            <a:ext cx="568800" cy="6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9" name="Google Shape;1089;p68"/>
          <p:cNvCxnSpPr/>
          <p:nvPr/>
        </p:nvCxnSpPr>
        <p:spPr>
          <a:xfrm>
            <a:off x="1566300" y="2116100"/>
            <a:ext cx="570000" cy="118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0" name="Google Shape;1090;p68"/>
          <p:cNvCxnSpPr/>
          <p:nvPr/>
        </p:nvCxnSpPr>
        <p:spPr>
          <a:xfrm>
            <a:off x="1566300" y="2116100"/>
            <a:ext cx="540900" cy="16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1" name="Google Shape;1091;p68"/>
          <p:cNvSpPr/>
          <p:nvPr/>
        </p:nvSpPr>
        <p:spPr>
          <a:xfrm>
            <a:off x="1401125" y="1667650"/>
            <a:ext cx="2318700" cy="186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68"/>
          <p:cNvSpPr txBox="1"/>
          <p:nvPr/>
        </p:nvSpPr>
        <p:spPr>
          <a:xfrm>
            <a:off x="1652325" y="1414625"/>
            <a:ext cx="18594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Phase 0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93" name="Google Shape;1093;p68"/>
          <p:cNvCxnSpPr/>
          <p:nvPr/>
        </p:nvCxnSpPr>
        <p:spPr>
          <a:xfrm flipH="1" rot="10800000">
            <a:off x="2134925" y="2153925"/>
            <a:ext cx="409800" cy="111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4" name="Google Shape;1094;p68"/>
          <p:cNvCxnSpPr/>
          <p:nvPr/>
        </p:nvCxnSpPr>
        <p:spPr>
          <a:xfrm flipH="1" rot="10800000">
            <a:off x="2107075" y="2170800"/>
            <a:ext cx="618600" cy="60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5" name="Google Shape;1095;p68"/>
          <p:cNvCxnSpPr/>
          <p:nvPr/>
        </p:nvCxnSpPr>
        <p:spPr>
          <a:xfrm flipH="1" rot="10800000">
            <a:off x="2136300" y="2170650"/>
            <a:ext cx="578700" cy="162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6" name="Google Shape;1096;p68"/>
          <p:cNvSpPr txBox="1"/>
          <p:nvPr/>
        </p:nvSpPr>
        <p:spPr>
          <a:xfrm>
            <a:off x="1622075" y="1755525"/>
            <a:ext cx="2220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Learn Majority Proposals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97" name="Google Shape;1097;p68"/>
          <p:cNvCxnSpPr/>
          <p:nvPr/>
        </p:nvCxnSpPr>
        <p:spPr>
          <a:xfrm>
            <a:off x="4049175" y="2116100"/>
            <a:ext cx="382800" cy="6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8" name="Google Shape;1098;p68"/>
          <p:cNvCxnSpPr/>
          <p:nvPr/>
        </p:nvCxnSpPr>
        <p:spPr>
          <a:xfrm>
            <a:off x="4071050" y="2148925"/>
            <a:ext cx="382800" cy="115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9" name="Google Shape;1099;p68"/>
          <p:cNvCxnSpPr/>
          <p:nvPr/>
        </p:nvCxnSpPr>
        <p:spPr>
          <a:xfrm>
            <a:off x="4071050" y="2148925"/>
            <a:ext cx="404700" cy="16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0" name="Google Shape;1100;p68"/>
          <p:cNvCxnSpPr/>
          <p:nvPr/>
        </p:nvCxnSpPr>
        <p:spPr>
          <a:xfrm flipH="1" rot="10800000">
            <a:off x="4421050" y="2149050"/>
            <a:ext cx="207900" cy="5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1" name="Google Shape;1101;p68"/>
          <p:cNvCxnSpPr/>
          <p:nvPr/>
        </p:nvCxnSpPr>
        <p:spPr>
          <a:xfrm flipH="1" rot="10800000">
            <a:off x="4442925" y="2181850"/>
            <a:ext cx="186000" cy="11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2" name="Google Shape;1102;p68"/>
          <p:cNvCxnSpPr/>
          <p:nvPr/>
        </p:nvCxnSpPr>
        <p:spPr>
          <a:xfrm flipH="1" rot="10800000">
            <a:off x="4486675" y="2192650"/>
            <a:ext cx="142200" cy="16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3" name="Google Shape;1103;p68"/>
          <p:cNvCxnSpPr/>
          <p:nvPr/>
        </p:nvCxnSpPr>
        <p:spPr>
          <a:xfrm>
            <a:off x="5573175" y="2116100"/>
            <a:ext cx="382800" cy="6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4" name="Google Shape;1104;p68"/>
          <p:cNvCxnSpPr/>
          <p:nvPr/>
        </p:nvCxnSpPr>
        <p:spPr>
          <a:xfrm>
            <a:off x="5595050" y="2148925"/>
            <a:ext cx="382800" cy="115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5" name="Google Shape;1105;p68"/>
          <p:cNvCxnSpPr/>
          <p:nvPr/>
        </p:nvCxnSpPr>
        <p:spPr>
          <a:xfrm>
            <a:off x="5595050" y="2148925"/>
            <a:ext cx="404700" cy="16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6" name="Google Shape;1106;p68"/>
          <p:cNvCxnSpPr/>
          <p:nvPr/>
        </p:nvCxnSpPr>
        <p:spPr>
          <a:xfrm flipH="1" rot="10800000">
            <a:off x="5945050" y="2149050"/>
            <a:ext cx="207900" cy="5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7" name="Google Shape;1107;p68"/>
          <p:cNvCxnSpPr/>
          <p:nvPr/>
        </p:nvCxnSpPr>
        <p:spPr>
          <a:xfrm flipH="1" rot="10800000">
            <a:off x="5966925" y="2181850"/>
            <a:ext cx="186000" cy="11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8" name="Google Shape;1108;p68"/>
          <p:cNvCxnSpPr/>
          <p:nvPr/>
        </p:nvCxnSpPr>
        <p:spPr>
          <a:xfrm flipH="1" rot="10800000">
            <a:off x="6010675" y="2192650"/>
            <a:ext cx="142200" cy="16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9" name="Google Shape;1109;p68"/>
          <p:cNvCxnSpPr/>
          <p:nvPr/>
        </p:nvCxnSpPr>
        <p:spPr>
          <a:xfrm>
            <a:off x="7097175" y="2116100"/>
            <a:ext cx="382800" cy="6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0" name="Google Shape;1110;p68"/>
          <p:cNvCxnSpPr/>
          <p:nvPr/>
        </p:nvCxnSpPr>
        <p:spPr>
          <a:xfrm>
            <a:off x="7119050" y="2148925"/>
            <a:ext cx="382800" cy="115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1" name="Google Shape;1111;p68"/>
          <p:cNvCxnSpPr/>
          <p:nvPr/>
        </p:nvCxnSpPr>
        <p:spPr>
          <a:xfrm>
            <a:off x="7119050" y="2148925"/>
            <a:ext cx="404700" cy="16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2" name="Google Shape;1112;p68"/>
          <p:cNvCxnSpPr/>
          <p:nvPr/>
        </p:nvCxnSpPr>
        <p:spPr>
          <a:xfrm flipH="1" rot="10800000">
            <a:off x="7469050" y="2149050"/>
            <a:ext cx="207900" cy="5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3" name="Google Shape;1113;p68"/>
          <p:cNvCxnSpPr/>
          <p:nvPr/>
        </p:nvCxnSpPr>
        <p:spPr>
          <a:xfrm flipH="1" rot="10800000">
            <a:off x="7490925" y="2181850"/>
            <a:ext cx="186000" cy="11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4" name="Google Shape;1114;p68"/>
          <p:cNvCxnSpPr/>
          <p:nvPr/>
        </p:nvCxnSpPr>
        <p:spPr>
          <a:xfrm flipH="1" rot="10800000">
            <a:off x="7534675" y="2192650"/>
            <a:ext cx="142200" cy="16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5" name="Google Shape;1115;p68"/>
          <p:cNvSpPr/>
          <p:nvPr/>
        </p:nvSpPr>
        <p:spPr>
          <a:xfrm>
            <a:off x="3842375" y="1667650"/>
            <a:ext cx="4603800" cy="186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68"/>
          <p:cNvSpPr txBox="1"/>
          <p:nvPr/>
        </p:nvSpPr>
        <p:spPr>
          <a:xfrm>
            <a:off x="5157525" y="1414625"/>
            <a:ext cx="22203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Phase 1-3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7" name="Google Shape;1117;p68"/>
          <p:cNvSpPr txBox="1"/>
          <p:nvPr/>
        </p:nvSpPr>
        <p:spPr>
          <a:xfrm>
            <a:off x="5355875" y="1755525"/>
            <a:ext cx="2220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Information Propagation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8" name="Google Shape;1118;p68"/>
          <p:cNvPicPr preferRelativeResize="0"/>
          <p:nvPr/>
        </p:nvPicPr>
        <p:blipFill rotWithShape="1">
          <a:blip r:embed="rId3">
            <a:alphaModFix/>
          </a:blip>
          <a:srcRect b="59476" l="75260" r="21764" t="35564"/>
          <a:stretch/>
        </p:blipFill>
        <p:spPr>
          <a:xfrm>
            <a:off x="4224550" y="3155225"/>
            <a:ext cx="240600" cy="2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68"/>
          <p:cNvPicPr preferRelativeResize="0"/>
          <p:nvPr/>
        </p:nvPicPr>
        <p:blipFill rotWithShape="1">
          <a:blip r:embed="rId3">
            <a:alphaModFix/>
          </a:blip>
          <a:srcRect b="59476" l="75260" r="21764" t="35564"/>
          <a:stretch/>
        </p:blipFill>
        <p:spPr>
          <a:xfrm>
            <a:off x="5748550" y="3155225"/>
            <a:ext cx="240600" cy="2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68"/>
          <p:cNvPicPr preferRelativeResize="0"/>
          <p:nvPr/>
        </p:nvPicPr>
        <p:blipFill rotWithShape="1">
          <a:blip r:embed="rId3">
            <a:alphaModFix/>
          </a:blip>
          <a:srcRect b="59476" l="75260" r="21764" t="35564"/>
          <a:stretch/>
        </p:blipFill>
        <p:spPr>
          <a:xfrm>
            <a:off x="7272550" y="3155225"/>
            <a:ext cx="240600" cy="284399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2" name="Google Shape;11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2521" y="1217127"/>
            <a:ext cx="568800" cy="528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69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/>
              <a:t>QuePaxa Synchronous Execution</a:t>
            </a:r>
            <a:endParaRPr sz="2620"/>
          </a:p>
        </p:txBody>
      </p:sp>
      <p:cxnSp>
        <p:nvCxnSpPr>
          <p:cNvPr id="1128" name="Google Shape;1128;p69"/>
          <p:cNvCxnSpPr/>
          <p:nvPr/>
        </p:nvCxnSpPr>
        <p:spPr>
          <a:xfrm>
            <a:off x="1313625" y="2046825"/>
            <a:ext cx="7766100" cy="2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9" name="Google Shape;1129;p69"/>
          <p:cNvCxnSpPr/>
          <p:nvPr/>
        </p:nvCxnSpPr>
        <p:spPr>
          <a:xfrm flipH="1" rot="10800000">
            <a:off x="1335500" y="2672025"/>
            <a:ext cx="7744800" cy="21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0" name="Google Shape;1130;p69"/>
          <p:cNvCxnSpPr/>
          <p:nvPr/>
        </p:nvCxnSpPr>
        <p:spPr>
          <a:xfrm flipH="1" rot="10800000">
            <a:off x="1313625" y="3213675"/>
            <a:ext cx="7766100" cy="15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1" name="Google Shape;1131;p69"/>
          <p:cNvCxnSpPr/>
          <p:nvPr/>
        </p:nvCxnSpPr>
        <p:spPr>
          <a:xfrm flipH="1" rot="10800000">
            <a:off x="1313625" y="3747075"/>
            <a:ext cx="7690200" cy="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69"/>
          <p:cNvCxnSpPr/>
          <p:nvPr/>
        </p:nvCxnSpPr>
        <p:spPr>
          <a:xfrm flipH="1" rot="10800000">
            <a:off x="1346450" y="4356775"/>
            <a:ext cx="7733400" cy="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3" name="Google Shape;1133;p69"/>
          <p:cNvSpPr txBox="1"/>
          <p:nvPr/>
        </p:nvSpPr>
        <p:spPr>
          <a:xfrm>
            <a:off x="199075" y="18598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 1</a:t>
            </a:r>
            <a:endParaRPr sz="15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4" name="Google Shape;1134;p69"/>
          <p:cNvSpPr txBox="1"/>
          <p:nvPr/>
        </p:nvSpPr>
        <p:spPr>
          <a:xfrm>
            <a:off x="199075" y="41458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 2</a:t>
            </a:r>
            <a:endParaRPr sz="15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5" name="Google Shape;1135;p69"/>
          <p:cNvSpPr txBox="1"/>
          <p:nvPr/>
        </p:nvSpPr>
        <p:spPr>
          <a:xfrm>
            <a:off x="199075" y="24694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Recorder 1</a:t>
            </a:r>
            <a:endParaRPr sz="15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6" name="Google Shape;1136;p69"/>
          <p:cNvSpPr txBox="1"/>
          <p:nvPr/>
        </p:nvSpPr>
        <p:spPr>
          <a:xfrm>
            <a:off x="199075" y="30028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Recorder 2</a:t>
            </a:r>
            <a:endParaRPr sz="15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7" name="Google Shape;1137;p69"/>
          <p:cNvSpPr txBox="1"/>
          <p:nvPr/>
        </p:nvSpPr>
        <p:spPr>
          <a:xfrm>
            <a:off x="199075" y="35362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Recorder 3</a:t>
            </a:r>
            <a:endParaRPr sz="15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38" name="Google Shape;1138;p69"/>
          <p:cNvCxnSpPr/>
          <p:nvPr/>
        </p:nvCxnSpPr>
        <p:spPr>
          <a:xfrm>
            <a:off x="1555350" y="2039900"/>
            <a:ext cx="568800" cy="6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9" name="Google Shape;1139;p69"/>
          <p:cNvCxnSpPr/>
          <p:nvPr/>
        </p:nvCxnSpPr>
        <p:spPr>
          <a:xfrm>
            <a:off x="1566300" y="2039900"/>
            <a:ext cx="570000" cy="118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0" name="Google Shape;1140;p69"/>
          <p:cNvCxnSpPr/>
          <p:nvPr/>
        </p:nvCxnSpPr>
        <p:spPr>
          <a:xfrm>
            <a:off x="1566300" y="2039900"/>
            <a:ext cx="540900" cy="16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1" name="Google Shape;1141;p69"/>
          <p:cNvSpPr/>
          <p:nvPr/>
        </p:nvSpPr>
        <p:spPr>
          <a:xfrm>
            <a:off x="1401125" y="1591450"/>
            <a:ext cx="2318700" cy="186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69"/>
          <p:cNvSpPr txBox="1"/>
          <p:nvPr/>
        </p:nvSpPr>
        <p:spPr>
          <a:xfrm>
            <a:off x="1652325" y="1338425"/>
            <a:ext cx="18594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Phase 0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43" name="Google Shape;1143;p69"/>
          <p:cNvCxnSpPr>
            <a:endCxn id="1144" idx="2"/>
          </p:cNvCxnSpPr>
          <p:nvPr/>
        </p:nvCxnSpPr>
        <p:spPr>
          <a:xfrm flipH="1" rot="10800000">
            <a:off x="2134925" y="1963725"/>
            <a:ext cx="597300" cy="12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5" name="Google Shape;1145;p69"/>
          <p:cNvCxnSpPr>
            <a:endCxn id="1144" idx="2"/>
          </p:cNvCxnSpPr>
          <p:nvPr/>
        </p:nvCxnSpPr>
        <p:spPr>
          <a:xfrm flipH="1" rot="10800000">
            <a:off x="2107025" y="1963725"/>
            <a:ext cx="625200" cy="73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6" name="Google Shape;1146;p69"/>
          <p:cNvCxnSpPr>
            <a:endCxn id="1144" idx="2"/>
          </p:cNvCxnSpPr>
          <p:nvPr/>
        </p:nvCxnSpPr>
        <p:spPr>
          <a:xfrm flipH="1" rot="10800000">
            <a:off x="2136425" y="1963725"/>
            <a:ext cx="595800" cy="17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4" name="Google Shape;1144;p69"/>
          <p:cNvSpPr txBox="1"/>
          <p:nvPr/>
        </p:nvSpPr>
        <p:spPr>
          <a:xfrm>
            <a:off x="1622075" y="1679325"/>
            <a:ext cx="2220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Learn Majority Proposals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7" name="Google Shape;1147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48" name="Google Shape;114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2521" y="1140927"/>
            <a:ext cx="568800" cy="528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69"/>
          <p:cNvSpPr/>
          <p:nvPr/>
        </p:nvSpPr>
        <p:spPr>
          <a:xfrm>
            <a:off x="2375625" y="592100"/>
            <a:ext cx="1280400" cy="16281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69"/>
          <p:cNvSpPr txBox="1"/>
          <p:nvPr/>
        </p:nvSpPr>
        <p:spPr>
          <a:xfrm>
            <a:off x="2437100" y="568350"/>
            <a:ext cx="17682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Fast Path Decision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7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/>
              <a:t>QuePaxa Asynchronous Execution</a:t>
            </a:r>
            <a:endParaRPr sz="2620"/>
          </a:p>
        </p:txBody>
      </p:sp>
      <p:cxnSp>
        <p:nvCxnSpPr>
          <p:cNvPr id="1156" name="Google Shape;1156;p70"/>
          <p:cNvCxnSpPr/>
          <p:nvPr/>
        </p:nvCxnSpPr>
        <p:spPr>
          <a:xfrm>
            <a:off x="1313625" y="2046825"/>
            <a:ext cx="7766100" cy="2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7" name="Google Shape;1157;p70"/>
          <p:cNvCxnSpPr/>
          <p:nvPr/>
        </p:nvCxnSpPr>
        <p:spPr>
          <a:xfrm flipH="1" rot="10800000">
            <a:off x="1335500" y="2672025"/>
            <a:ext cx="7744800" cy="21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8" name="Google Shape;1158;p70"/>
          <p:cNvCxnSpPr/>
          <p:nvPr/>
        </p:nvCxnSpPr>
        <p:spPr>
          <a:xfrm flipH="1" rot="10800000">
            <a:off x="1313625" y="3213675"/>
            <a:ext cx="7766100" cy="15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9" name="Google Shape;1159;p70"/>
          <p:cNvCxnSpPr/>
          <p:nvPr/>
        </p:nvCxnSpPr>
        <p:spPr>
          <a:xfrm flipH="1" rot="10800000">
            <a:off x="1313625" y="3747075"/>
            <a:ext cx="7690200" cy="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0" name="Google Shape;1160;p70"/>
          <p:cNvCxnSpPr/>
          <p:nvPr/>
        </p:nvCxnSpPr>
        <p:spPr>
          <a:xfrm flipH="1" rot="10800000">
            <a:off x="1346450" y="4356775"/>
            <a:ext cx="7733400" cy="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1" name="Google Shape;1161;p70"/>
          <p:cNvSpPr txBox="1"/>
          <p:nvPr/>
        </p:nvSpPr>
        <p:spPr>
          <a:xfrm>
            <a:off x="199075" y="18598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 1</a:t>
            </a:r>
            <a:endParaRPr sz="15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2" name="Google Shape;1162;p70"/>
          <p:cNvSpPr txBox="1"/>
          <p:nvPr/>
        </p:nvSpPr>
        <p:spPr>
          <a:xfrm>
            <a:off x="199075" y="41458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 2</a:t>
            </a:r>
            <a:endParaRPr sz="15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3" name="Google Shape;1163;p70"/>
          <p:cNvSpPr txBox="1"/>
          <p:nvPr/>
        </p:nvSpPr>
        <p:spPr>
          <a:xfrm>
            <a:off x="199075" y="24694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Recorder 1</a:t>
            </a:r>
            <a:endParaRPr sz="15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4" name="Google Shape;1164;p70"/>
          <p:cNvSpPr txBox="1"/>
          <p:nvPr/>
        </p:nvSpPr>
        <p:spPr>
          <a:xfrm>
            <a:off x="199075" y="30028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Recorder 2</a:t>
            </a:r>
            <a:endParaRPr sz="15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5" name="Google Shape;1165;p70"/>
          <p:cNvSpPr txBox="1"/>
          <p:nvPr/>
        </p:nvSpPr>
        <p:spPr>
          <a:xfrm>
            <a:off x="199075" y="3536200"/>
            <a:ext cx="1104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Recorder 3</a:t>
            </a:r>
            <a:endParaRPr sz="15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66" name="Google Shape;1166;p70"/>
          <p:cNvCxnSpPr/>
          <p:nvPr/>
        </p:nvCxnSpPr>
        <p:spPr>
          <a:xfrm>
            <a:off x="1555350" y="2039900"/>
            <a:ext cx="568800" cy="6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7" name="Google Shape;1167;p70"/>
          <p:cNvCxnSpPr/>
          <p:nvPr/>
        </p:nvCxnSpPr>
        <p:spPr>
          <a:xfrm>
            <a:off x="1566300" y="2039900"/>
            <a:ext cx="570000" cy="118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8" name="Google Shape;1168;p70"/>
          <p:cNvCxnSpPr/>
          <p:nvPr/>
        </p:nvCxnSpPr>
        <p:spPr>
          <a:xfrm>
            <a:off x="1566300" y="2039900"/>
            <a:ext cx="540900" cy="16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9" name="Google Shape;1169;p70"/>
          <p:cNvSpPr/>
          <p:nvPr/>
        </p:nvSpPr>
        <p:spPr>
          <a:xfrm>
            <a:off x="1401125" y="1591450"/>
            <a:ext cx="2318700" cy="186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70"/>
          <p:cNvSpPr txBox="1"/>
          <p:nvPr/>
        </p:nvSpPr>
        <p:spPr>
          <a:xfrm>
            <a:off x="1652325" y="1338425"/>
            <a:ext cx="18594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Phase 0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71" name="Google Shape;1171;p70"/>
          <p:cNvCxnSpPr>
            <a:endCxn id="1172" idx="2"/>
          </p:cNvCxnSpPr>
          <p:nvPr/>
        </p:nvCxnSpPr>
        <p:spPr>
          <a:xfrm flipH="1" rot="10800000">
            <a:off x="2134925" y="1963725"/>
            <a:ext cx="597300" cy="12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3" name="Google Shape;1173;p70"/>
          <p:cNvCxnSpPr>
            <a:endCxn id="1172" idx="2"/>
          </p:cNvCxnSpPr>
          <p:nvPr/>
        </p:nvCxnSpPr>
        <p:spPr>
          <a:xfrm flipH="1" rot="10800000">
            <a:off x="2107025" y="1963725"/>
            <a:ext cx="625200" cy="73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4" name="Google Shape;1174;p70"/>
          <p:cNvCxnSpPr>
            <a:endCxn id="1172" idx="2"/>
          </p:cNvCxnSpPr>
          <p:nvPr/>
        </p:nvCxnSpPr>
        <p:spPr>
          <a:xfrm flipH="1" rot="10800000">
            <a:off x="2136425" y="1963725"/>
            <a:ext cx="595800" cy="17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2" name="Google Shape;1172;p70"/>
          <p:cNvSpPr txBox="1"/>
          <p:nvPr/>
        </p:nvSpPr>
        <p:spPr>
          <a:xfrm>
            <a:off x="1622075" y="1679325"/>
            <a:ext cx="2220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Learn Majority Proposals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75" name="Google Shape;1175;p70"/>
          <p:cNvCxnSpPr/>
          <p:nvPr/>
        </p:nvCxnSpPr>
        <p:spPr>
          <a:xfrm>
            <a:off x="4049175" y="2039900"/>
            <a:ext cx="382800" cy="6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6" name="Google Shape;1176;p70"/>
          <p:cNvCxnSpPr/>
          <p:nvPr/>
        </p:nvCxnSpPr>
        <p:spPr>
          <a:xfrm>
            <a:off x="4071050" y="2072725"/>
            <a:ext cx="382800" cy="115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7" name="Google Shape;1177;p70"/>
          <p:cNvCxnSpPr/>
          <p:nvPr/>
        </p:nvCxnSpPr>
        <p:spPr>
          <a:xfrm>
            <a:off x="4071050" y="2072725"/>
            <a:ext cx="404700" cy="16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8" name="Google Shape;1178;p70"/>
          <p:cNvCxnSpPr/>
          <p:nvPr/>
        </p:nvCxnSpPr>
        <p:spPr>
          <a:xfrm flipH="1" rot="10800000">
            <a:off x="4421050" y="2072850"/>
            <a:ext cx="207900" cy="5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9" name="Google Shape;1179;p70"/>
          <p:cNvCxnSpPr/>
          <p:nvPr/>
        </p:nvCxnSpPr>
        <p:spPr>
          <a:xfrm flipH="1" rot="10800000">
            <a:off x="4442925" y="2105650"/>
            <a:ext cx="186000" cy="11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0" name="Google Shape;1180;p70"/>
          <p:cNvCxnSpPr/>
          <p:nvPr/>
        </p:nvCxnSpPr>
        <p:spPr>
          <a:xfrm flipH="1" rot="10800000">
            <a:off x="4486675" y="2116450"/>
            <a:ext cx="142200" cy="16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1" name="Google Shape;1181;p70"/>
          <p:cNvCxnSpPr/>
          <p:nvPr/>
        </p:nvCxnSpPr>
        <p:spPr>
          <a:xfrm flipH="1" rot="10800000">
            <a:off x="4092925" y="3735325"/>
            <a:ext cx="218700" cy="6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2" name="Google Shape;1182;p70"/>
          <p:cNvCxnSpPr/>
          <p:nvPr/>
        </p:nvCxnSpPr>
        <p:spPr>
          <a:xfrm flipH="1" rot="10800000">
            <a:off x="4092925" y="3264925"/>
            <a:ext cx="186000" cy="109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3" name="Google Shape;1183;p70"/>
          <p:cNvCxnSpPr/>
          <p:nvPr/>
        </p:nvCxnSpPr>
        <p:spPr>
          <a:xfrm flipH="1" rot="10800000">
            <a:off x="4081975" y="2696125"/>
            <a:ext cx="87600" cy="16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4" name="Google Shape;1184;p70"/>
          <p:cNvCxnSpPr/>
          <p:nvPr/>
        </p:nvCxnSpPr>
        <p:spPr>
          <a:xfrm>
            <a:off x="4300750" y="3757125"/>
            <a:ext cx="207900" cy="57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5" name="Google Shape;1185;p70"/>
          <p:cNvCxnSpPr/>
          <p:nvPr/>
        </p:nvCxnSpPr>
        <p:spPr>
          <a:xfrm>
            <a:off x="4289800" y="3286800"/>
            <a:ext cx="240600" cy="107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6" name="Google Shape;1186;p70"/>
          <p:cNvCxnSpPr/>
          <p:nvPr/>
        </p:nvCxnSpPr>
        <p:spPr>
          <a:xfrm>
            <a:off x="4180425" y="2696175"/>
            <a:ext cx="328200" cy="160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7" name="Google Shape;1187;p70"/>
          <p:cNvCxnSpPr/>
          <p:nvPr/>
        </p:nvCxnSpPr>
        <p:spPr>
          <a:xfrm>
            <a:off x="5573175" y="2039900"/>
            <a:ext cx="382800" cy="6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8" name="Google Shape;1188;p70"/>
          <p:cNvCxnSpPr/>
          <p:nvPr/>
        </p:nvCxnSpPr>
        <p:spPr>
          <a:xfrm>
            <a:off x="5595050" y="2072725"/>
            <a:ext cx="382800" cy="115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9" name="Google Shape;1189;p70"/>
          <p:cNvCxnSpPr/>
          <p:nvPr/>
        </p:nvCxnSpPr>
        <p:spPr>
          <a:xfrm>
            <a:off x="5595050" y="2072725"/>
            <a:ext cx="404700" cy="16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0" name="Google Shape;1190;p70"/>
          <p:cNvCxnSpPr/>
          <p:nvPr/>
        </p:nvCxnSpPr>
        <p:spPr>
          <a:xfrm flipH="1" rot="10800000">
            <a:off x="5945050" y="2072850"/>
            <a:ext cx="207900" cy="5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1" name="Google Shape;1191;p70"/>
          <p:cNvCxnSpPr/>
          <p:nvPr/>
        </p:nvCxnSpPr>
        <p:spPr>
          <a:xfrm flipH="1" rot="10800000">
            <a:off x="5966925" y="2105650"/>
            <a:ext cx="186000" cy="11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2" name="Google Shape;1192;p70"/>
          <p:cNvCxnSpPr/>
          <p:nvPr/>
        </p:nvCxnSpPr>
        <p:spPr>
          <a:xfrm flipH="1" rot="10800000">
            <a:off x="6010675" y="2116450"/>
            <a:ext cx="142200" cy="16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3" name="Google Shape;1193;p70"/>
          <p:cNvCxnSpPr/>
          <p:nvPr/>
        </p:nvCxnSpPr>
        <p:spPr>
          <a:xfrm flipH="1" rot="10800000">
            <a:off x="5616925" y="3735325"/>
            <a:ext cx="218700" cy="6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4" name="Google Shape;1194;p70"/>
          <p:cNvCxnSpPr/>
          <p:nvPr/>
        </p:nvCxnSpPr>
        <p:spPr>
          <a:xfrm flipH="1" rot="10800000">
            <a:off x="5616925" y="3264925"/>
            <a:ext cx="186000" cy="109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5" name="Google Shape;1195;p70"/>
          <p:cNvCxnSpPr/>
          <p:nvPr/>
        </p:nvCxnSpPr>
        <p:spPr>
          <a:xfrm flipH="1" rot="10800000">
            <a:off x="5605975" y="2696125"/>
            <a:ext cx="87600" cy="16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6" name="Google Shape;1196;p70"/>
          <p:cNvCxnSpPr/>
          <p:nvPr/>
        </p:nvCxnSpPr>
        <p:spPr>
          <a:xfrm>
            <a:off x="5824750" y="3757125"/>
            <a:ext cx="207900" cy="57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7" name="Google Shape;1197;p70"/>
          <p:cNvCxnSpPr/>
          <p:nvPr/>
        </p:nvCxnSpPr>
        <p:spPr>
          <a:xfrm>
            <a:off x="5813800" y="3286800"/>
            <a:ext cx="240600" cy="107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8" name="Google Shape;1198;p70"/>
          <p:cNvCxnSpPr/>
          <p:nvPr/>
        </p:nvCxnSpPr>
        <p:spPr>
          <a:xfrm>
            <a:off x="5704425" y="2696175"/>
            <a:ext cx="328200" cy="160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9" name="Google Shape;1199;p70"/>
          <p:cNvCxnSpPr/>
          <p:nvPr/>
        </p:nvCxnSpPr>
        <p:spPr>
          <a:xfrm>
            <a:off x="7097175" y="2039900"/>
            <a:ext cx="382800" cy="6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0" name="Google Shape;1200;p70"/>
          <p:cNvCxnSpPr/>
          <p:nvPr/>
        </p:nvCxnSpPr>
        <p:spPr>
          <a:xfrm>
            <a:off x="7119050" y="2072725"/>
            <a:ext cx="382800" cy="115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1" name="Google Shape;1201;p70"/>
          <p:cNvCxnSpPr/>
          <p:nvPr/>
        </p:nvCxnSpPr>
        <p:spPr>
          <a:xfrm>
            <a:off x="7119050" y="2072725"/>
            <a:ext cx="404700" cy="169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2" name="Google Shape;1202;p70"/>
          <p:cNvCxnSpPr/>
          <p:nvPr/>
        </p:nvCxnSpPr>
        <p:spPr>
          <a:xfrm flipH="1" rot="10800000">
            <a:off x="7469050" y="2072850"/>
            <a:ext cx="207900" cy="5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3" name="Google Shape;1203;p70"/>
          <p:cNvCxnSpPr/>
          <p:nvPr/>
        </p:nvCxnSpPr>
        <p:spPr>
          <a:xfrm flipH="1" rot="10800000">
            <a:off x="7490925" y="2105650"/>
            <a:ext cx="186000" cy="11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4" name="Google Shape;1204;p70"/>
          <p:cNvCxnSpPr/>
          <p:nvPr/>
        </p:nvCxnSpPr>
        <p:spPr>
          <a:xfrm flipH="1" rot="10800000">
            <a:off x="7534675" y="2116450"/>
            <a:ext cx="142200" cy="16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5" name="Google Shape;1205;p70"/>
          <p:cNvCxnSpPr/>
          <p:nvPr/>
        </p:nvCxnSpPr>
        <p:spPr>
          <a:xfrm flipH="1" rot="10800000">
            <a:off x="7140925" y="3735325"/>
            <a:ext cx="218700" cy="6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6" name="Google Shape;1206;p70"/>
          <p:cNvCxnSpPr/>
          <p:nvPr/>
        </p:nvCxnSpPr>
        <p:spPr>
          <a:xfrm flipH="1" rot="10800000">
            <a:off x="7140925" y="3264925"/>
            <a:ext cx="186000" cy="109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7" name="Google Shape;1207;p70"/>
          <p:cNvCxnSpPr/>
          <p:nvPr/>
        </p:nvCxnSpPr>
        <p:spPr>
          <a:xfrm flipH="1" rot="10800000">
            <a:off x="7129975" y="2696125"/>
            <a:ext cx="87600" cy="16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8" name="Google Shape;1208;p70"/>
          <p:cNvCxnSpPr/>
          <p:nvPr/>
        </p:nvCxnSpPr>
        <p:spPr>
          <a:xfrm>
            <a:off x="7348750" y="3757125"/>
            <a:ext cx="207900" cy="57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9" name="Google Shape;1209;p70"/>
          <p:cNvCxnSpPr/>
          <p:nvPr/>
        </p:nvCxnSpPr>
        <p:spPr>
          <a:xfrm>
            <a:off x="7337800" y="3286800"/>
            <a:ext cx="240600" cy="107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0" name="Google Shape;1210;p70"/>
          <p:cNvCxnSpPr/>
          <p:nvPr/>
        </p:nvCxnSpPr>
        <p:spPr>
          <a:xfrm>
            <a:off x="7228425" y="2696175"/>
            <a:ext cx="328200" cy="160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1" name="Google Shape;1211;p70"/>
          <p:cNvSpPr/>
          <p:nvPr/>
        </p:nvSpPr>
        <p:spPr>
          <a:xfrm>
            <a:off x="3842375" y="1591450"/>
            <a:ext cx="4603800" cy="1866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70"/>
          <p:cNvSpPr txBox="1"/>
          <p:nvPr/>
        </p:nvSpPr>
        <p:spPr>
          <a:xfrm>
            <a:off x="5157525" y="1338425"/>
            <a:ext cx="22203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Phase 1-3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3" name="Google Shape;1213;p70"/>
          <p:cNvSpPr txBox="1"/>
          <p:nvPr/>
        </p:nvSpPr>
        <p:spPr>
          <a:xfrm>
            <a:off x="5355875" y="1679325"/>
            <a:ext cx="2220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Information Propagation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4" name="Google Shape;1214;p70"/>
          <p:cNvPicPr preferRelativeResize="0"/>
          <p:nvPr/>
        </p:nvPicPr>
        <p:blipFill rotWithShape="1">
          <a:blip r:embed="rId3">
            <a:alphaModFix/>
          </a:blip>
          <a:srcRect b="59476" l="75260" r="21764" t="35564"/>
          <a:stretch/>
        </p:blipFill>
        <p:spPr>
          <a:xfrm>
            <a:off x="4224550" y="3079025"/>
            <a:ext cx="240600" cy="2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70"/>
          <p:cNvPicPr preferRelativeResize="0"/>
          <p:nvPr/>
        </p:nvPicPr>
        <p:blipFill rotWithShape="1">
          <a:blip r:embed="rId3">
            <a:alphaModFix/>
          </a:blip>
          <a:srcRect b="59476" l="75260" r="21764" t="35564"/>
          <a:stretch/>
        </p:blipFill>
        <p:spPr>
          <a:xfrm>
            <a:off x="5748550" y="3079025"/>
            <a:ext cx="240600" cy="2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70"/>
          <p:cNvPicPr preferRelativeResize="0"/>
          <p:nvPr/>
        </p:nvPicPr>
        <p:blipFill rotWithShape="1">
          <a:blip r:embed="rId3">
            <a:alphaModFix/>
          </a:blip>
          <a:srcRect b="59476" l="75260" r="21764" t="35564"/>
          <a:stretch/>
        </p:blipFill>
        <p:spPr>
          <a:xfrm>
            <a:off x="7272550" y="3079025"/>
            <a:ext cx="240600" cy="284399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18" name="Google Shape;121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2521" y="1140927"/>
            <a:ext cx="568800" cy="528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70"/>
          <p:cNvSpPr/>
          <p:nvPr/>
        </p:nvSpPr>
        <p:spPr>
          <a:xfrm>
            <a:off x="5652225" y="592100"/>
            <a:ext cx="1280400" cy="1628100"/>
          </a:xfrm>
          <a:prstGeom prst="rect">
            <a:avLst/>
          </a:prstGeom>
          <a:noFill/>
          <a:ln cap="flat" cmpd="sng" w="38100">
            <a:solidFill>
              <a:srgbClr val="2222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70"/>
          <p:cNvSpPr txBox="1"/>
          <p:nvPr/>
        </p:nvSpPr>
        <p:spPr>
          <a:xfrm>
            <a:off x="5789900" y="568350"/>
            <a:ext cx="17682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Slow Path Decision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21" name="Google Shape;1221;p70"/>
          <p:cNvGrpSpPr/>
          <p:nvPr/>
        </p:nvGrpSpPr>
        <p:grpSpPr>
          <a:xfrm>
            <a:off x="1948375" y="2696125"/>
            <a:ext cx="448425" cy="1662600"/>
            <a:chOff x="1948375" y="2696125"/>
            <a:chExt cx="448425" cy="1662600"/>
          </a:xfrm>
        </p:grpSpPr>
        <p:cxnSp>
          <p:nvCxnSpPr>
            <p:cNvPr id="1222" name="Google Shape;1222;p70"/>
            <p:cNvCxnSpPr/>
            <p:nvPr/>
          </p:nvCxnSpPr>
          <p:spPr>
            <a:xfrm flipH="1" rot="10800000">
              <a:off x="1959325" y="3735325"/>
              <a:ext cx="218700" cy="62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23" name="Google Shape;1223;p70"/>
            <p:cNvCxnSpPr/>
            <p:nvPr/>
          </p:nvCxnSpPr>
          <p:spPr>
            <a:xfrm flipH="1" rot="10800000">
              <a:off x="1959325" y="3264925"/>
              <a:ext cx="186000" cy="109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24" name="Google Shape;1224;p70"/>
            <p:cNvCxnSpPr/>
            <p:nvPr/>
          </p:nvCxnSpPr>
          <p:spPr>
            <a:xfrm flipH="1" rot="10800000">
              <a:off x="1948375" y="2696125"/>
              <a:ext cx="87600" cy="1662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25" name="Google Shape;1225;p70"/>
            <p:cNvCxnSpPr/>
            <p:nvPr/>
          </p:nvCxnSpPr>
          <p:spPr>
            <a:xfrm>
              <a:off x="2167150" y="3757125"/>
              <a:ext cx="207900" cy="57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26" name="Google Shape;1226;p70"/>
            <p:cNvCxnSpPr/>
            <p:nvPr/>
          </p:nvCxnSpPr>
          <p:spPr>
            <a:xfrm>
              <a:off x="2156200" y="3286800"/>
              <a:ext cx="240600" cy="107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27" name="Google Shape;1227;p70"/>
            <p:cNvCxnSpPr/>
            <p:nvPr/>
          </p:nvCxnSpPr>
          <p:spPr>
            <a:xfrm>
              <a:off x="2046825" y="2696175"/>
              <a:ext cx="328200" cy="160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Hedging in QuePaxa</a:t>
            </a:r>
            <a:endParaRPr/>
          </a:p>
        </p:txBody>
      </p:sp>
      <p:cxnSp>
        <p:nvCxnSpPr>
          <p:cNvPr id="1233" name="Google Shape;1233;p71"/>
          <p:cNvCxnSpPr/>
          <p:nvPr/>
        </p:nvCxnSpPr>
        <p:spPr>
          <a:xfrm flipH="1" rot="10800000">
            <a:off x="438875" y="1514800"/>
            <a:ext cx="7903200" cy="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4" name="Google Shape;1234;p71"/>
          <p:cNvCxnSpPr/>
          <p:nvPr/>
        </p:nvCxnSpPr>
        <p:spPr>
          <a:xfrm>
            <a:off x="438875" y="2285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5" name="Google Shape;1235;p71"/>
          <p:cNvCxnSpPr/>
          <p:nvPr/>
        </p:nvCxnSpPr>
        <p:spPr>
          <a:xfrm>
            <a:off x="438875" y="3047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6" name="Google Shape;1236;p71"/>
          <p:cNvCxnSpPr/>
          <p:nvPr/>
        </p:nvCxnSpPr>
        <p:spPr>
          <a:xfrm>
            <a:off x="438875" y="3809200"/>
            <a:ext cx="7903800" cy="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7" name="Google Shape;1237;p71"/>
          <p:cNvSpPr txBox="1"/>
          <p:nvPr/>
        </p:nvSpPr>
        <p:spPr>
          <a:xfrm>
            <a:off x="349525" y="11160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8" name="Google Shape;1238;p71"/>
          <p:cNvSpPr txBox="1"/>
          <p:nvPr/>
        </p:nvSpPr>
        <p:spPr>
          <a:xfrm>
            <a:off x="349525" y="1954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</a:t>
            </a: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</a:t>
            </a:r>
            <a:endParaRPr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9" name="Google Shape;1239;p71"/>
          <p:cNvSpPr txBox="1"/>
          <p:nvPr/>
        </p:nvSpPr>
        <p:spPr>
          <a:xfrm>
            <a:off x="349525" y="2716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</a:t>
            </a: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endParaRPr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0" name="Google Shape;1240;p71"/>
          <p:cNvSpPr txBox="1"/>
          <p:nvPr/>
        </p:nvSpPr>
        <p:spPr>
          <a:xfrm>
            <a:off x="349525" y="3478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</a:t>
            </a: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endParaRPr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1" name="Google Shape;1241;p71"/>
          <p:cNvSpPr txBox="1"/>
          <p:nvPr/>
        </p:nvSpPr>
        <p:spPr>
          <a:xfrm>
            <a:off x="349525" y="1192275"/>
            <a:ext cx="185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Proposer</a:t>
            </a:r>
            <a:r>
              <a:rPr lang="en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2" name="Google Shape;1242;p71"/>
          <p:cNvSpPr txBox="1"/>
          <p:nvPr/>
        </p:nvSpPr>
        <p:spPr>
          <a:xfrm>
            <a:off x="1489975" y="1494975"/>
            <a:ext cx="129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 with</a:t>
            </a:r>
            <a:br>
              <a:rPr lang="en"/>
            </a:br>
            <a:r>
              <a:rPr lang="en"/>
              <a:t>0×</a:t>
            </a:r>
            <a:r>
              <a:rPr lang="en">
                <a:solidFill>
                  <a:schemeClr val="dk1"/>
                </a:solidFill>
              </a:rPr>
              <a:t>Δ</a:t>
            </a:r>
            <a:r>
              <a:rPr lang="en"/>
              <a:t> delay</a:t>
            </a:r>
            <a:endParaRPr/>
          </a:p>
        </p:txBody>
      </p:sp>
      <p:grpSp>
        <p:nvGrpSpPr>
          <p:cNvPr id="1243" name="Google Shape;1243;p71"/>
          <p:cNvGrpSpPr/>
          <p:nvPr/>
        </p:nvGrpSpPr>
        <p:grpSpPr>
          <a:xfrm>
            <a:off x="2714350" y="1311250"/>
            <a:ext cx="512700" cy="415500"/>
            <a:chOff x="2714350" y="1311250"/>
            <a:chExt cx="512700" cy="415500"/>
          </a:xfrm>
        </p:grpSpPr>
        <p:cxnSp>
          <p:nvCxnSpPr>
            <p:cNvPr id="1244" name="Google Shape;1244;p71"/>
            <p:cNvCxnSpPr/>
            <p:nvPr/>
          </p:nvCxnSpPr>
          <p:spPr>
            <a:xfrm flipH="1" rot="10800000">
              <a:off x="2714350" y="1311250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5" name="Google Shape;1245;p71"/>
            <p:cNvCxnSpPr/>
            <p:nvPr/>
          </p:nvCxnSpPr>
          <p:spPr>
            <a:xfrm flipH="1" rot="10800000">
              <a:off x="2866750" y="1311250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6" name="Google Shape;1246;p71"/>
            <p:cNvCxnSpPr/>
            <p:nvPr/>
          </p:nvCxnSpPr>
          <p:spPr>
            <a:xfrm flipH="1" rot="10800000">
              <a:off x="3019150" y="1311250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47" name="Google Shape;1247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8" name="Google Shape;124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01" y="10697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01" y="18317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01" y="33557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1" name="Google Shape;125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401" y="2593765"/>
            <a:ext cx="408600" cy="229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7525" y="1265200"/>
            <a:ext cx="441600" cy="441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3" name="Google Shape;1253;p71"/>
          <p:cNvGrpSpPr/>
          <p:nvPr/>
        </p:nvGrpSpPr>
        <p:grpSpPr>
          <a:xfrm>
            <a:off x="4711425" y="1232975"/>
            <a:ext cx="665100" cy="1253700"/>
            <a:chOff x="4711425" y="1232975"/>
            <a:chExt cx="665100" cy="1253700"/>
          </a:xfrm>
        </p:grpSpPr>
        <p:cxnSp>
          <p:nvCxnSpPr>
            <p:cNvPr id="1254" name="Google Shape;1254;p71"/>
            <p:cNvCxnSpPr/>
            <p:nvPr/>
          </p:nvCxnSpPr>
          <p:spPr>
            <a:xfrm flipH="1" rot="10800000">
              <a:off x="4863825" y="1232975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5" name="Google Shape;1255;p71"/>
            <p:cNvCxnSpPr/>
            <p:nvPr/>
          </p:nvCxnSpPr>
          <p:spPr>
            <a:xfrm flipH="1" rot="10800000">
              <a:off x="5016225" y="1232975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6" name="Google Shape;1256;p71"/>
            <p:cNvCxnSpPr/>
            <p:nvPr/>
          </p:nvCxnSpPr>
          <p:spPr>
            <a:xfrm flipH="1" rot="10800000">
              <a:off x="5168625" y="1232975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7" name="Google Shape;1257;p71"/>
            <p:cNvCxnSpPr/>
            <p:nvPr/>
          </p:nvCxnSpPr>
          <p:spPr>
            <a:xfrm flipH="1" rot="10800000">
              <a:off x="4711425" y="2071175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8" name="Google Shape;1258;p71"/>
            <p:cNvCxnSpPr/>
            <p:nvPr/>
          </p:nvCxnSpPr>
          <p:spPr>
            <a:xfrm flipH="1" rot="10800000">
              <a:off x="4863825" y="2071175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9" name="Google Shape;1259;p71"/>
            <p:cNvCxnSpPr/>
            <p:nvPr/>
          </p:nvCxnSpPr>
          <p:spPr>
            <a:xfrm flipH="1" rot="10800000">
              <a:off x="5016225" y="2071175"/>
              <a:ext cx="207900" cy="415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60" name="Google Shape;1260;p71"/>
          <p:cNvGrpSpPr/>
          <p:nvPr/>
        </p:nvGrpSpPr>
        <p:grpSpPr>
          <a:xfrm>
            <a:off x="3171075" y="2102250"/>
            <a:ext cx="1630625" cy="748125"/>
            <a:chOff x="3171075" y="2102250"/>
            <a:chExt cx="1630625" cy="748125"/>
          </a:xfrm>
        </p:grpSpPr>
        <p:pic>
          <p:nvPicPr>
            <p:cNvPr id="1261" name="Google Shape;1261;p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171075" y="2102250"/>
              <a:ext cx="441600" cy="44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71"/>
            <p:cNvSpPr txBox="1"/>
            <p:nvPr/>
          </p:nvSpPr>
          <p:spPr>
            <a:xfrm>
              <a:off x="3508400" y="2277675"/>
              <a:ext cx="1293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Propose with</a:t>
              </a:r>
              <a:br>
                <a:rPr lang="en"/>
              </a:br>
              <a:r>
                <a:rPr lang="en"/>
                <a:t>1</a:t>
              </a:r>
              <a:r>
                <a:rPr lang="en">
                  <a:solidFill>
                    <a:schemeClr val="dk1"/>
                  </a:solidFill>
                </a:rPr>
                <a:t>×</a:t>
              </a:r>
              <a:r>
                <a:rPr lang="en"/>
                <a:t>Δ delay</a:t>
              </a:r>
              <a:endParaRPr/>
            </a:p>
          </p:txBody>
        </p:sp>
      </p:grpSp>
      <p:grpSp>
        <p:nvGrpSpPr>
          <p:cNvPr id="1263" name="Google Shape;1263;p71"/>
          <p:cNvGrpSpPr/>
          <p:nvPr/>
        </p:nvGrpSpPr>
        <p:grpSpPr>
          <a:xfrm>
            <a:off x="5065025" y="2813075"/>
            <a:ext cx="1532725" cy="816725"/>
            <a:chOff x="5065025" y="2813075"/>
            <a:chExt cx="1532725" cy="816725"/>
          </a:xfrm>
        </p:grpSpPr>
        <p:pic>
          <p:nvPicPr>
            <p:cNvPr id="1264" name="Google Shape;1264;p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65025" y="2813075"/>
              <a:ext cx="441600" cy="44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5" name="Google Shape;1265;p71"/>
            <p:cNvSpPr txBox="1"/>
            <p:nvPr/>
          </p:nvSpPr>
          <p:spPr>
            <a:xfrm>
              <a:off x="5304450" y="3057100"/>
              <a:ext cx="1293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Propose with</a:t>
              </a:r>
              <a:br>
                <a:rPr lang="en"/>
              </a:br>
              <a:r>
                <a:rPr lang="en"/>
                <a:t>2</a:t>
              </a:r>
              <a:r>
                <a:rPr lang="en">
                  <a:solidFill>
                    <a:schemeClr val="dk1"/>
                  </a:solidFill>
                </a:rPr>
                <a:t>×</a:t>
              </a:r>
              <a:r>
                <a:rPr lang="en"/>
                <a:t>Δ delay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pic>
        <p:nvPicPr>
          <p:cNvPr id="1271" name="Google Shape;1271;p72"/>
          <p:cNvPicPr preferRelativeResize="0"/>
          <p:nvPr/>
        </p:nvPicPr>
        <p:blipFill rotWithShape="1">
          <a:blip r:embed="rId3">
            <a:alphaModFix/>
          </a:blip>
          <a:srcRect b="17478" l="3725" r="0" t="0"/>
          <a:stretch/>
        </p:blipFill>
        <p:spPr>
          <a:xfrm>
            <a:off x="858925" y="1220550"/>
            <a:ext cx="7184950" cy="315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3675" y="3673426"/>
            <a:ext cx="485775" cy="53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" name="Google Shape;1273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9425" y="2407676"/>
            <a:ext cx="485775" cy="53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4200" y="1590376"/>
            <a:ext cx="485775" cy="53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7400" y="2123776"/>
            <a:ext cx="485775" cy="53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03650" y="2528851"/>
            <a:ext cx="485775" cy="53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73"/>
          <p:cNvSpPr txBox="1"/>
          <p:nvPr>
            <p:ph type="title"/>
          </p:nvPr>
        </p:nvSpPr>
        <p:spPr>
          <a:xfrm>
            <a:off x="1593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of Hedging in Quepaxa</a:t>
            </a:r>
            <a:endParaRPr/>
          </a:p>
        </p:txBody>
      </p:sp>
      <p:sp>
        <p:nvSpPr>
          <p:cNvPr id="1283" name="Google Shape;1283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4" name="Google Shape;1284;p73"/>
          <p:cNvSpPr/>
          <p:nvPr/>
        </p:nvSpPr>
        <p:spPr>
          <a:xfrm>
            <a:off x="2620250" y="4413425"/>
            <a:ext cx="4747500" cy="26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Liveness of QuePaxa does not depend on the timeout</a:t>
            </a:r>
            <a:endParaRPr sz="1500"/>
          </a:p>
        </p:txBody>
      </p:sp>
      <p:pic>
        <p:nvPicPr>
          <p:cNvPr id="1285" name="Google Shape;1285;p73"/>
          <p:cNvPicPr preferRelativeResize="0"/>
          <p:nvPr/>
        </p:nvPicPr>
        <p:blipFill rotWithShape="1">
          <a:blip r:embed="rId3">
            <a:alphaModFix/>
          </a:blip>
          <a:srcRect b="37526" l="28760" r="15950" t="34729"/>
          <a:stretch/>
        </p:blipFill>
        <p:spPr>
          <a:xfrm>
            <a:off x="2424575" y="572750"/>
            <a:ext cx="6255326" cy="157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73"/>
          <p:cNvPicPr preferRelativeResize="0"/>
          <p:nvPr/>
        </p:nvPicPr>
        <p:blipFill rotWithShape="1">
          <a:blip r:embed="rId3">
            <a:alphaModFix/>
          </a:blip>
          <a:srcRect b="1081" l="37896" r="15943" t="90609"/>
          <a:stretch/>
        </p:blipFill>
        <p:spPr>
          <a:xfrm>
            <a:off x="3465928" y="2210634"/>
            <a:ext cx="5213971" cy="47074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73"/>
          <p:cNvSpPr txBox="1"/>
          <p:nvPr/>
        </p:nvSpPr>
        <p:spPr>
          <a:xfrm>
            <a:off x="884700" y="1012025"/>
            <a:ext cx="112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Throughput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74"/>
          <p:cNvSpPr txBox="1"/>
          <p:nvPr>
            <p:ph type="title"/>
          </p:nvPr>
        </p:nvSpPr>
        <p:spPr>
          <a:xfrm>
            <a:off x="1593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Effect of Hedging in Quepaxa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3" name="Google Shape;1293;p74"/>
          <p:cNvPicPr preferRelativeResize="0"/>
          <p:nvPr/>
        </p:nvPicPr>
        <p:blipFill rotWithShape="1">
          <a:blip r:embed="rId3">
            <a:alphaModFix/>
          </a:blip>
          <a:srcRect b="37526" l="28760" r="15950" t="34729"/>
          <a:stretch/>
        </p:blipFill>
        <p:spPr>
          <a:xfrm>
            <a:off x="2424575" y="572750"/>
            <a:ext cx="6255326" cy="157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4" name="Google Shape;1294;p74"/>
          <p:cNvPicPr preferRelativeResize="0"/>
          <p:nvPr/>
        </p:nvPicPr>
        <p:blipFill rotWithShape="1">
          <a:blip r:embed="rId4">
            <a:alphaModFix/>
          </a:blip>
          <a:srcRect b="65951" l="29640" r="16031" t="7141"/>
          <a:stretch/>
        </p:blipFill>
        <p:spPr>
          <a:xfrm>
            <a:off x="2541175" y="2184725"/>
            <a:ext cx="6138725" cy="152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5" name="Google Shape;1295;p74"/>
          <p:cNvPicPr preferRelativeResize="0"/>
          <p:nvPr/>
        </p:nvPicPr>
        <p:blipFill rotWithShape="1">
          <a:blip r:embed="rId3">
            <a:alphaModFix/>
          </a:blip>
          <a:srcRect b="1081" l="37896" r="15943" t="90609"/>
          <a:stretch/>
        </p:blipFill>
        <p:spPr>
          <a:xfrm>
            <a:off x="3465928" y="3734634"/>
            <a:ext cx="5213971" cy="470740"/>
          </a:xfrm>
          <a:prstGeom prst="rect">
            <a:avLst/>
          </a:prstGeom>
          <a:noFill/>
          <a:ln>
            <a:noFill/>
          </a:ln>
        </p:spPr>
      </p:pic>
      <p:sp>
        <p:nvSpPr>
          <p:cNvPr id="1296" name="Google Shape;1296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7" name="Google Shape;1297;p74"/>
          <p:cNvSpPr txBox="1"/>
          <p:nvPr/>
        </p:nvSpPr>
        <p:spPr>
          <a:xfrm>
            <a:off x="884700" y="1012025"/>
            <a:ext cx="1123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Throughput</a:t>
            </a:r>
            <a:endParaRPr/>
          </a:p>
        </p:txBody>
      </p:sp>
      <p:sp>
        <p:nvSpPr>
          <p:cNvPr id="1298" name="Google Shape;1298;p74"/>
          <p:cNvSpPr txBox="1"/>
          <p:nvPr/>
        </p:nvSpPr>
        <p:spPr>
          <a:xfrm>
            <a:off x="771475" y="2688425"/>
            <a:ext cx="1769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Recovery Time</a:t>
            </a:r>
            <a:endParaRPr/>
          </a:p>
        </p:txBody>
      </p:sp>
      <p:sp>
        <p:nvSpPr>
          <p:cNvPr id="1299" name="Google Shape;1299;p74"/>
          <p:cNvSpPr/>
          <p:nvPr/>
        </p:nvSpPr>
        <p:spPr>
          <a:xfrm>
            <a:off x="3552475" y="4718225"/>
            <a:ext cx="2903100" cy="26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QuePaxa has low recovery time</a:t>
            </a:r>
            <a:endParaRPr sz="15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under adversarial networks</a:t>
            </a:r>
            <a:endParaRPr/>
          </a:p>
        </p:txBody>
      </p:sp>
      <p:pic>
        <p:nvPicPr>
          <p:cNvPr id="1305" name="Google Shape;1305;p75"/>
          <p:cNvPicPr preferRelativeResize="0"/>
          <p:nvPr/>
        </p:nvPicPr>
        <p:blipFill rotWithShape="1">
          <a:blip r:embed="rId3">
            <a:alphaModFix/>
          </a:blip>
          <a:srcRect b="23701" l="22739" r="11005" t="26072"/>
          <a:stretch/>
        </p:blipFill>
        <p:spPr>
          <a:xfrm>
            <a:off x="704000" y="1328725"/>
            <a:ext cx="7447598" cy="317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7" name="Google Shape;1307;p75"/>
          <p:cNvSpPr/>
          <p:nvPr/>
        </p:nvSpPr>
        <p:spPr>
          <a:xfrm>
            <a:off x="1342675" y="4565825"/>
            <a:ext cx="6973200" cy="26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QuePaxa is resilient to </a:t>
            </a:r>
            <a:r>
              <a:rPr lang="en" sz="1500"/>
              <a:t>adversarial</a:t>
            </a:r>
            <a:r>
              <a:rPr lang="en" sz="1500"/>
              <a:t> attacks and asynchronous network </a:t>
            </a:r>
            <a:r>
              <a:rPr lang="en" sz="1500"/>
              <a:t>conditions</a:t>
            </a:r>
            <a:endParaRPr sz="15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QuePaxa Summary</a:t>
            </a:r>
            <a:endParaRPr/>
          </a:p>
        </p:txBody>
      </p:sp>
      <p:sp>
        <p:nvSpPr>
          <p:cNvPr id="1313" name="Google Shape;1313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4" name="Google Shape;1314;p76"/>
          <p:cNvSpPr/>
          <p:nvPr/>
        </p:nvSpPr>
        <p:spPr>
          <a:xfrm>
            <a:off x="1344325" y="1962150"/>
            <a:ext cx="2698800" cy="142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Optimal Performance under synchrony and asynchrony</a:t>
            </a:r>
            <a:endParaRPr sz="2000"/>
          </a:p>
        </p:txBody>
      </p:sp>
      <p:sp>
        <p:nvSpPr>
          <p:cNvPr id="1315" name="Google Shape;1315;p76"/>
          <p:cNvSpPr/>
          <p:nvPr/>
        </p:nvSpPr>
        <p:spPr>
          <a:xfrm>
            <a:off x="5006850" y="1990350"/>
            <a:ext cx="2742600" cy="152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Enables Hedging</a:t>
            </a:r>
            <a:endParaRPr sz="20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77"/>
          <p:cNvSpPr txBox="1"/>
          <p:nvPr>
            <p:ph type="title"/>
          </p:nvPr>
        </p:nvSpPr>
        <p:spPr>
          <a:xfrm>
            <a:off x="1454700" y="2045225"/>
            <a:ext cx="613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Mahi-Mahi - Low latency DAG based BFT</a:t>
            </a:r>
            <a:endParaRPr/>
          </a:p>
        </p:txBody>
      </p:sp>
      <p:sp>
        <p:nvSpPr>
          <p:cNvPr id="1321" name="Google Shape;1321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2" name="Google Shape;1322;p77"/>
          <p:cNvSpPr txBox="1"/>
          <p:nvPr/>
        </p:nvSpPr>
        <p:spPr>
          <a:xfrm>
            <a:off x="1387850" y="2675975"/>
            <a:ext cx="6806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2"/>
                </a:solidFill>
              </a:rPr>
              <a:t>Pasindu Tennage, </a:t>
            </a:r>
            <a:r>
              <a:rPr lang="en" sz="1000">
                <a:solidFill>
                  <a:schemeClr val="dk2"/>
                </a:solidFill>
              </a:rPr>
              <a:t>Philipp Jovanovic, Lefteris Kokoris Kogias, Bryan Kumara, Alberto Sonnino , Igor Zablotchi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BFT Consensus</a:t>
            </a:r>
            <a:endParaRPr/>
          </a:p>
        </p:txBody>
      </p:sp>
      <p:pic>
        <p:nvPicPr>
          <p:cNvPr id="1328" name="Google Shape;1328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1810" y="1960856"/>
            <a:ext cx="540328" cy="807878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78"/>
          <p:cNvSpPr txBox="1"/>
          <p:nvPr/>
        </p:nvSpPr>
        <p:spPr>
          <a:xfrm>
            <a:off x="884616" y="3040990"/>
            <a:ext cx="1031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78"/>
          <p:cNvSpPr txBox="1"/>
          <p:nvPr/>
        </p:nvSpPr>
        <p:spPr>
          <a:xfrm>
            <a:off x="4165047" y="3040990"/>
            <a:ext cx="1031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78"/>
          <p:cNvSpPr txBox="1"/>
          <p:nvPr/>
        </p:nvSpPr>
        <p:spPr>
          <a:xfrm>
            <a:off x="7445479" y="3040990"/>
            <a:ext cx="10311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78"/>
          <p:cNvSpPr/>
          <p:nvPr/>
        </p:nvSpPr>
        <p:spPr>
          <a:xfrm>
            <a:off x="371800" y="1112275"/>
            <a:ext cx="8520552" cy="3905496"/>
          </a:xfrm>
          <a:prstGeom prst="cloud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3" name="Google Shape;1333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2124" y="1266500"/>
            <a:ext cx="1304450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4" name="Google Shape;1334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54819" y="2869200"/>
            <a:ext cx="1304450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5" name="Google Shape;1335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1350" y="1738250"/>
            <a:ext cx="1304450" cy="1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78"/>
          <p:cNvSpPr txBox="1"/>
          <p:nvPr/>
        </p:nvSpPr>
        <p:spPr>
          <a:xfrm>
            <a:off x="2145275" y="2571000"/>
            <a:ext cx="7266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78"/>
          <p:cNvSpPr txBox="1"/>
          <p:nvPr/>
        </p:nvSpPr>
        <p:spPr>
          <a:xfrm>
            <a:off x="4507475" y="3637800"/>
            <a:ext cx="7266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78"/>
          <p:cNvSpPr txBox="1"/>
          <p:nvPr/>
        </p:nvSpPr>
        <p:spPr>
          <a:xfrm>
            <a:off x="7479275" y="2190000"/>
            <a:ext cx="7266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9" name="Google Shape;1339;p78"/>
          <p:cNvSpPr/>
          <p:nvPr/>
        </p:nvSpPr>
        <p:spPr>
          <a:xfrm>
            <a:off x="1463500" y="34875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C1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0" name="Google Shape;1340;p78"/>
          <p:cNvSpPr/>
          <p:nvPr/>
        </p:nvSpPr>
        <p:spPr>
          <a:xfrm>
            <a:off x="1844500" y="34875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C2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1" name="Google Shape;1341;p78"/>
          <p:cNvSpPr/>
          <p:nvPr/>
        </p:nvSpPr>
        <p:spPr>
          <a:xfrm>
            <a:off x="2225500" y="34875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C3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2" name="Google Shape;1342;p78"/>
          <p:cNvSpPr/>
          <p:nvPr/>
        </p:nvSpPr>
        <p:spPr>
          <a:xfrm>
            <a:off x="2606500" y="34875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C4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3" name="Google Shape;1343;p78"/>
          <p:cNvSpPr/>
          <p:nvPr/>
        </p:nvSpPr>
        <p:spPr>
          <a:xfrm>
            <a:off x="2987500" y="34875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C5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4" name="Google Shape;1344;p78"/>
          <p:cNvSpPr/>
          <p:nvPr/>
        </p:nvSpPr>
        <p:spPr>
          <a:xfrm>
            <a:off x="3825700" y="4554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C1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5" name="Google Shape;1345;p78"/>
          <p:cNvSpPr/>
          <p:nvPr/>
        </p:nvSpPr>
        <p:spPr>
          <a:xfrm>
            <a:off x="4206700" y="4554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C2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6" name="Google Shape;1346;p78"/>
          <p:cNvSpPr/>
          <p:nvPr/>
        </p:nvSpPr>
        <p:spPr>
          <a:xfrm>
            <a:off x="4587700" y="4554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C3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7" name="Google Shape;1347;p78"/>
          <p:cNvSpPr/>
          <p:nvPr/>
        </p:nvSpPr>
        <p:spPr>
          <a:xfrm>
            <a:off x="4968700" y="4554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C4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8" name="Google Shape;1348;p78"/>
          <p:cNvSpPr/>
          <p:nvPr/>
        </p:nvSpPr>
        <p:spPr>
          <a:xfrm>
            <a:off x="5349700" y="4554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C5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9" name="Google Shape;1349;p78"/>
          <p:cNvSpPr/>
          <p:nvPr/>
        </p:nvSpPr>
        <p:spPr>
          <a:xfrm>
            <a:off x="6797500" y="29541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C1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0" name="Google Shape;1350;p78"/>
          <p:cNvSpPr/>
          <p:nvPr/>
        </p:nvSpPr>
        <p:spPr>
          <a:xfrm>
            <a:off x="7178500" y="29541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C2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1" name="Google Shape;1351;p78"/>
          <p:cNvSpPr/>
          <p:nvPr/>
        </p:nvSpPr>
        <p:spPr>
          <a:xfrm>
            <a:off x="7559500" y="29541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C3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2" name="Google Shape;1352;p78"/>
          <p:cNvSpPr/>
          <p:nvPr/>
        </p:nvSpPr>
        <p:spPr>
          <a:xfrm>
            <a:off x="7940500" y="29541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C4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3" name="Google Shape;1353;p78"/>
          <p:cNvSpPr/>
          <p:nvPr/>
        </p:nvSpPr>
        <p:spPr>
          <a:xfrm>
            <a:off x="8321500" y="29541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C5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4" name="Google Shape;1354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5" name="Google Shape;1355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7350" y="900050"/>
            <a:ext cx="1304450" cy="1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78"/>
          <p:cNvSpPr txBox="1"/>
          <p:nvPr/>
        </p:nvSpPr>
        <p:spPr>
          <a:xfrm>
            <a:off x="4431275" y="1809000"/>
            <a:ext cx="7266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78"/>
          <p:cNvSpPr/>
          <p:nvPr/>
        </p:nvSpPr>
        <p:spPr>
          <a:xfrm>
            <a:off x="3901900" y="2649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C1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8" name="Google Shape;1358;p78"/>
          <p:cNvSpPr/>
          <p:nvPr/>
        </p:nvSpPr>
        <p:spPr>
          <a:xfrm>
            <a:off x="4282900" y="2649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C2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9" name="Google Shape;1359;p78"/>
          <p:cNvSpPr/>
          <p:nvPr/>
        </p:nvSpPr>
        <p:spPr>
          <a:xfrm>
            <a:off x="4663900" y="2649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C3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0" name="Google Shape;1360;p78"/>
          <p:cNvSpPr/>
          <p:nvPr/>
        </p:nvSpPr>
        <p:spPr>
          <a:xfrm>
            <a:off x="5044900" y="2649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C4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1" name="Google Shape;1361;p78"/>
          <p:cNvSpPr/>
          <p:nvPr/>
        </p:nvSpPr>
        <p:spPr>
          <a:xfrm>
            <a:off x="5425900" y="2649375"/>
            <a:ext cx="378000" cy="19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C5</a:t>
            </a:r>
            <a:endParaRPr b="0" i="0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2" name="Google Shape;1362;p78"/>
          <p:cNvPicPr preferRelativeResize="0"/>
          <p:nvPr/>
        </p:nvPicPr>
        <p:blipFill rotWithShape="1">
          <a:blip r:embed="rId5">
            <a:alphaModFix/>
          </a:blip>
          <a:srcRect b="0" l="10877" r="10869" t="0"/>
          <a:stretch/>
        </p:blipFill>
        <p:spPr>
          <a:xfrm>
            <a:off x="7272175" y="666824"/>
            <a:ext cx="1620173" cy="2070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Mahi Mahi outline</a:t>
            </a:r>
            <a:endParaRPr/>
          </a:p>
        </p:txBody>
      </p:sp>
      <p:sp>
        <p:nvSpPr>
          <p:cNvPr id="1368" name="Google Shape;1368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Distributed Acyclic Graph (DAG) overview.</a:t>
            </a:r>
            <a:br>
              <a:rPr lang="en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Limitations of DAG protocols.</a:t>
            </a:r>
            <a:br>
              <a:rPr lang="en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Mahi-Mahi design.</a:t>
            </a:r>
            <a:br>
              <a:rPr lang="en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Evaluation.</a:t>
            </a:r>
            <a:endParaRPr sz="2100"/>
          </a:p>
        </p:txBody>
      </p:sp>
      <p:sp>
        <p:nvSpPr>
          <p:cNvPr id="1369" name="Google Shape;1369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DAGs?</a:t>
            </a:r>
            <a:endParaRPr/>
          </a:p>
        </p:txBody>
      </p:sp>
      <p:sp>
        <p:nvSpPr>
          <p:cNvPr id="1375" name="Google Shape;1375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6" name="Google Shape;1376;p80"/>
          <p:cNvSpPr/>
          <p:nvPr/>
        </p:nvSpPr>
        <p:spPr>
          <a:xfrm>
            <a:off x="1268125" y="1962150"/>
            <a:ext cx="2698800" cy="142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Single message type </a:t>
            </a:r>
            <a:endParaRPr sz="2000"/>
          </a:p>
        </p:txBody>
      </p:sp>
      <p:sp>
        <p:nvSpPr>
          <p:cNvPr id="1377" name="Google Shape;1377;p80"/>
          <p:cNvSpPr/>
          <p:nvPr/>
        </p:nvSpPr>
        <p:spPr>
          <a:xfrm>
            <a:off x="5310625" y="1962150"/>
            <a:ext cx="2237700" cy="142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Load balancing</a:t>
            </a:r>
            <a:endParaRPr sz="20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83" name="Google Shape;1383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50" y="1738250"/>
            <a:ext cx="1304450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4" name="Google Shape;1384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2550" y="-14350"/>
            <a:ext cx="1304450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5" name="Google Shape;1385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1150" y="1814450"/>
            <a:ext cx="1304450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2550" y="3490850"/>
            <a:ext cx="1304450" cy="166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7" name="Google Shape;1387;p81"/>
          <p:cNvGrpSpPr/>
          <p:nvPr/>
        </p:nvGrpSpPr>
        <p:grpSpPr>
          <a:xfrm>
            <a:off x="1490600" y="1751425"/>
            <a:ext cx="6406575" cy="1653825"/>
            <a:chOff x="1490600" y="1751425"/>
            <a:chExt cx="6406575" cy="1653825"/>
          </a:xfrm>
        </p:grpSpPr>
        <p:sp>
          <p:nvSpPr>
            <p:cNvPr id="1388" name="Google Shape;1388;p81"/>
            <p:cNvSpPr/>
            <p:nvPr/>
          </p:nvSpPr>
          <p:spPr>
            <a:xfrm>
              <a:off x="4353950" y="175142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81"/>
            <p:cNvSpPr/>
            <p:nvPr/>
          </p:nvSpPr>
          <p:spPr>
            <a:xfrm>
              <a:off x="1490600" y="245115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81"/>
            <p:cNvSpPr/>
            <p:nvPr/>
          </p:nvSpPr>
          <p:spPr>
            <a:xfrm>
              <a:off x="4285775" y="301165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81"/>
            <p:cNvSpPr/>
            <p:nvPr/>
          </p:nvSpPr>
          <p:spPr>
            <a:xfrm>
              <a:off x="7519175" y="251900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2" name="Google Shape;1392;p81"/>
          <p:cNvGrpSpPr/>
          <p:nvPr/>
        </p:nvGrpSpPr>
        <p:grpSpPr>
          <a:xfrm>
            <a:off x="1877450" y="2145025"/>
            <a:ext cx="5635875" cy="866625"/>
            <a:chOff x="1877450" y="2145025"/>
            <a:chExt cx="5635875" cy="866625"/>
          </a:xfrm>
        </p:grpSpPr>
        <p:cxnSp>
          <p:nvCxnSpPr>
            <p:cNvPr id="1393" name="Google Shape;1393;p81"/>
            <p:cNvCxnSpPr/>
            <p:nvPr/>
          </p:nvCxnSpPr>
          <p:spPr>
            <a:xfrm flipH="1" rot="10800000">
              <a:off x="1877450" y="2367050"/>
              <a:ext cx="492300" cy="272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94" name="Google Shape;1394;p81"/>
            <p:cNvCxnSpPr/>
            <p:nvPr/>
          </p:nvCxnSpPr>
          <p:spPr>
            <a:xfrm>
              <a:off x="1895025" y="2639450"/>
              <a:ext cx="457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95" name="Google Shape;1395;p81"/>
            <p:cNvCxnSpPr/>
            <p:nvPr/>
          </p:nvCxnSpPr>
          <p:spPr>
            <a:xfrm>
              <a:off x="1895025" y="2639450"/>
              <a:ext cx="378000" cy="29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96" name="Google Shape;1396;p81"/>
            <p:cNvCxnSpPr/>
            <p:nvPr/>
          </p:nvCxnSpPr>
          <p:spPr>
            <a:xfrm flipH="1">
              <a:off x="4239650" y="2145025"/>
              <a:ext cx="303300" cy="23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97" name="Google Shape;1397;p81"/>
            <p:cNvCxnSpPr/>
            <p:nvPr/>
          </p:nvCxnSpPr>
          <p:spPr>
            <a:xfrm flipH="1">
              <a:off x="4538450" y="2145025"/>
              <a:ext cx="4500" cy="345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98" name="Google Shape;1398;p81"/>
            <p:cNvCxnSpPr/>
            <p:nvPr/>
          </p:nvCxnSpPr>
          <p:spPr>
            <a:xfrm>
              <a:off x="4542950" y="2145025"/>
              <a:ext cx="347400" cy="230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99" name="Google Shape;1399;p81"/>
            <p:cNvCxnSpPr/>
            <p:nvPr/>
          </p:nvCxnSpPr>
          <p:spPr>
            <a:xfrm rot="10800000">
              <a:off x="4213175" y="2832850"/>
              <a:ext cx="261600" cy="17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00" name="Google Shape;1400;p81"/>
            <p:cNvCxnSpPr/>
            <p:nvPr/>
          </p:nvCxnSpPr>
          <p:spPr>
            <a:xfrm flipH="1" rot="10800000">
              <a:off x="4474775" y="2771350"/>
              <a:ext cx="11100" cy="240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01" name="Google Shape;1401;p81"/>
            <p:cNvCxnSpPr/>
            <p:nvPr/>
          </p:nvCxnSpPr>
          <p:spPr>
            <a:xfrm flipH="1" rot="10800000">
              <a:off x="4474775" y="2832850"/>
              <a:ext cx="266100" cy="17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02" name="Google Shape;1402;p81"/>
            <p:cNvCxnSpPr/>
            <p:nvPr/>
          </p:nvCxnSpPr>
          <p:spPr>
            <a:xfrm rot="10800000">
              <a:off x="7161625" y="2516375"/>
              <a:ext cx="342900" cy="20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03" name="Google Shape;1403;p81"/>
            <p:cNvCxnSpPr/>
            <p:nvPr/>
          </p:nvCxnSpPr>
          <p:spPr>
            <a:xfrm flipH="1">
              <a:off x="7179125" y="2709800"/>
              <a:ext cx="3342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04" name="Google Shape;1404;p81"/>
            <p:cNvCxnSpPr/>
            <p:nvPr/>
          </p:nvCxnSpPr>
          <p:spPr>
            <a:xfrm flipH="1">
              <a:off x="7205550" y="2727375"/>
              <a:ext cx="281400" cy="237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10" name="Google Shape;1410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50" y="1738250"/>
            <a:ext cx="1304450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1" name="Google Shape;1411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2550" y="-14350"/>
            <a:ext cx="1304450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2" name="Google Shape;1412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1150" y="1814450"/>
            <a:ext cx="1304450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3" name="Google Shape;1413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2550" y="3490850"/>
            <a:ext cx="1304450" cy="166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4" name="Google Shape;1414;p82"/>
          <p:cNvGrpSpPr/>
          <p:nvPr/>
        </p:nvGrpSpPr>
        <p:grpSpPr>
          <a:xfrm>
            <a:off x="162950" y="3351625"/>
            <a:ext cx="378000" cy="1779975"/>
            <a:chOff x="162950" y="3351625"/>
            <a:chExt cx="378000" cy="1779975"/>
          </a:xfrm>
        </p:grpSpPr>
        <p:sp>
          <p:nvSpPr>
            <p:cNvPr id="1415" name="Google Shape;1415;p82"/>
            <p:cNvSpPr/>
            <p:nvPr/>
          </p:nvSpPr>
          <p:spPr>
            <a:xfrm>
              <a:off x="162950" y="335162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82"/>
            <p:cNvSpPr/>
            <p:nvPr/>
          </p:nvSpPr>
          <p:spPr>
            <a:xfrm>
              <a:off x="162950" y="381375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82"/>
            <p:cNvSpPr/>
            <p:nvPr/>
          </p:nvSpPr>
          <p:spPr>
            <a:xfrm>
              <a:off x="162950" y="427587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82"/>
            <p:cNvSpPr/>
            <p:nvPr/>
          </p:nvSpPr>
          <p:spPr>
            <a:xfrm>
              <a:off x="162950" y="473800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9" name="Google Shape;1419;p82"/>
          <p:cNvGrpSpPr/>
          <p:nvPr/>
        </p:nvGrpSpPr>
        <p:grpSpPr>
          <a:xfrm>
            <a:off x="2448950" y="-1175"/>
            <a:ext cx="378000" cy="1779975"/>
            <a:chOff x="162950" y="3351625"/>
            <a:chExt cx="378000" cy="1779975"/>
          </a:xfrm>
        </p:grpSpPr>
        <p:sp>
          <p:nvSpPr>
            <p:cNvPr id="1420" name="Google Shape;1420;p82"/>
            <p:cNvSpPr/>
            <p:nvPr/>
          </p:nvSpPr>
          <p:spPr>
            <a:xfrm>
              <a:off x="162950" y="335162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82"/>
            <p:cNvSpPr/>
            <p:nvPr/>
          </p:nvSpPr>
          <p:spPr>
            <a:xfrm>
              <a:off x="162950" y="381375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82"/>
            <p:cNvSpPr/>
            <p:nvPr/>
          </p:nvSpPr>
          <p:spPr>
            <a:xfrm>
              <a:off x="162950" y="427587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82"/>
            <p:cNvSpPr/>
            <p:nvPr/>
          </p:nvSpPr>
          <p:spPr>
            <a:xfrm>
              <a:off x="162950" y="473800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4" name="Google Shape;1424;p82"/>
          <p:cNvGrpSpPr/>
          <p:nvPr/>
        </p:nvGrpSpPr>
        <p:grpSpPr>
          <a:xfrm>
            <a:off x="5028825" y="3230875"/>
            <a:ext cx="378000" cy="1779975"/>
            <a:chOff x="162950" y="3351625"/>
            <a:chExt cx="378000" cy="1779975"/>
          </a:xfrm>
        </p:grpSpPr>
        <p:sp>
          <p:nvSpPr>
            <p:cNvPr id="1425" name="Google Shape;1425;p82"/>
            <p:cNvSpPr/>
            <p:nvPr/>
          </p:nvSpPr>
          <p:spPr>
            <a:xfrm>
              <a:off x="162950" y="335162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82"/>
            <p:cNvSpPr/>
            <p:nvPr/>
          </p:nvSpPr>
          <p:spPr>
            <a:xfrm>
              <a:off x="162950" y="381375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82"/>
            <p:cNvSpPr/>
            <p:nvPr/>
          </p:nvSpPr>
          <p:spPr>
            <a:xfrm>
              <a:off x="162950" y="427587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82"/>
            <p:cNvSpPr/>
            <p:nvPr/>
          </p:nvSpPr>
          <p:spPr>
            <a:xfrm>
              <a:off x="162950" y="473800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9" name="Google Shape;1429;p82"/>
          <p:cNvGrpSpPr/>
          <p:nvPr/>
        </p:nvGrpSpPr>
        <p:grpSpPr>
          <a:xfrm>
            <a:off x="6916200" y="-1175"/>
            <a:ext cx="378000" cy="1779975"/>
            <a:chOff x="162950" y="3351625"/>
            <a:chExt cx="378000" cy="1779975"/>
          </a:xfrm>
        </p:grpSpPr>
        <p:sp>
          <p:nvSpPr>
            <p:cNvPr id="1430" name="Google Shape;1430;p82"/>
            <p:cNvSpPr/>
            <p:nvPr/>
          </p:nvSpPr>
          <p:spPr>
            <a:xfrm>
              <a:off x="162950" y="335162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82"/>
            <p:cNvSpPr/>
            <p:nvPr/>
          </p:nvSpPr>
          <p:spPr>
            <a:xfrm>
              <a:off x="162950" y="381375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82"/>
            <p:cNvSpPr/>
            <p:nvPr/>
          </p:nvSpPr>
          <p:spPr>
            <a:xfrm>
              <a:off x="162950" y="427587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82"/>
            <p:cNvSpPr/>
            <p:nvPr/>
          </p:nvSpPr>
          <p:spPr>
            <a:xfrm>
              <a:off x="162950" y="473800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4" name="Google Shape;1434;p82"/>
          <p:cNvGrpSpPr/>
          <p:nvPr/>
        </p:nvGrpSpPr>
        <p:grpSpPr>
          <a:xfrm>
            <a:off x="1490600" y="1751425"/>
            <a:ext cx="6406575" cy="1653825"/>
            <a:chOff x="1490600" y="1751425"/>
            <a:chExt cx="6406575" cy="1653825"/>
          </a:xfrm>
        </p:grpSpPr>
        <p:grpSp>
          <p:nvGrpSpPr>
            <p:cNvPr id="1435" name="Google Shape;1435;p82"/>
            <p:cNvGrpSpPr/>
            <p:nvPr/>
          </p:nvGrpSpPr>
          <p:grpSpPr>
            <a:xfrm>
              <a:off x="1490600" y="1751425"/>
              <a:ext cx="6406575" cy="1653825"/>
              <a:chOff x="1490600" y="1751425"/>
              <a:chExt cx="6406575" cy="1653825"/>
            </a:xfrm>
          </p:grpSpPr>
          <p:sp>
            <p:nvSpPr>
              <p:cNvPr id="1436" name="Google Shape;1436;p82"/>
              <p:cNvSpPr/>
              <p:nvPr/>
            </p:nvSpPr>
            <p:spPr>
              <a:xfrm>
                <a:off x="4353950" y="1751425"/>
                <a:ext cx="378000" cy="393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82"/>
              <p:cNvSpPr/>
              <p:nvPr/>
            </p:nvSpPr>
            <p:spPr>
              <a:xfrm>
                <a:off x="1490600" y="2451150"/>
                <a:ext cx="378000" cy="393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82"/>
              <p:cNvSpPr/>
              <p:nvPr/>
            </p:nvSpPr>
            <p:spPr>
              <a:xfrm>
                <a:off x="4285775" y="3011650"/>
                <a:ext cx="378000" cy="393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82"/>
              <p:cNvSpPr/>
              <p:nvPr/>
            </p:nvSpPr>
            <p:spPr>
              <a:xfrm>
                <a:off x="7519175" y="2519000"/>
                <a:ext cx="378000" cy="393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0" name="Google Shape;1440;p82"/>
            <p:cNvGrpSpPr/>
            <p:nvPr/>
          </p:nvGrpSpPr>
          <p:grpSpPr>
            <a:xfrm>
              <a:off x="1877450" y="2145025"/>
              <a:ext cx="5635875" cy="866625"/>
              <a:chOff x="1877450" y="2145025"/>
              <a:chExt cx="5635875" cy="866625"/>
            </a:xfrm>
          </p:grpSpPr>
          <p:cxnSp>
            <p:nvCxnSpPr>
              <p:cNvPr id="1441" name="Google Shape;1441;p82"/>
              <p:cNvCxnSpPr/>
              <p:nvPr/>
            </p:nvCxnSpPr>
            <p:spPr>
              <a:xfrm flipH="1" rot="10800000">
                <a:off x="1877450" y="2367050"/>
                <a:ext cx="492300" cy="27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442" name="Google Shape;1442;p82"/>
              <p:cNvCxnSpPr/>
              <p:nvPr/>
            </p:nvCxnSpPr>
            <p:spPr>
              <a:xfrm>
                <a:off x="1895025" y="2639450"/>
                <a:ext cx="4572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443" name="Google Shape;1443;p82"/>
              <p:cNvCxnSpPr/>
              <p:nvPr/>
            </p:nvCxnSpPr>
            <p:spPr>
              <a:xfrm>
                <a:off x="1895025" y="2639450"/>
                <a:ext cx="378000" cy="299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444" name="Google Shape;1444;p82"/>
              <p:cNvCxnSpPr>
                <a:stCxn id="1436" idx="4"/>
              </p:cNvCxnSpPr>
              <p:nvPr/>
            </p:nvCxnSpPr>
            <p:spPr>
              <a:xfrm flipH="1">
                <a:off x="4239650" y="2145025"/>
                <a:ext cx="303300" cy="239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445" name="Google Shape;1445;p82"/>
              <p:cNvCxnSpPr>
                <a:stCxn id="1436" idx="4"/>
              </p:cNvCxnSpPr>
              <p:nvPr/>
            </p:nvCxnSpPr>
            <p:spPr>
              <a:xfrm flipH="1">
                <a:off x="4538450" y="2145025"/>
                <a:ext cx="4500" cy="34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446" name="Google Shape;1446;p82"/>
              <p:cNvCxnSpPr>
                <a:stCxn id="1436" idx="4"/>
              </p:cNvCxnSpPr>
              <p:nvPr/>
            </p:nvCxnSpPr>
            <p:spPr>
              <a:xfrm>
                <a:off x="4542950" y="2145025"/>
                <a:ext cx="347400" cy="230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447" name="Google Shape;1447;p82"/>
              <p:cNvCxnSpPr>
                <a:stCxn id="1438" idx="0"/>
              </p:cNvCxnSpPr>
              <p:nvPr/>
            </p:nvCxnSpPr>
            <p:spPr>
              <a:xfrm rot="10800000">
                <a:off x="4213175" y="2832850"/>
                <a:ext cx="261600" cy="17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448" name="Google Shape;1448;p82"/>
              <p:cNvCxnSpPr>
                <a:stCxn id="1438" idx="0"/>
              </p:cNvCxnSpPr>
              <p:nvPr/>
            </p:nvCxnSpPr>
            <p:spPr>
              <a:xfrm flipH="1" rot="10800000">
                <a:off x="4474775" y="2771350"/>
                <a:ext cx="11100" cy="240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449" name="Google Shape;1449;p82"/>
              <p:cNvCxnSpPr>
                <a:stCxn id="1438" idx="0"/>
              </p:cNvCxnSpPr>
              <p:nvPr/>
            </p:nvCxnSpPr>
            <p:spPr>
              <a:xfrm flipH="1" rot="10800000">
                <a:off x="4474775" y="2832850"/>
                <a:ext cx="266100" cy="178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450" name="Google Shape;1450;p82"/>
              <p:cNvCxnSpPr/>
              <p:nvPr/>
            </p:nvCxnSpPr>
            <p:spPr>
              <a:xfrm rot="10800000">
                <a:off x="7161625" y="2516375"/>
                <a:ext cx="342900" cy="202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451" name="Google Shape;1451;p82"/>
              <p:cNvCxnSpPr/>
              <p:nvPr/>
            </p:nvCxnSpPr>
            <p:spPr>
              <a:xfrm flipH="1">
                <a:off x="7179125" y="2709800"/>
                <a:ext cx="334200" cy="8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452" name="Google Shape;1452;p82"/>
              <p:cNvCxnSpPr/>
              <p:nvPr/>
            </p:nvCxnSpPr>
            <p:spPr>
              <a:xfrm flipH="1">
                <a:off x="7205550" y="2727375"/>
                <a:ext cx="281400" cy="237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58" name="Google Shape;1458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50" y="1738250"/>
            <a:ext cx="1304450" cy="166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9" name="Google Shape;1459;p83"/>
          <p:cNvGrpSpPr/>
          <p:nvPr/>
        </p:nvGrpSpPr>
        <p:grpSpPr>
          <a:xfrm>
            <a:off x="2296550" y="1675225"/>
            <a:ext cx="378000" cy="1779975"/>
            <a:chOff x="162950" y="3351625"/>
            <a:chExt cx="378000" cy="1779975"/>
          </a:xfrm>
        </p:grpSpPr>
        <p:sp>
          <p:nvSpPr>
            <p:cNvPr id="1460" name="Google Shape;1460;p83"/>
            <p:cNvSpPr/>
            <p:nvPr/>
          </p:nvSpPr>
          <p:spPr>
            <a:xfrm>
              <a:off x="162950" y="335162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83"/>
            <p:cNvSpPr/>
            <p:nvPr/>
          </p:nvSpPr>
          <p:spPr>
            <a:xfrm>
              <a:off x="162950" y="381375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83"/>
            <p:cNvSpPr/>
            <p:nvPr/>
          </p:nvSpPr>
          <p:spPr>
            <a:xfrm>
              <a:off x="162950" y="427587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83"/>
            <p:cNvSpPr/>
            <p:nvPr/>
          </p:nvSpPr>
          <p:spPr>
            <a:xfrm>
              <a:off x="162950" y="473800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4" name="Google Shape;1464;p83"/>
          <p:cNvSpPr/>
          <p:nvPr/>
        </p:nvSpPr>
        <p:spPr>
          <a:xfrm>
            <a:off x="3160100" y="2123800"/>
            <a:ext cx="378000" cy="393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65" name="Google Shape;1465;p83"/>
          <p:cNvCxnSpPr>
            <a:stCxn id="1464" idx="2"/>
            <a:endCxn id="1461" idx="6"/>
          </p:cNvCxnSpPr>
          <p:nvPr/>
        </p:nvCxnSpPr>
        <p:spPr>
          <a:xfrm flipH="1">
            <a:off x="2674400" y="2320600"/>
            <a:ext cx="485700" cy="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6" name="Google Shape;1466;p83"/>
          <p:cNvCxnSpPr>
            <a:stCxn id="1464" idx="2"/>
            <a:endCxn id="1462" idx="6"/>
          </p:cNvCxnSpPr>
          <p:nvPr/>
        </p:nvCxnSpPr>
        <p:spPr>
          <a:xfrm flipH="1">
            <a:off x="2674400" y="2320600"/>
            <a:ext cx="485700" cy="4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7" name="Google Shape;1467;p83"/>
          <p:cNvCxnSpPr>
            <a:stCxn id="1464" idx="2"/>
            <a:endCxn id="1463" idx="6"/>
          </p:cNvCxnSpPr>
          <p:nvPr/>
        </p:nvCxnSpPr>
        <p:spPr>
          <a:xfrm flipH="1">
            <a:off x="2674400" y="2320600"/>
            <a:ext cx="485700" cy="93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8" name="Google Shape;1468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2f+1 Hash Links</a:t>
            </a:r>
            <a:endParaRPr/>
          </a:p>
        </p:txBody>
      </p:sp>
      <p:sp>
        <p:nvSpPr>
          <p:cNvPr id="1469" name="Google Shape;1469;p83"/>
          <p:cNvSpPr txBox="1"/>
          <p:nvPr/>
        </p:nvSpPr>
        <p:spPr>
          <a:xfrm>
            <a:off x="2315450" y="1204650"/>
            <a:ext cx="3600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70" name="Google Shape;1470;p83"/>
          <p:cNvSpPr txBox="1"/>
          <p:nvPr/>
        </p:nvSpPr>
        <p:spPr>
          <a:xfrm>
            <a:off x="3077450" y="1204650"/>
            <a:ext cx="7221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r+1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76" name="Google Shape;1476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50" y="1738250"/>
            <a:ext cx="1304450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7" name="Google Shape;1477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2550" y="-14350"/>
            <a:ext cx="1304450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8" name="Google Shape;147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61150" y="1814450"/>
            <a:ext cx="1304450" cy="1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9" name="Google Shape;147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2550" y="3490850"/>
            <a:ext cx="1304450" cy="166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0" name="Google Shape;1480;p84"/>
          <p:cNvGrpSpPr/>
          <p:nvPr/>
        </p:nvGrpSpPr>
        <p:grpSpPr>
          <a:xfrm>
            <a:off x="162950" y="3351625"/>
            <a:ext cx="378000" cy="1779975"/>
            <a:chOff x="162950" y="3351625"/>
            <a:chExt cx="378000" cy="1779975"/>
          </a:xfrm>
        </p:grpSpPr>
        <p:sp>
          <p:nvSpPr>
            <p:cNvPr id="1481" name="Google Shape;1481;p84"/>
            <p:cNvSpPr/>
            <p:nvPr/>
          </p:nvSpPr>
          <p:spPr>
            <a:xfrm>
              <a:off x="162950" y="335162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84"/>
            <p:cNvSpPr/>
            <p:nvPr/>
          </p:nvSpPr>
          <p:spPr>
            <a:xfrm>
              <a:off x="162950" y="381375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84"/>
            <p:cNvSpPr/>
            <p:nvPr/>
          </p:nvSpPr>
          <p:spPr>
            <a:xfrm>
              <a:off x="162950" y="427587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84"/>
            <p:cNvSpPr/>
            <p:nvPr/>
          </p:nvSpPr>
          <p:spPr>
            <a:xfrm>
              <a:off x="162950" y="473800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5" name="Google Shape;1485;p84"/>
          <p:cNvGrpSpPr/>
          <p:nvPr/>
        </p:nvGrpSpPr>
        <p:grpSpPr>
          <a:xfrm>
            <a:off x="2448950" y="-1175"/>
            <a:ext cx="378000" cy="1779975"/>
            <a:chOff x="162950" y="3351625"/>
            <a:chExt cx="378000" cy="1779975"/>
          </a:xfrm>
        </p:grpSpPr>
        <p:sp>
          <p:nvSpPr>
            <p:cNvPr id="1486" name="Google Shape;1486;p84"/>
            <p:cNvSpPr/>
            <p:nvPr/>
          </p:nvSpPr>
          <p:spPr>
            <a:xfrm>
              <a:off x="162950" y="335162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84"/>
            <p:cNvSpPr/>
            <p:nvPr/>
          </p:nvSpPr>
          <p:spPr>
            <a:xfrm>
              <a:off x="162950" y="381375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84"/>
            <p:cNvSpPr/>
            <p:nvPr/>
          </p:nvSpPr>
          <p:spPr>
            <a:xfrm>
              <a:off x="162950" y="427587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84"/>
            <p:cNvSpPr/>
            <p:nvPr/>
          </p:nvSpPr>
          <p:spPr>
            <a:xfrm>
              <a:off x="162950" y="473800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0" name="Google Shape;1490;p84"/>
          <p:cNvGrpSpPr/>
          <p:nvPr/>
        </p:nvGrpSpPr>
        <p:grpSpPr>
          <a:xfrm>
            <a:off x="5028825" y="3230875"/>
            <a:ext cx="378000" cy="1779975"/>
            <a:chOff x="162950" y="3351625"/>
            <a:chExt cx="378000" cy="1779975"/>
          </a:xfrm>
        </p:grpSpPr>
        <p:sp>
          <p:nvSpPr>
            <p:cNvPr id="1491" name="Google Shape;1491;p84"/>
            <p:cNvSpPr/>
            <p:nvPr/>
          </p:nvSpPr>
          <p:spPr>
            <a:xfrm>
              <a:off x="162950" y="335162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84"/>
            <p:cNvSpPr/>
            <p:nvPr/>
          </p:nvSpPr>
          <p:spPr>
            <a:xfrm>
              <a:off x="162950" y="381375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84"/>
            <p:cNvSpPr/>
            <p:nvPr/>
          </p:nvSpPr>
          <p:spPr>
            <a:xfrm>
              <a:off x="162950" y="427587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84"/>
            <p:cNvSpPr/>
            <p:nvPr/>
          </p:nvSpPr>
          <p:spPr>
            <a:xfrm>
              <a:off x="162950" y="473800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5" name="Google Shape;1495;p84"/>
          <p:cNvGrpSpPr/>
          <p:nvPr/>
        </p:nvGrpSpPr>
        <p:grpSpPr>
          <a:xfrm>
            <a:off x="6916200" y="-1175"/>
            <a:ext cx="378000" cy="1779975"/>
            <a:chOff x="162950" y="3351625"/>
            <a:chExt cx="378000" cy="1779975"/>
          </a:xfrm>
        </p:grpSpPr>
        <p:sp>
          <p:nvSpPr>
            <p:cNvPr id="1496" name="Google Shape;1496;p84"/>
            <p:cNvSpPr/>
            <p:nvPr/>
          </p:nvSpPr>
          <p:spPr>
            <a:xfrm>
              <a:off x="162950" y="335162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84"/>
            <p:cNvSpPr/>
            <p:nvPr/>
          </p:nvSpPr>
          <p:spPr>
            <a:xfrm>
              <a:off x="162950" y="381375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84"/>
            <p:cNvSpPr/>
            <p:nvPr/>
          </p:nvSpPr>
          <p:spPr>
            <a:xfrm>
              <a:off x="162950" y="427587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84"/>
            <p:cNvSpPr/>
            <p:nvPr/>
          </p:nvSpPr>
          <p:spPr>
            <a:xfrm>
              <a:off x="162950" y="473800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0" name="Google Shape;1500;p84"/>
          <p:cNvGrpSpPr/>
          <p:nvPr/>
        </p:nvGrpSpPr>
        <p:grpSpPr>
          <a:xfrm>
            <a:off x="620150" y="3351625"/>
            <a:ext cx="378000" cy="1779975"/>
            <a:chOff x="162950" y="3351625"/>
            <a:chExt cx="378000" cy="1779975"/>
          </a:xfrm>
        </p:grpSpPr>
        <p:sp>
          <p:nvSpPr>
            <p:cNvPr id="1501" name="Google Shape;1501;p84"/>
            <p:cNvSpPr/>
            <p:nvPr/>
          </p:nvSpPr>
          <p:spPr>
            <a:xfrm>
              <a:off x="162950" y="335162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84"/>
            <p:cNvSpPr/>
            <p:nvPr/>
          </p:nvSpPr>
          <p:spPr>
            <a:xfrm>
              <a:off x="162950" y="381375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84"/>
            <p:cNvSpPr/>
            <p:nvPr/>
          </p:nvSpPr>
          <p:spPr>
            <a:xfrm>
              <a:off x="162950" y="427587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84"/>
            <p:cNvSpPr/>
            <p:nvPr/>
          </p:nvSpPr>
          <p:spPr>
            <a:xfrm>
              <a:off x="162950" y="473800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05" name="Google Shape;1505;p84"/>
          <p:cNvGrpSpPr/>
          <p:nvPr/>
        </p:nvGrpSpPr>
        <p:grpSpPr>
          <a:xfrm>
            <a:off x="3021100" y="-1175"/>
            <a:ext cx="378000" cy="1779975"/>
            <a:chOff x="162950" y="3351625"/>
            <a:chExt cx="378000" cy="1779975"/>
          </a:xfrm>
        </p:grpSpPr>
        <p:sp>
          <p:nvSpPr>
            <p:cNvPr id="1506" name="Google Shape;1506;p84"/>
            <p:cNvSpPr/>
            <p:nvPr/>
          </p:nvSpPr>
          <p:spPr>
            <a:xfrm>
              <a:off x="162950" y="335162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84"/>
            <p:cNvSpPr/>
            <p:nvPr/>
          </p:nvSpPr>
          <p:spPr>
            <a:xfrm>
              <a:off x="162950" y="381375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84"/>
            <p:cNvSpPr/>
            <p:nvPr/>
          </p:nvSpPr>
          <p:spPr>
            <a:xfrm>
              <a:off x="162950" y="427587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84"/>
            <p:cNvSpPr/>
            <p:nvPr/>
          </p:nvSpPr>
          <p:spPr>
            <a:xfrm>
              <a:off x="162950" y="473800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0" name="Google Shape;1510;p84"/>
          <p:cNvGrpSpPr/>
          <p:nvPr/>
        </p:nvGrpSpPr>
        <p:grpSpPr>
          <a:xfrm>
            <a:off x="7449600" y="-1175"/>
            <a:ext cx="378000" cy="1779975"/>
            <a:chOff x="162950" y="3351625"/>
            <a:chExt cx="378000" cy="1779975"/>
          </a:xfrm>
        </p:grpSpPr>
        <p:sp>
          <p:nvSpPr>
            <p:cNvPr id="1511" name="Google Shape;1511;p84"/>
            <p:cNvSpPr/>
            <p:nvPr/>
          </p:nvSpPr>
          <p:spPr>
            <a:xfrm>
              <a:off x="162950" y="335162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84"/>
            <p:cNvSpPr/>
            <p:nvPr/>
          </p:nvSpPr>
          <p:spPr>
            <a:xfrm>
              <a:off x="162950" y="381375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84"/>
            <p:cNvSpPr/>
            <p:nvPr/>
          </p:nvSpPr>
          <p:spPr>
            <a:xfrm>
              <a:off x="162950" y="427587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84"/>
            <p:cNvSpPr/>
            <p:nvPr/>
          </p:nvSpPr>
          <p:spPr>
            <a:xfrm>
              <a:off x="162950" y="473800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5" name="Google Shape;1515;p84"/>
          <p:cNvGrpSpPr/>
          <p:nvPr/>
        </p:nvGrpSpPr>
        <p:grpSpPr>
          <a:xfrm>
            <a:off x="5551500" y="3230875"/>
            <a:ext cx="378000" cy="1779975"/>
            <a:chOff x="162950" y="3351625"/>
            <a:chExt cx="378000" cy="1779975"/>
          </a:xfrm>
        </p:grpSpPr>
        <p:sp>
          <p:nvSpPr>
            <p:cNvPr id="1516" name="Google Shape;1516;p84"/>
            <p:cNvSpPr/>
            <p:nvPr/>
          </p:nvSpPr>
          <p:spPr>
            <a:xfrm>
              <a:off x="162950" y="335162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84"/>
            <p:cNvSpPr/>
            <p:nvPr/>
          </p:nvSpPr>
          <p:spPr>
            <a:xfrm>
              <a:off x="162950" y="381375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84"/>
            <p:cNvSpPr/>
            <p:nvPr/>
          </p:nvSpPr>
          <p:spPr>
            <a:xfrm>
              <a:off x="162950" y="4275875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84"/>
            <p:cNvSpPr/>
            <p:nvPr/>
          </p:nvSpPr>
          <p:spPr>
            <a:xfrm>
              <a:off x="162950" y="473800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8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View of the DAG</a:t>
            </a:r>
            <a:endParaRPr/>
          </a:p>
        </p:txBody>
      </p:sp>
      <p:grpSp>
        <p:nvGrpSpPr>
          <p:cNvPr id="1525" name="Google Shape;1525;p85"/>
          <p:cNvGrpSpPr/>
          <p:nvPr/>
        </p:nvGrpSpPr>
        <p:grpSpPr>
          <a:xfrm>
            <a:off x="2664225" y="1598250"/>
            <a:ext cx="566182" cy="2957375"/>
            <a:chOff x="2130825" y="1369650"/>
            <a:chExt cx="566182" cy="2957375"/>
          </a:xfrm>
        </p:grpSpPr>
        <p:sp>
          <p:nvSpPr>
            <p:cNvPr id="1526" name="Google Shape;1526;p85"/>
            <p:cNvSpPr txBox="1"/>
            <p:nvPr/>
          </p:nvSpPr>
          <p:spPr>
            <a:xfrm>
              <a:off x="2207707" y="1369650"/>
              <a:ext cx="4893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527" name="Google Shape;1527;p85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85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85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85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1" name="Google Shape;1531;p85"/>
          <p:cNvGrpSpPr/>
          <p:nvPr/>
        </p:nvGrpSpPr>
        <p:grpSpPr>
          <a:xfrm>
            <a:off x="3350025" y="1598250"/>
            <a:ext cx="566774" cy="2957375"/>
            <a:chOff x="2130825" y="1369650"/>
            <a:chExt cx="566774" cy="2957375"/>
          </a:xfrm>
        </p:grpSpPr>
        <p:sp>
          <p:nvSpPr>
            <p:cNvPr id="1532" name="Google Shape;1532;p85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r+1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533" name="Google Shape;1533;p85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85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85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85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7" name="Google Shape;1537;p85"/>
          <p:cNvGrpSpPr/>
          <p:nvPr/>
        </p:nvGrpSpPr>
        <p:grpSpPr>
          <a:xfrm>
            <a:off x="4035825" y="1598250"/>
            <a:ext cx="566774" cy="2957375"/>
            <a:chOff x="2130825" y="1369650"/>
            <a:chExt cx="566774" cy="2957375"/>
          </a:xfrm>
        </p:grpSpPr>
        <p:sp>
          <p:nvSpPr>
            <p:cNvPr id="1538" name="Google Shape;1538;p85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r+2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539" name="Google Shape;1539;p85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85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85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85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3" name="Google Shape;1543;p85"/>
          <p:cNvGrpSpPr/>
          <p:nvPr/>
        </p:nvGrpSpPr>
        <p:grpSpPr>
          <a:xfrm>
            <a:off x="4645425" y="1598250"/>
            <a:ext cx="566774" cy="2957375"/>
            <a:chOff x="2130825" y="1369650"/>
            <a:chExt cx="566774" cy="2957375"/>
          </a:xfrm>
        </p:grpSpPr>
        <p:sp>
          <p:nvSpPr>
            <p:cNvPr id="1544" name="Google Shape;1544;p85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r+3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545" name="Google Shape;1545;p85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85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85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85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9" name="Google Shape;1549;p85"/>
          <p:cNvGrpSpPr/>
          <p:nvPr/>
        </p:nvGrpSpPr>
        <p:grpSpPr>
          <a:xfrm>
            <a:off x="5255025" y="1598250"/>
            <a:ext cx="566774" cy="2957375"/>
            <a:chOff x="2130825" y="1369650"/>
            <a:chExt cx="566774" cy="2957375"/>
          </a:xfrm>
        </p:grpSpPr>
        <p:sp>
          <p:nvSpPr>
            <p:cNvPr id="1550" name="Google Shape;1550;p85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r+4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551" name="Google Shape;1551;p85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85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85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85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5" name="Google Shape;1555;p85"/>
          <p:cNvGrpSpPr/>
          <p:nvPr/>
        </p:nvGrpSpPr>
        <p:grpSpPr>
          <a:xfrm>
            <a:off x="5864625" y="1598250"/>
            <a:ext cx="566774" cy="2957375"/>
            <a:chOff x="2130825" y="1369650"/>
            <a:chExt cx="566774" cy="2957375"/>
          </a:xfrm>
        </p:grpSpPr>
        <p:sp>
          <p:nvSpPr>
            <p:cNvPr id="1556" name="Google Shape;1556;p85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r+5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557" name="Google Shape;1557;p85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85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85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85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1" name="Google Shape;1561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2" name="Google Shape;1562;p85"/>
          <p:cNvSpPr/>
          <p:nvPr/>
        </p:nvSpPr>
        <p:spPr>
          <a:xfrm>
            <a:off x="2501725" y="1296525"/>
            <a:ext cx="2054100" cy="301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 1</a:t>
            </a:r>
            <a:endParaRPr sz="1500"/>
          </a:p>
        </p:txBody>
      </p:sp>
      <p:sp>
        <p:nvSpPr>
          <p:cNvPr id="1563" name="Google Shape;1563;p85"/>
          <p:cNvSpPr/>
          <p:nvPr/>
        </p:nvSpPr>
        <p:spPr>
          <a:xfrm>
            <a:off x="4559125" y="1296525"/>
            <a:ext cx="2054100" cy="301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 2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Casual history in Local DAG View</a:t>
            </a:r>
            <a:endParaRPr/>
          </a:p>
        </p:txBody>
      </p:sp>
      <p:sp>
        <p:nvSpPr>
          <p:cNvPr id="1569" name="Google Shape;1569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0" name="Google Shape;1570;p86"/>
          <p:cNvSpPr/>
          <p:nvPr/>
        </p:nvSpPr>
        <p:spPr>
          <a:xfrm>
            <a:off x="2816625" y="1707725"/>
            <a:ext cx="489300" cy="409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86"/>
          <p:cNvSpPr/>
          <p:nvPr/>
        </p:nvSpPr>
        <p:spPr>
          <a:xfrm>
            <a:off x="2816625" y="2317325"/>
            <a:ext cx="489300" cy="409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86"/>
          <p:cNvSpPr/>
          <p:nvPr/>
        </p:nvSpPr>
        <p:spPr>
          <a:xfrm>
            <a:off x="2816625" y="2926925"/>
            <a:ext cx="489300" cy="409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86"/>
          <p:cNvSpPr/>
          <p:nvPr/>
        </p:nvSpPr>
        <p:spPr>
          <a:xfrm>
            <a:off x="2816625" y="3536525"/>
            <a:ext cx="489300" cy="409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86"/>
          <p:cNvSpPr/>
          <p:nvPr/>
        </p:nvSpPr>
        <p:spPr>
          <a:xfrm>
            <a:off x="3959625" y="1707725"/>
            <a:ext cx="489300" cy="409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86"/>
          <p:cNvSpPr/>
          <p:nvPr/>
        </p:nvSpPr>
        <p:spPr>
          <a:xfrm>
            <a:off x="3959625" y="2317325"/>
            <a:ext cx="489300" cy="409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86"/>
          <p:cNvSpPr/>
          <p:nvPr/>
        </p:nvSpPr>
        <p:spPr>
          <a:xfrm>
            <a:off x="3959625" y="2926925"/>
            <a:ext cx="489300" cy="409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86"/>
          <p:cNvSpPr/>
          <p:nvPr/>
        </p:nvSpPr>
        <p:spPr>
          <a:xfrm>
            <a:off x="3959625" y="3536525"/>
            <a:ext cx="489300" cy="409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86"/>
          <p:cNvSpPr/>
          <p:nvPr/>
        </p:nvSpPr>
        <p:spPr>
          <a:xfrm>
            <a:off x="5102625" y="1707725"/>
            <a:ext cx="489300" cy="409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86"/>
          <p:cNvSpPr/>
          <p:nvPr/>
        </p:nvSpPr>
        <p:spPr>
          <a:xfrm>
            <a:off x="5102625" y="2317325"/>
            <a:ext cx="489300" cy="409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86"/>
          <p:cNvSpPr/>
          <p:nvPr/>
        </p:nvSpPr>
        <p:spPr>
          <a:xfrm>
            <a:off x="5102625" y="2926925"/>
            <a:ext cx="489300" cy="409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86"/>
          <p:cNvSpPr/>
          <p:nvPr/>
        </p:nvSpPr>
        <p:spPr>
          <a:xfrm>
            <a:off x="5102625" y="3536525"/>
            <a:ext cx="489300" cy="409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86"/>
          <p:cNvSpPr/>
          <p:nvPr/>
        </p:nvSpPr>
        <p:spPr>
          <a:xfrm>
            <a:off x="6169425" y="2926925"/>
            <a:ext cx="489300" cy="409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86"/>
          <p:cNvSpPr/>
          <p:nvPr/>
        </p:nvSpPr>
        <p:spPr>
          <a:xfrm>
            <a:off x="6169425" y="2926925"/>
            <a:ext cx="489300" cy="409500"/>
          </a:xfrm>
          <a:prstGeom prst="ellipse">
            <a:avLst/>
          </a:prstGeom>
          <a:solidFill>
            <a:srgbClr val="2EDA2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cxnSp>
        <p:nvCxnSpPr>
          <p:cNvPr id="1584" name="Google Shape;1584;p86"/>
          <p:cNvCxnSpPr>
            <a:stCxn id="1583" idx="2"/>
            <a:endCxn id="1579" idx="6"/>
          </p:cNvCxnSpPr>
          <p:nvPr/>
        </p:nvCxnSpPr>
        <p:spPr>
          <a:xfrm rot="10800000">
            <a:off x="5591925" y="2522075"/>
            <a:ext cx="57750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5" name="Google Shape;1585;p86"/>
          <p:cNvCxnSpPr>
            <a:stCxn id="1583" idx="2"/>
            <a:endCxn id="1580" idx="6"/>
          </p:cNvCxnSpPr>
          <p:nvPr/>
        </p:nvCxnSpPr>
        <p:spPr>
          <a:xfrm rot="10800000">
            <a:off x="5591925" y="3131675"/>
            <a:ext cx="57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6" name="Google Shape;1586;p86"/>
          <p:cNvCxnSpPr>
            <a:stCxn id="1583" idx="2"/>
            <a:endCxn id="1578" idx="6"/>
          </p:cNvCxnSpPr>
          <p:nvPr/>
        </p:nvCxnSpPr>
        <p:spPr>
          <a:xfrm rot="10800000">
            <a:off x="5591925" y="1912475"/>
            <a:ext cx="577500" cy="121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7" name="Google Shape;1587;p86"/>
          <p:cNvCxnSpPr>
            <a:stCxn id="1578" idx="2"/>
            <a:endCxn id="1574" idx="6"/>
          </p:cNvCxnSpPr>
          <p:nvPr/>
        </p:nvCxnSpPr>
        <p:spPr>
          <a:xfrm rot="10800000">
            <a:off x="4448925" y="1912475"/>
            <a:ext cx="65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8" name="Google Shape;1588;p86"/>
          <p:cNvCxnSpPr>
            <a:stCxn id="1578" idx="2"/>
            <a:endCxn id="1575" idx="6"/>
          </p:cNvCxnSpPr>
          <p:nvPr/>
        </p:nvCxnSpPr>
        <p:spPr>
          <a:xfrm flipH="1">
            <a:off x="4448925" y="1912475"/>
            <a:ext cx="65370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9" name="Google Shape;1589;p86"/>
          <p:cNvCxnSpPr>
            <a:stCxn id="1578" idx="2"/>
            <a:endCxn id="1576" idx="6"/>
          </p:cNvCxnSpPr>
          <p:nvPr/>
        </p:nvCxnSpPr>
        <p:spPr>
          <a:xfrm flipH="1">
            <a:off x="4448925" y="1912475"/>
            <a:ext cx="653700" cy="121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0" name="Google Shape;1590;p86"/>
          <p:cNvCxnSpPr>
            <a:stCxn id="1579" idx="2"/>
            <a:endCxn id="1574" idx="6"/>
          </p:cNvCxnSpPr>
          <p:nvPr/>
        </p:nvCxnSpPr>
        <p:spPr>
          <a:xfrm rot="10800000">
            <a:off x="4448925" y="1912475"/>
            <a:ext cx="65370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1" name="Google Shape;1591;p86"/>
          <p:cNvCxnSpPr>
            <a:stCxn id="1579" idx="2"/>
            <a:endCxn id="1575" idx="6"/>
          </p:cNvCxnSpPr>
          <p:nvPr/>
        </p:nvCxnSpPr>
        <p:spPr>
          <a:xfrm rot="10800000">
            <a:off x="4448925" y="2522075"/>
            <a:ext cx="65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2" name="Google Shape;1592;p86"/>
          <p:cNvCxnSpPr>
            <a:stCxn id="1579" idx="2"/>
            <a:endCxn id="1576" idx="6"/>
          </p:cNvCxnSpPr>
          <p:nvPr/>
        </p:nvCxnSpPr>
        <p:spPr>
          <a:xfrm flipH="1">
            <a:off x="4448925" y="2522075"/>
            <a:ext cx="65370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3" name="Google Shape;1593;p86"/>
          <p:cNvCxnSpPr>
            <a:stCxn id="1580" idx="2"/>
            <a:endCxn id="1574" idx="6"/>
          </p:cNvCxnSpPr>
          <p:nvPr/>
        </p:nvCxnSpPr>
        <p:spPr>
          <a:xfrm rot="10800000">
            <a:off x="4448925" y="1912475"/>
            <a:ext cx="653700" cy="121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4" name="Google Shape;1594;p86"/>
          <p:cNvCxnSpPr>
            <a:stCxn id="1580" idx="2"/>
            <a:endCxn id="1575" idx="6"/>
          </p:cNvCxnSpPr>
          <p:nvPr/>
        </p:nvCxnSpPr>
        <p:spPr>
          <a:xfrm rot="10800000">
            <a:off x="4448925" y="2522075"/>
            <a:ext cx="65370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5" name="Google Shape;1595;p86"/>
          <p:cNvCxnSpPr>
            <a:stCxn id="1580" idx="2"/>
            <a:endCxn id="1576" idx="6"/>
          </p:cNvCxnSpPr>
          <p:nvPr/>
        </p:nvCxnSpPr>
        <p:spPr>
          <a:xfrm rot="10800000">
            <a:off x="4448925" y="3131675"/>
            <a:ext cx="65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6" name="Google Shape;1596;p86"/>
          <p:cNvCxnSpPr>
            <a:stCxn id="1581" idx="2"/>
            <a:endCxn id="1576" idx="6"/>
          </p:cNvCxnSpPr>
          <p:nvPr/>
        </p:nvCxnSpPr>
        <p:spPr>
          <a:xfrm rot="10800000">
            <a:off x="4448925" y="3131675"/>
            <a:ext cx="65370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7" name="Google Shape;1597;p86"/>
          <p:cNvCxnSpPr>
            <a:stCxn id="1581" idx="2"/>
            <a:endCxn id="1575" idx="6"/>
          </p:cNvCxnSpPr>
          <p:nvPr/>
        </p:nvCxnSpPr>
        <p:spPr>
          <a:xfrm rot="10800000">
            <a:off x="4448925" y="2522075"/>
            <a:ext cx="653700" cy="121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8" name="Google Shape;1598;p86"/>
          <p:cNvCxnSpPr>
            <a:stCxn id="1581" idx="2"/>
            <a:endCxn id="1574" idx="6"/>
          </p:cNvCxnSpPr>
          <p:nvPr/>
        </p:nvCxnSpPr>
        <p:spPr>
          <a:xfrm rot="10800000">
            <a:off x="4448925" y="1912475"/>
            <a:ext cx="653700" cy="18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9" name="Google Shape;1599;p86"/>
          <p:cNvCxnSpPr/>
          <p:nvPr/>
        </p:nvCxnSpPr>
        <p:spPr>
          <a:xfrm rot="10800000">
            <a:off x="3305925" y="1912475"/>
            <a:ext cx="65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0" name="Google Shape;1600;p86"/>
          <p:cNvCxnSpPr/>
          <p:nvPr/>
        </p:nvCxnSpPr>
        <p:spPr>
          <a:xfrm flipH="1">
            <a:off x="3305925" y="1912475"/>
            <a:ext cx="65370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1" name="Google Shape;1601;p86"/>
          <p:cNvCxnSpPr/>
          <p:nvPr/>
        </p:nvCxnSpPr>
        <p:spPr>
          <a:xfrm flipH="1">
            <a:off x="3305925" y="1912475"/>
            <a:ext cx="653700" cy="121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2" name="Google Shape;1602;p86"/>
          <p:cNvCxnSpPr/>
          <p:nvPr/>
        </p:nvCxnSpPr>
        <p:spPr>
          <a:xfrm rot="10800000">
            <a:off x="3305925" y="1912475"/>
            <a:ext cx="65370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3" name="Google Shape;1603;p86"/>
          <p:cNvCxnSpPr/>
          <p:nvPr/>
        </p:nvCxnSpPr>
        <p:spPr>
          <a:xfrm rot="10800000">
            <a:off x="3305925" y="2522075"/>
            <a:ext cx="65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4" name="Google Shape;1604;p86"/>
          <p:cNvCxnSpPr/>
          <p:nvPr/>
        </p:nvCxnSpPr>
        <p:spPr>
          <a:xfrm flipH="1">
            <a:off x="3305925" y="2522075"/>
            <a:ext cx="65370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5" name="Google Shape;1605;p86"/>
          <p:cNvCxnSpPr/>
          <p:nvPr/>
        </p:nvCxnSpPr>
        <p:spPr>
          <a:xfrm rot="10800000">
            <a:off x="3305925" y="1912475"/>
            <a:ext cx="653700" cy="121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6" name="Google Shape;1606;p86"/>
          <p:cNvCxnSpPr/>
          <p:nvPr/>
        </p:nvCxnSpPr>
        <p:spPr>
          <a:xfrm rot="10800000">
            <a:off x="3305925" y="2522075"/>
            <a:ext cx="65370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7" name="Google Shape;1607;p86"/>
          <p:cNvCxnSpPr/>
          <p:nvPr/>
        </p:nvCxnSpPr>
        <p:spPr>
          <a:xfrm rot="10800000">
            <a:off x="3305925" y="3131675"/>
            <a:ext cx="65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8" name="Google Shape;1608;p86"/>
          <p:cNvCxnSpPr/>
          <p:nvPr/>
        </p:nvCxnSpPr>
        <p:spPr>
          <a:xfrm rot="10800000">
            <a:off x="3305925" y="3131675"/>
            <a:ext cx="653700" cy="6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9" name="Google Shape;1609;p86"/>
          <p:cNvCxnSpPr/>
          <p:nvPr/>
        </p:nvCxnSpPr>
        <p:spPr>
          <a:xfrm rot="10800000">
            <a:off x="3305925" y="2522075"/>
            <a:ext cx="653700" cy="121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0" name="Google Shape;1610;p86"/>
          <p:cNvCxnSpPr/>
          <p:nvPr/>
        </p:nvCxnSpPr>
        <p:spPr>
          <a:xfrm rot="10800000">
            <a:off x="3305925" y="1912475"/>
            <a:ext cx="653700" cy="18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1" name="Google Shape;1611;p86"/>
          <p:cNvSpPr/>
          <p:nvPr/>
        </p:nvSpPr>
        <p:spPr>
          <a:xfrm>
            <a:off x="2816625" y="1707725"/>
            <a:ext cx="489300" cy="409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grpSp>
        <p:nvGrpSpPr>
          <p:cNvPr id="1612" name="Google Shape;1612;p86"/>
          <p:cNvGrpSpPr/>
          <p:nvPr/>
        </p:nvGrpSpPr>
        <p:grpSpPr>
          <a:xfrm>
            <a:off x="3305925" y="1912475"/>
            <a:ext cx="2863500" cy="1219200"/>
            <a:chOff x="3305925" y="1912475"/>
            <a:chExt cx="2863500" cy="1219200"/>
          </a:xfrm>
        </p:grpSpPr>
        <p:cxnSp>
          <p:nvCxnSpPr>
            <p:cNvPr id="1613" name="Google Shape;1613;p86"/>
            <p:cNvCxnSpPr/>
            <p:nvPr/>
          </p:nvCxnSpPr>
          <p:spPr>
            <a:xfrm rot="10800000">
              <a:off x="5591925" y="1912475"/>
              <a:ext cx="577500" cy="1219200"/>
            </a:xfrm>
            <a:prstGeom prst="straightConnector1">
              <a:avLst/>
            </a:prstGeom>
            <a:noFill/>
            <a:ln cap="flat" cmpd="sng" w="9525">
              <a:solidFill>
                <a:srgbClr val="FF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14" name="Google Shape;1614;p86"/>
            <p:cNvCxnSpPr/>
            <p:nvPr/>
          </p:nvCxnSpPr>
          <p:spPr>
            <a:xfrm rot="10800000">
              <a:off x="4448925" y="1912475"/>
              <a:ext cx="653700" cy="0"/>
            </a:xfrm>
            <a:prstGeom prst="straightConnector1">
              <a:avLst/>
            </a:prstGeom>
            <a:noFill/>
            <a:ln cap="flat" cmpd="sng" w="9525">
              <a:solidFill>
                <a:srgbClr val="FF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15" name="Google Shape;1615;p86"/>
            <p:cNvCxnSpPr/>
            <p:nvPr/>
          </p:nvCxnSpPr>
          <p:spPr>
            <a:xfrm rot="10800000">
              <a:off x="3305925" y="1912475"/>
              <a:ext cx="653700" cy="0"/>
            </a:xfrm>
            <a:prstGeom prst="straightConnector1">
              <a:avLst/>
            </a:prstGeom>
            <a:noFill/>
            <a:ln cap="flat" cmpd="sng" w="9525">
              <a:solidFill>
                <a:srgbClr val="FF00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616" name="Google Shape;1616;p86"/>
          <p:cNvSpPr/>
          <p:nvPr/>
        </p:nvSpPr>
        <p:spPr>
          <a:xfrm>
            <a:off x="3959625" y="3536525"/>
            <a:ext cx="489300" cy="4095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grpSp>
        <p:nvGrpSpPr>
          <p:cNvPr id="1617" name="Google Shape;1617;p86"/>
          <p:cNvGrpSpPr/>
          <p:nvPr/>
        </p:nvGrpSpPr>
        <p:grpSpPr>
          <a:xfrm>
            <a:off x="2816625" y="1707725"/>
            <a:ext cx="2775300" cy="1628700"/>
            <a:chOff x="2969025" y="1860125"/>
            <a:chExt cx="2775300" cy="1628700"/>
          </a:xfrm>
        </p:grpSpPr>
        <p:sp>
          <p:nvSpPr>
            <p:cNvPr id="1618" name="Google Shape;1618;p86"/>
            <p:cNvSpPr/>
            <p:nvPr/>
          </p:nvSpPr>
          <p:spPr>
            <a:xfrm>
              <a:off x="2969025" y="24697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86"/>
            <p:cNvSpPr/>
            <p:nvPr/>
          </p:nvSpPr>
          <p:spPr>
            <a:xfrm>
              <a:off x="2969025" y="30793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86"/>
            <p:cNvSpPr/>
            <p:nvPr/>
          </p:nvSpPr>
          <p:spPr>
            <a:xfrm>
              <a:off x="4112025" y="18601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86"/>
            <p:cNvSpPr/>
            <p:nvPr/>
          </p:nvSpPr>
          <p:spPr>
            <a:xfrm>
              <a:off x="4112025" y="24697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86"/>
            <p:cNvSpPr/>
            <p:nvPr/>
          </p:nvSpPr>
          <p:spPr>
            <a:xfrm>
              <a:off x="4112025" y="30793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86"/>
            <p:cNvSpPr/>
            <p:nvPr/>
          </p:nvSpPr>
          <p:spPr>
            <a:xfrm>
              <a:off x="5255025" y="18601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86"/>
            <p:cNvSpPr/>
            <p:nvPr/>
          </p:nvSpPr>
          <p:spPr>
            <a:xfrm>
              <a:off x="5255025" y="24697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86"/>
            <p:cNvSpPr/>
            <p:nvPr/>
          </p:nvSpPr>
          <p:spPr>
            <a:xfrm>
              <a:off x="5255025" y="30793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Consensus in DAG based BFT</a:t>
            </a:r>
            <a:endParaRPr/>
          </a:p>
        </p:txBody>
      </p:sp>
      <p:grpSp>
        <p:nvGrpSpPr>
          <p:cNvPr id="1631" name="Google Shape;1631;p87"/>
          <p:cNvGrpSpPr/>
          <p:nvPr/>
        </p:nvGrpSpPr>
        <p:grpSpPr>
          <a:xfrm>
            <a:off x="2130825" y="1750650"/>
            <a:ext cx="566182" cy="2957375"/>
            <a:chOff x="2130825" y="1369650"/>
            <a:chExt cx="566182" cy="2957375"/>
          </a:xfrm>
        </p:grpSpPr>
        <p:sp>
          <p:nvSpPr>
            <p:cNvPr id="1632" name="Google Shape;1632;p87"/>
            <p:cNvSpPr txBox="1"/>
            <p:nvPr/>
          </p:nvSpPr>
          <p:spPr>
            <a:xfrm>
              <a:off x="2207707" y="1369650"/>
              <a:ext cx="4893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633" name="Google Shape;1633;p87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87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87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87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7" name="Google Shape;1637;p87"/>
          <p:cNvGrpSpPr/>
          <p:nvPr/>
        </p:nvGrpSpPr>
        <p:grpSpPr>
          <a:xfrm>
            <a:off x="2816625" y="1750650"/>
            <a:ext cx="566774" cy="2957375"/>
            <a:chOff x="2130825" y="1369650"/>
            <a:chExt cx="566774" cy="2957375"/>
          </a:xfrm>
        </p:grpSpPr>
        <p:sp>
          <p:nvSpPr>
            <p:cNvPr id="1638" name="Google Shape;1638;p87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r+1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639" name="Google Shape;1639;p87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87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87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87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3" name="Google Shape;1643;p87"/>
          <p:cNvGrpSpPr/>
          <p:nvPr/>
        </p:nvGrpSpPr>
        <p:grpSpPr>
          <a:xfrm>
            <a:off x="3502425" y="1750650"/>
            <a:ext cx="566774" cy="2957375"/>
            <a:chOff x="2130825" y="1369650"/>
            <a:chExt cx="566774" cy="2957375"/>
          </a:xfrm>
        </p:grpSpPr>
        <p:sp>
          <p:nvSpPr>
            <p:cNvPr id="1644" name="Google Shape;1644;p87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r+2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645" name="Google Shape;1645;p87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87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87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87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9" name="Google Shape;1649;p87"/>
          <p:cNvGrpSpPr/>
          <p:nvPr/>
        </p:nvGrpSpPr>
        <p:grpSpPr>
          <a:xfrm>
            <a:off x="4112025" y="1750650"/>
            <a:ext cx="566774" cy="2957375"/>
            <a:chOff x="2130825" y="1369650"/>
            <a:chExt cx="566774" cy="2957375"/>
          </a:xfrm>
        </p:grpSpPr>
        <p:sp>
          <p:nvSpPr>
            <p:cNvPr id="1650" name="Google Shape;1650;p87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r+3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651" name="Google Shape;1651;p87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87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87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87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5" name="Google Shape;1655;p87"/>
          <p:cNvGrpSpPr/>
          <p:nvPr/>
        </p:nvGrpSpPr>
        <p:grpSpPr>
          <a:xfrm>
            <a:off x="4721625" y="1750650"/>
            <a:ext cx="566774" cy="2957375"/>
            <a:chOff x="2130825" y="1369650"/>
            <a:chExt cx="566774" cy="2957375"/>
          </a:xfrm>
        </p:grpSpPr>
        <p:sp>
          <p:nvSpPr>
            <p:cNvPr id="1656" name="Google Shape;1656;p87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r+4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657" name="Google Shape;1657;p87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87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87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87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1" name="Google Shape;1661;p87"/>
          <p:cNvGrpSpPr/>
          <p:nvPr/>
        </p:nvGrpSpPr>
        <p:grpSpPr>
          <a:xfrm>
            <a:off x="5331225" y="1750650"/>
            <a:ext cx="566774" cy="2957375"/>
            <a:chOff x="2130825" y="1369650"/>
            <a:chExt cx="566774" cy="2957375"/>
          </a:xfrm>
        </p:grpSpPr>
        <p:sp>
          <p:nvSpPr>
            <p:cNvPr id="1662" name="Google Shape;1662;p87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r+5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663" name="Google Shape;1663;p87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87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87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87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7" name="Google Shape;1667;p87"/>
          <p:cNvGrpSpPr/>
          <p:nvPr/>
        </p:nvGrpSpPr>
        <p:grpSpPr>
          <a:xfrm>
            <a:off x="5940825" y="1750650"/>
            <a:ext cx="566774" cy="2957375"/>
            <a:chOff x="2130825" y="1369650"/>
            <a:chExt cx="566774" cy="2957375"/>
          </a:xfrm>
        </p:grpSpPr>
        <p:sp>
          <p:nvSpPr>
            <p:cNvPr id="1668" name="Google Shape;1668;p87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r+6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669" name="Google Shape;1669;p87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87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87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87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3" name="Google Shape;1673;p87"/>
          <p:cNvGrpSpPr/>
          <p:nvPr/>
        </p:nvGrpSpPr>
        <p:grpSpPr>
          <a:xfrm>
            <a:off x="6550425" y="1750650"/>
            <a:ext cx="566774" cy="2957375"/>
            <a:chOff x="2130825" y="1369650"/>
            <a:chExt cx="566774" cy="2957375"/>
          </a:xfrm>
        </p:grpSpPr>
        <p:sp>
          <p:nvSpPr>
            <p:cNvPr id="1674" name="Google Shape;1674;p87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r+7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675" name="Google Shape;1675;p87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87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87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87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9" name="Google Shape;1679;p87"/>
          <p:cNvGrpSpPr/>
          <p:nvPr/>
        </p:nvGrpSpPr>
        <p:grpSpPr>
          <a:xfrm>
            <a:off x="7160025" y="1750650"/>
            <a:ext cx="566774" cy="2957375"/>
            <a:chOff x="2130825" y="1369650"/>
            <a:chExt cx="566774" cy="2957375"/>
          </a:xfrm>
        </p:grpSpPr>
        <p:sp>
          <p:nvSpPr>
            <p:cNvPr id="1680" name="Google Shape;1680;p87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r+8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681" name="Google Shape;1681;p87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87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87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87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5" name="Google Shape;1685;p87"/>
          <p:cNvSpPr/>
          <p:nvPr/>
        </p:nvSpPr>
        <p:spPr>
          <a:xfrm>
            <a:off x="2130825" y="3688925"/>
            <a:ext cx="489300" cy="409500"/>
          </a:xfrm>
          <a:prstGeom prst="ellipse">
            <a:avLst/>
          </a:prstGeom>
          <a:solidFill>
            <a:srgbClr val="2EDA2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87"/>
          <p:cNvSpPr/>
          <p:nvPr/>
        </p:nvSpPr>
        <p:spPr>
          <a:xfrm>
            <a:off x="4112025" y="3079325"/>
            <a:ext cx="489300" cy="409500"/>
          </a:xfrm>
          <a:prstGeom prst="ellipse">
            <a:avLst/>
          </a:prstGeom>
          <a:solidFill>
            <a:srgbClr val="2EDA2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7" name="Google Shape;1687;p87"/>
          <p:cNvGrpSpPr/>
          <p:nvPr/>
        </p:nvGrpSpPr>
        <p:grpSpPr>
          <a:xfrm>
            <a:off x="2130825" y="2469725"/>
            <a:ext cx="1860900" cy="2238300"/>
            <a:chOff x="2130825" y="336125"/>
            <a:chExt cx="1860900" cy="2238300"/>
          </a:xfrm>
        </p:grpSpPr>
        <p:sp>
          <p:nvSpPr>
            <p:cNvPr id="1688" name="Google Shape;1688;p87"/>
            <p:cNvSpPr/>
            <p:nvPr/>
          </p:nvSpPr>
          <p:spPr>
            <a:xfrm>
              <a:off x="2130825" y="3361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87"/>
            <p:cNvSpPr/>
            <p:nvPr/>
          </p:nvSpPr>
          <p:spPr>
            <a:xfrm>
              <a:off x="2130825" y="9457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87"/>
            <p:cNvSpPr/>
            <p:nvPr/>
          </p:nvSpPr>
          <p:spPr>
            <a:xfrm>
              <a:off x="2130825" y="21649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87"/>
            <p:cNvSpPr/>
            <p:nvPr/>
          </p:nvSpPr>
          <p:spPr>
            <a:xfrm>
              <a:off x="2816625" y="9457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87"/>
            <p:cNvSpPr/>
            <p:nvPr/>
          </p:nvSpPr>
          <p:spPr>
            <a:xfrm>
              <a:off x="2816625" y="15553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87"/>
            <p:cNvSpPr/>
            <p:nvPr/>
          </p:nvSpPr>
          <p:spPr>
            <a:xfrm>
              <a:off x="2816625" y="21649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87"/>
            <p:cNvSpPr/>
            <p:nvPr/>
          </p:nvSpPr>
          <p:spPr>
            <a:xfrm>
              <a:off x="3502425" y="9457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87"/>
            <p:cNvSpPr/>
            <p:nvPr/>
          </p:nvSpPr>
          <p:spPr>
            <a:xfrm>
              <a:off x="3502425" y="15553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87"/>
            <p:cNvSpPr/>
            <p:nvPr/>
          </p:nvSpPr>
          <p:spPr>
            <a:xfrm>
              <a:off x="3502425" y="21649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7" name="Google Shape;1697;p87"/>
          <p:cNvSpPr/>
          <p:nvPr/>
        </p:nvSpPr>
        <p:spPr>
          <a:xfrm>
            <a:off x="5940825" y="3688925"/>
            <a:ext cx="489300" cy="409500"/>
          </a:xfrm>
          <a:prstGeom prst="ellipse">
            <a:avLst/>
          </a:prstGeom>
          <a:solidFill>
            <a:srgbClr val="2EDA2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8" name="Google Shape;1698;p87"/>
          <p:cNvGrpSpPr/>
          <p:nvPr/>
        </p:nvGrpSpPr>
        <p:grpSpPr>
          <a:xfrm>
            <a:off x="2816625" y="2469725"/>
            <a:ext cx="3003900" cy="2238300"/>
            <a:chOff x="2816625" y="2088725"/>
            <a:chExt cx="3003900" cy="2238300"/>
          </a:xfrm>
        </p:grpSpPr>
        <p:sp>
          <p:nvSpPr>
            <p:cNvPr id="1699" name="Google Shape;1699;p87"/>
            <p:cNvSpPr/>
            <p:nvPr/>
          </p:nvSpPr>
          <p:spPr>
            <a:xfrm>
              <a:off x="3502425" y="20887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87"/>
            <p:cNvSpPr/>
            <p:nvPr/>
          </p:nvSpPr>
          <p:spPr>
            <a:xfrm>
              <a:off x="3502425" y="26983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87"/>
            <p:cNvSpPr/>
            <p:nvPr/>
          </p:nvSpPr>
          <p:spPr>
            <a:xfrm>
              <a:off x="3502425" y="33079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87"/>
            <p:cNvSpPr/>
            <p:nvPr/>
          </p:nvSpPr>
          <p:spPr>
            <a:xfrm>
              <a:off x="4112025" y="20887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87"/>
            <p:cNvSpPr/>
            <p:nvPr/>
          </p:nvSpPr>
          <p:spPr>
            <a:xfrm>
              <a:off x="4112025" y="33079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87"/>
            <p:cNvSpPr/>
            <p:nvPr/>
          </p:nvSpPr>
          <p:spPr>
            <a:xfrm>
              <a:off x="4112025" y="39175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87"/>
            <p:cNvSpPr/>
            <p:nvPr/>
          </p:nvSpPr>
          <p:spPr>
            <a:xfrm>
              <a:off x="4721625" y="20887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87"/>
            <p:cNvSpPr/>
            <p:nvPr/>
          </p:nvSpPr>
          <p:spPr>
            <a:xfrm>
              <a:off x="4721625" y="26983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87"/>
            <p:cNvSpPr/>
            <p:nvPr/>
          </p:nvSpPr>
          <p:spPr>
            <a:xfrm>
              <a:off x="4721625" y="33079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87"/>
            <p:cNvSpPr/>
            <p:nvPr/>
          </p:nvSpPr>
          <p:spPr>
            <a:xfrm>
              <a:off x="5331225" y="26983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87"/>
            <p:cNvSpPr/>
            <p:nvPr/>
          </p:nvSpPr>
          <p:spPr>
            <a:xfrm>
              <a:off x="5331225" y="33079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87"/>
            <p:cNvSpPr/>
            <p:nvPr/>
          </p:nvSpPr>
          <p:spPr>
            <a:xfrm>
              <a:off x="5331225" y="39175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87"/>
            <p:cNvSpPr/>
            <p:nvPr/>
          </p:nvSpPr>
          <p:spPr>
            <a:xfrm>
              <a:off x="2816625" y="2088725"/>
              <a:ext cx="489300" cy="409500"/>
            </a:xfrm>
            <a:prstGeom prst="ellipse">
              <a:avLst/>
            </a:prstGeom>
            <a:solidFill>
              <a:srgbClr val="4285F4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2" name="Google Shape;1712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3" name="Google Shape;1713;p87"/>
          <p:cNvSpPr txBox="1"/>
          <p:nvPr/>
        </p:nvSpPr>
        <p:spPr>
          <a:xfrm>
            <a:off x="5482300" y="1260825"/>
            <a:ext cx="35874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Round robin.</a:t>
            </a:r>
            <a:br>
              <a:rPr lang="en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Threshold signature based.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14" name="Google Shape;1714;p87"/>
          <p:cNvSpPr/>
          <p:nvPr/>
        </p:nvSpPr>
        <p:spPr>
          <a:xfrm>
            <a:off x="2044525" y="1448925"/>
            <a:ext cx="2054100" cy="301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 1</a:t>
            </a:r>
            <a:endParaRPr sz="1500"/>
          </a:p>
        </p:txBody>
      </p:sp>
      <p:sp>
        <p:nvSpPr>
          <p:cNvPr id="1715" name="Google Shape;1715;p87"/>
          <p:cNvSpPr/>
          <p:nvPr/>
        </p:nvSpPr>
        <p:spPr>
          <a:xfrm>
            <a:off x="4101925" y="1448925"/>
            <a:ext cx="1695900" cy="301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 2</a:t>
            </a:r>
            <a:endParaRPr sz="1500"/>
          </a:p>
        </p:txBody>
      </p:sp>
      <p:sp>
        <p:nvSpPr>
          <p:cNvPr id="1716" name="Google Shape;1716;p87"/>
          <p:cNvSpPr/>
          <p:nvPr/>
        </p:nvSpPr>
        <p:spPr>
          <a:xfrm>
            <a:off x="5930725" y="1448925"/>
            <a:ext cx="1695900" cy="301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 3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with existing DAG based protocols</a:t>
            </a:r>
            <a:endParaRPr/>
          </a:p>
        </p:txBody>
      </p:sp>
      <p:sp>
        <p:nvSpPr>
          <p:cNvPr id="1722" name="Google Shape;1722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3" name="Google Shape;1723;p88"/>
          <p:cNvSpPr/>
          <p:nvPr/>
        </p:nvSpPr>
        <p:spPr>
          <a:xfrm>
            <a:off x="178175" y="1994650"/>
            <a:ext cx="2538000" cy="73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Cost of certification</a:t>
            </a:r>
            <a:endParaRPr sz="1700"/>
          </a:p>
        </p:txBody>
      </p:sp>
      <p:sp>
        <p:nvSpPr>
          <p:cNvPr id="1724" name="Google Shape;1724;p88"/>
          <p:cNvSpPr/>
          <p:nvPr/>
        </p:nvSpPr>
        <p:spPr>
          <a:xfrm>
            <a:off x="3226175" y="1994650"/>
            <a:ext cx="2538000" cy="73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High commit delay due to wave by wave design</a:t>
            </a:r>
            <a:endParaRPr sz="1700"/>
          </a:p>
        </p:txBody>
      </p:sp>
      <p:sp>
        <p:nvSpPr>
          <p:cNvPr id="1725" name="Google Shape;1725;p88"/>
          <p:cNvSpPr/>
          <p:nvPr/>
        </p:nvSpPr>
        <p:spPr>
          <a:xfrm>
            <a:off x="6350375" y="1994650"/>
            <a:ext cx="2538000" cy="73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High commit delay due to crashed validators</a:t>
            </a:r>
            <a:endParaRPr sz="1700"/>
          </a:p>
        </p:txBody>
      </p:sp>
      <p:sp>
        <p:nvSpPr>
          <p:cNvPr id="1726" name="Google Shape;1726;p88"/>
          <p:cNvSpPr/>
          <p:nvPr/>
        </p:nvSpPr>
        <p:spPr>
          <a:xfrm>
            <a:off x="178175" y="1994650"/>
            <a:ext cx="2538000" cy="731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Cost of certification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Equivocation in DAG based Consensus</a:t>
            </a:r>
            <a:endParaRPr/>
          </a:p>
        </p:txBody>
      </p:sp>
      <p:sp>
        <p:nvSpPr>
          <p:cNvPr id="1732" name="Google Shape;1732;p89"/>
          <p:cNvSpPr/>
          <p:nvPr/>
        </p:nvSpPr>
        <p:spPr>
          <a:xfrm>
            <a:off x="1191600" y="1865575"/>
            <a:ext cx="481800" cy="426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89"/>
          <p:cNvSpPr/>
          <p:nvPr/>
        </p:nvSpPr>
        <p:spPr>
          <a:xfrm>
            <a:off x="1191600" y="2475175"/>
            <a:ext cx="481800" cy="426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89"/>
          <p:cNvSpPr/>
          <p:nvPr/>
        </p:nvSpPr>
        <p:spPr>
          <a:xfrm>
            <a:off x="1191600" y="3084775"/>
            <a:ext cx="481800" cy="426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89"/>
          <p:cNvSpPr/>
          <p:nvPr/>
        </p:nvSpPr>
        <p:spPr>
          <a:xfrm>
            <a:off x="1191600" y="3694375"/>
            <a:ext cx="481800" cy="426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89"/>
          <p:cNvSpPr txBox="1"/>
          <p:nvPr/>
        </p:nvSpPr>
        <p:spPr>
          <a:xfrm>
            <a:off x="1244150" y="1310725"/>
            <a:ext cx="5145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737" name="Google Shape;1737;p89"/>
          <p:cNvGrpSpPr/>
          <p:nvPr/>
        </p:nvGrpSpPr>
        <p:grpSpPr>
          <a:xfrm>
            <a:off x="2463350" y="1310725"/>
            <a:ext cx="604500" cy="2810550"/>
            <a:chOff x="2463350" y="1310725"/>
            <a:chExt cx="604500" cy="2810550"/>
          </a:xfrm>
        </p:grpSpPr>
        <p:sp>
          <p:nvSpPr>
            <p:cNvPr id="1738" name="Google Shape;1738;p89"/>
            <p:cNvSpPr/>
            <p:nvPr/>
          </p:nvSpPr>
          <p:spPr>
            <a:xfrm>
              <a:off x="2487000" y="18655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89"/>
            <p:cNvSpPr/>
            <p:nvPr/>
          </p:nvSpPr>
          <p:spPr>
            <a:xfrm>
              <a:off x="2487000" y="24751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89"/>
            <p:cNvSpPr/>
            <p:nvPr/>
          </p:nvSpPr>
          <p:spPr>
            <a:xfrm>
              <a:off x="2487000" y="30847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89"/>
            <p:cNvSpPr/>
            <p:nvPr/>
          </p:nvSpPr>
          <p:spPr>
            <a:xfrm>
              <a:off x="2487000" y="36943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89"/>
            <p:cNvSpPr txBox="1"/>
            <p:nvPr/>
          </p:nvSpPr>
          <p:spPr>
            <a:xfrm>
              <a:off x="2463350" y="1310725"/>
              <a:ext cx="6045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r+1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743" name="Google Shape;1743;p89"/>
          <p:cNvGrpSpPr/>
          <p:nvPr/>
        </p:nvGrpSpPr>
        <p:grpSpPr>
          <a:xfrm>
            <a:off x="3758750" y="1310725"/>
            <a:ext cx="604500" cy="2810550"/>
            <a:chOff x="3682550" y="1310725"/>
            <a:chExt cx="604500" cy="2810550"/>
          </a:xfrm>
        </p:grpSpPr>
        <p:sp>
          <p:nvSpPr>
            <p:cNvPr id="1744" name="Google Shape;1744;p89"/>
            <p:cNvSpPr/>
            <p:nvPr/>
          </p:nvSpPr>
          <p:spPr>
            <a:xfrm>
              <a:off x="3706200" y="18655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89"/>
            <p:cNvSpPr/>
            <p:nvPr/>
          </p:nvSpPr>
          <p:spPr>
            <a:xfrm>
              <a:off x="3706200" y="24751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89"/>
            <p:cNvSpPr/>
            <p:nvPr/>
          </p:nvSpPr>
          <p:spPr>
            <a:xfrm>
              <a:off x="3706200" y="30847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89"/>
            <p:cNvSpPr/>
            <p:nvPr/>
          </p:nvSpPr>
          <p:spPr>
            <a:xfrm>
              <a:off x="3706200" y="36943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89"/>
            <p:cNvSpPr txBox="1"/>
            <p:nvPr/>
          </p:nvSpPr>
          <p:spPr>
            <a:xfrm>
              <a:off x="3682550" y="1310725"/>
              <a:ext cx="6045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r+2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749" name="Google Shape;1749;p89"/>
          <p:cNvGrpSpPr/>
          <p:nvPr/>
        </p:nvGrpSpPr>
        <p:grpSpPr>
          <a:xfrm>
            <a:off x="5054150" y="1310725"/>
            <a:ext cx="604500" cy="2810550"/>
            <a:chOff x="4977950" y="1310725"/>
            <a:chExt cx="604500" cy="2810550"/>
          </a:xfrm>
        </p:grpSpPr>
        <p:sp>
          <p:nvSpPr>
            <p:cNvPr id="1750" name="Google Shape;1750;p89"/>
            <p:cNvSpPr/>
            <p:nvPr/>
          </p:nvSpPr>
          <p:spPr>
            <a:xfrm>
              <a:off x="5001600" y="18655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89"/>
            <p:cNvSpPr/>
            <p:nvPr/>
          </p:nvSpPr>
          <p:spPr>
            <a:xfrm>
              <a:off x="5001600" y="24751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89"/>
            <p:cNvSpPr/>
            <p:nvPr/>
          </p:nvSpPr>
          <p:spPr>
            <a:xfrm>
              <a:off x="5001600" y="30847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89"/>
            <p:cNvSpPr/>
            <p:nvPr/>
          </p:nvSpPr>
          <p:spPr>
            <a:xfrm>
              <a:off x="5001600" y="36943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89"/>
            <p:cNvSpPr txBox="1"/>
            <p:nvPr/>
          </p:nvSpPr>
          <p:spPr>
            <a:xfrm>
              <a:off x="4977950" y="1310725"/>
              <a:ext cx="6045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r+3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755" name="Google Shape;1755;p89"/>
          <p:cNvGrpSpPr/>
          <p:nvPr/>
        </p:nvGrpSpPr>
        <p:grpSpPr>
          <a:xfrm>
            <a:off x="6349550" y="1310725"/>
            <a:ext cx="604500" cy="2810550"/>
            <a:chOff x="6273350" y="1310725"/>
            <a:chExt cx="604500" cy="2810550"/>
          </a:xfrm>
        </p:grpSpPr>
        <p:sp>
          <p:nvSpPr>
            <p:cNvPr id="1756" name="Google Shape;1756;p89"/>
            <p:cNvSpPr/>
            <p:nvPr/>
          </p:nvSpPr>
          <p:spPr>
            <a:xfrm>
              <a:off x="6297000" y="18655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89"/>
            <p:cNvSpPr/>
            <p:nvPr/>
          </p:nvSpPr>
          <p:spPr>
            <a:xfrm>
              <a:off x="6297000" y="24751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89"/>
            <p:cNvSpPr/>
            <p:nvPr/>
          </p:nvSpPr>
          <p:spPr>
            <a:xfrm>
              <a:off x="6297000" y="30847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89"/>
            <p:cNvSpPr/>
            <p:nvPr/>
          </p:nvSpPr>
          <p:spPr>
            <a:xfrm>
              <a:off x="6297000" y="36943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89"/>
            <p:cNvSpPr txBox="1"/>
            <p:nvPr/>
          </p:nvSpPr>
          <p:spPr>
            <a:xfrm>
              <a:off x="6273350" y="1310725"/>
              <a:ext cx="6045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r+4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761" name="Google Shape;1761;p89"/>
          <p:cNvGrpSpPr/>
          <p:nvPr/>
        </p:nvGrpSpPr>
        <p:grpSpPr>
          <a:xfrm>
            <a:off x="7644950" y="1310725"/>
            <a:ext cx="604500" cy="2810550"/>
            <a:chOff x="7568750" y="1310725"/>
            <a:chExt cx="604500" cy="2810550"/>
          </a:xfrm>
        </p:grpSpPr>
        <p:sp>
          <p:nvSpPr>
            <p:cNvPr id="1762" name="Google Shape;1762;p89"/>
            <p:cNvSpPr/>
            <p:nvPr/>
          </p:nvSpPr>
          <p:spPr>
            <a:xfrm>
              <a:off x="7592400" y="18655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89"/>
            <p:cNvSpPr/>
            <p:nvPr/>
          </p:nvSpPr>
          <p:spPr>
            <a:xfrm>
              <a:off x="7592400" y="24751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89"/>
            <p:cNvSpPr/>
            <p:nvPr/>
          </p:nvSpPr>
          <p:spPr>
            <a:xfrm>
              <a:off x="7592400" y="30847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89"/>
            <p:cNvSpPr/>
            <p:nvPr/>
          </p:nvSpPr>
          <p:spPr>
            <a:xfrm>
              <a:off x="7592400" y="36943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89"/>
            <p:cNvSpPr txBox="1"/>
            <p:nvPr/>
          </p:nvSpPr>
          <p:spPr>
            <a:xfrm>
              <a:off x="7568750" y="1310725"/>
              <a:ext cx="6045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767" name="Google Shape;1767;p89"/>
          <p:cNvGrpSpPr/>
          <p:nvPr/>
        </p:nvGrpSpPr>
        <p:grpSpPr>
          <a:xfrm>
            <a:off x="1673400" y="2079025"/>
            <a:ext cx="813600" cy="1828800"/>
            <a:chOff x="1673400" y="2079025"/>
            <a:chExt cx="813600" cy="1828800"/>
          </a:xfrm>
        </p:grpSpPr>
        <p:cxnSp>
          <p:nvCxnSpPr>
            <p:cNvPr id="1768" name="Google Shape;1768;p89"/>
            <p:cNvCxnSpPr>
              <a:stCxn id="1738" idx="2"/>
              <a:endCxn id="1732" idx="6"/>
            </p:cNvCxnSpPr>
            <p:nvPr/>
          </p:nvCxnSpPr>
          <p:spPr>
            <a:xfrm rot="10800000">
              <a:off x="1673400" y="20790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69" name="Google Shape;1769;p89"/>
            <p:cNvCxnSpPr>
              <a:stCxn id="1738" idx="2"/>
              <a:endCxn id="1733" idx="6"/>
            </p:cNvCxnSpPr>
            <p:nvPr/>
          </p:nvCxnSpPr>
          <p:spPr>
            <a:xfrm flipH="1">
              <a:off x="1673400" y="20790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70" name="Google Shape;1770;p89"/>
            <p:cNvCxnSpPr>
              <a:stCxn id="1738" idx="2"/>
              <a:endCxn id="1734" idx="6"/>
            </p:cNvCxnSpPr>
            <p:nvPr/>
          </p:nvCxnSpPr>
          <p:spPr>
            <a:xfrm flipH="1">
              <a:off x="1673400" y="20790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71" name="Google Shape;1771;p89"/>
            <p:cNvCxnSpPr>
              <a:stCxn id="1738" idx="2"/>
              <a:endCxn id="1735" idx="6"/>
            </p:cNvCxnSpPr>
            <p:nvPr/>
          </p:nvCxnSpPr>
          <p:spPr>
            <a:xfrm flipH="1">
              <a:off x="1673400" y="2079025"/>
              <a:ext cx="813600" cy="182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72" name="Google Shape;1772;p89"/>
            <p:cNvCxnSpPr>
              <a:stCxn id="1739" idx="2"/>
              <a:endCxn id="1732" idx="6"/>
            </p:cNvCxnSpPr>
            <p:nvPr/>
          </p:nvCxnSpPr>
          <p:spPr>
            <a:xfrm rot="10800000">
              <a:off x="1673400" y="20790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73" name="Google Shape;1773;p89"/>
            <p:cNvCxnSpPr>
              <a:stCxn id="1739" idx="2"/>
              <a:endCxn id="1733" idx="6"/>
            </p:cNvCxnSpPr>
            <p:nvPr/>
          </p:nvCxnSpPr>
          <p:spPr>
            <a:xfrm rot="10800000">
              <a:off x="1673400" y="26886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74" name="Google Shape;1774;p89"/>
            <p:cNvCxnSpPr>
              <a:stCxn id="1739" idx="2"/>
              <a:endCxn id="1734" idx="6"/>
            </p:cNvCxnSpPr>
            <p:nvPr/>
          </p:nvCxnSpPr>
          <p:spPr>
            <a:xfrm flipH="1">
              <a:off x="1673400" y="26886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75" name="Google Shape;1775;p89"/>
            <p:cNvCxnSpPr>
              <a:stCxn id="1739" idx="2"/>
              <a:endCxn id="1735" idx="6"/>
            </p:cNvCxnSpPr>
            <p:nvPr/>
          </p:nvCxnSpPr>
          <p:spPr>
            <a:xfrm flipH="1">
              <a:off x="1673400" y="26886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76" name="Google Shape;1776;p89"/>
            <p:cNvCxnSpPr>
              <a:stCxn id="1740" idx="2"/>
              <a:endCxn id="1732" idx="6"/>
            </p:cNvCxnSpPr>
            <p:nvPr/>
          </p:nvCxnSpPr>
          <p:spPr>
            <a:xfrm rot="10800000">
              <a:off x="1673400" y="20790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77" name="Google Shape;1777;p89"/>
            <p:cNvCxnSpPr>
              <a:stCxn id="1740" idx="2"/>
              <a:endCxn id="1733" idx="6"/>
            </p:cNvCxnSpPr>
            <p:nvPr/>
          </p:nvCxnSpPr>
          <p:spPr>
            <a:xfrm rot="10800000">
              <a:off x="1673400" y="26886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78" name="Google Shape;1778;p89"/>
            <p:cNvCxnSpPr>
              <a:stCxn id="1740" idx="2"/>
              <a:endCxn id="1734" idx="6"/>
            </p:cNvCxnSpPr>
            <p:nvPr/>
          </p:nvCxnSpPr>
          <p:spPr>
            <a:xfrm rot="10800000">
              <a:off x="1673400" y="32982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79" name="Google Shape;1779;p89"/>
            <p:cNvCxnSpPr>
              <a:stCxn id="1740" idx="2"/>
              <a:endCxn id="1735" idx="6"/>
            </p:cNvCxnSpPr>
            <p:nvPr/>
          </p:nvCxnSpPr>
          <p:spPr>
            <a:xfrm flipH="1">
              <a:off x="1673400" y="32982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80" name="Google Shape;1780;p89"/>
            <p:cNvCxnSpPr>
              <a:stCxn id="1741" idx="2"/>
              <a:endCxn id="1732" idx="6"/>
            </p:cNvCxnSpPr>
            <p:nvPr/>
          </p:nvCxnSpPr>
          <p:spPr>
            <a:xfrm rot="10800000">
              <a:off x="1673400" y="2079025"/>
              <a:ext cx="813600" cy="182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81" name="Google Shape;1781;p89"/>
            <p:cNvCxnSpPr>
              <a:stCxn id="1741" idx="2"/>
              <a:endCxn id="1733" idx="6"/>
            </p:cNvCxnSpPr>
            <p:nvPr/>
          </p:nvCxnSpPr>
          <p:spPr>
            <a:xfrm rot="10800000">
              <a:off x="1673400" y="26886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82" name="Google Shape;1782;p89"/>
            <p:cNvCxnSpPr>
              <a:stCxn id="1741" idx="2"/>
              <a:endCxn id="1734" idx="6"/>
            </p:cNvCxnSpPr>
            <p:nvPr/>
          </p:nvCxnSpPr>
          <p:spPr>
            <a:xfrm rot="10800000">
              <a:off x="1673400" y="32982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83" name="Google Shape;1783;p89"/>
            <p:cNvCxnSpPr>
              <a:stCxn id="1741" idx="2"/>
              <a:endCxn id="1735" idx="6"/>
            </p:cNvCxnSpPr>
            <p:nvPr/>
          </p:nvCxnSpPr>
          <p:spPr>
            <a:xfrm rot="10800000">
              <a:off x="1673400" y="39078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784" name="Google Shape;1784;p89"/>
          <p:cNvGrpSpPr/>
          <p:nvPr/>
        </p:nvGrpSpPr>
        <p:grpSpPr>
          <a:xfrm>
            <a:off x="2968800" y="2079025"/>
            <a:ext cx="813600" cy="1828800"/>
            <a:chOff x="1673400" y="2079025"/>
            <a:chExt cx="813600" cy="1828800"/>
          </a:xfrm>
        </p:grpSpPr>
        <p:cxnSp>
          <p:nvCxnSpPr>
            <p:cNvPr id="1785" name="Google Shape;1785;p89"/>
            <p:cNvCxnSpPr/>
            <p:nvPr/>
          </p:nvCxnSpPr>
          <p:spPr>
            <a:xfrm rot="10800000">
              <a:off x="1673400" y="20790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86" name="Google Shape;1786;p89"/>
            <p:cNvCxnSpPr/>
            <p:nvPr/>
          </p:nvCxnSpPr>
          <p:spPr>
            <a:xfrm flipH="1">
              <a:off x="1673400" y="20790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87" name="Google Shape;1787;p89"/>
            <p:cNvCxnSpPr/>
            <p:nvPr/>
          </p:nvCxnSpPr>
          <p:spPr>
            <a:xfrm flipH="1">
              <a:off x="1673400" y="20790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88" name="Google Shape;1788;p89"/>
            <p:cNvCxnSpPr/>
            <p:nvPr/>
          </p:nvCxnSpPr>
          <p:spPr>
            <a:xfrm flipH="1">
              <a:off x="1673400" y="2079025"/>
              <a:ext cx="813600" cy="182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89" name="Google Shape;1789;p89"/>
            <p:cNvCxnSpPr/>
            <p:nvPr/>
          </p:nvCxnSpPr>
          <p:spPr>
            <a:xfrm rot="10800000">
              <a:off x="1673400" y="20790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90" name="Google Shape;1790;p89"/>
            <p:cNvCxnSpPr/>
            <p:nvPr/>
          </p:nvCxnSpPr>
          <p:spPr>
            <a:xfrm rot="10800000">
              <a:off x="1673400" y="26886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91" name="Google Shape;1791;p89"/>
            <p:cNvCxnSpPr/>
            <p:nvPr/>
          </p:nvCxnSpPr>
          <p:spPr>
            <a:xfrm flipH="1">
              <a:off x="1673400" y="26886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92" name="Google Shape;1792;p89"/>
            <p:cNvCxnSpPr/>
            <p:nvPr/>
          </p:nvCxnSpPr>
          <p:spPr>
            <a:xfrm flipH="1">
              <a:off x="1673400" y="26886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93" name="Google Shape;1793;p89"/>
            <p:cNvCxnSpPr/>
            <p:nvPr/>
          </p:nvCxnSpPr>
          <p:spPr>
            <a:xfrm rot="10800000">
              <a:off x="1673400" y="20790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94" name="Google Shape;1794;p89"/>
            <p:cNvCxnSpPr/>
            <p:nvPr/>
          </p:nvCxnSpPr>
          <p:spPr>
            <a:xfrm rot="10800000">
              <a:off x="1673400" y="26886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95" name="Google Shape;1795;p89"/>
            <p:cNvCxnSpPr/>
            <p:nvPr/>
          </p:nvCxnSpPr>
          <p:spPr>
            <a:xfrm rot="10800000">
              <a:off x="1673400" y="32982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96" name="Google Shape;1796;p89"/>
            <p:cNvCxnSpPr/>
            <p:nvPr/>
          </p:nvCxnSpPr>
          <p:spPr>
            <a:xfrm flipH="1">
              <a:off x="1673400" y="32982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97" name="Google Shape;1797;p89"/>
            <p:cNvCxnSpPr/>
            <p:nvPr/>
          </p:nvCxnSpPr>
          <p:spPr>
            <a:xfrm rot="10800000">
              <a:off x="1673400" y="2079025"/>
              <a:ext cx="813600" cy="182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98" name="Google Shape;1798;p89"/>
            <p:cNvCxnSpPr/>
            <p:nvPr/>
          </p:nvCxnSpPr>
          <p:spPr>
            <a:xfrm rot="10800000">
              <a:off x="1673400" y="26886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99" name="Google Shape;1799;p89"/>
            <p:cNvCxnSpPr/>
            <p:nvPr/>
          </p:nvCxnSpPr>
          <p:spPr>
            <a:xfrm rot="10800000">
              <a:off x="1673400" y="32982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00" name="Google Shape;1800;p89"/>
            <p:cNvCxnSpPr/>
            <p:nvPr/>
          </p:nvCxnSpPr>
          <p:spPr>
            <a:xfrm rot="10800000">
              <a:off x="1673400" y="39078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801" name="Google Shape;1801;p89"/>
          <p:cNvGrpSpPr/>
          <p:nvPr/>
        </p:nvGrpSpPr>
        <p:grpSpPr>
          <a:xfrm>
            <a:off x="4264200" y="2079025"/>
            <a:ext cx="813600" cy="1828800"/>
            <a:chOff x="1673400" y="2079025"/>
            <a:chExt cx="813600" cy="1828800"/>
          </a:xfrm>
        </p:grpSpPr>
        <p:cxnSp>
          <p:nvCxnSpPr>
            <p:cNvPr id="1802" name="Google Shape;1802;p89"/>
            <p:cNvCxnSpPr/>
            <p:nvPr/>
          </p:nvCxnSpPr>
          <p:spPr>
            <a:xfrm rot="10800000">
              <a:off x="1673400" y="20790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03" name="Google Shape;1803;p89"/>
            <p:cNvCxnSpPr/>
            <p:nvPr/>
          </p:nvCxnSpPr>
          <p:spPr>
            <a:xfrm flipH="1">
              <a:off x="1673400" y="20790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04" name="Google Shape;1804;p89"/>
            <p:cNvCxnSpPr/>
            <p:nvPr/>
          </p:nvCxnSpPr>
          <p:spPr>
            <a:xfrm flipH="1">
              <a:off x="1673400" y="20790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05" name="Google Shape;1805;p89"/>
            <p:cNvCxnSpPr/>
            <p:nvPr/>
          </p:nvCxnSpPr>
          <p:spPr>
            <a:xfrm flipH="1">
              <a:off x="1673400" y="2079025"/>
              <a:ext cx="813600" cy="182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06" name="Google Shape;1806;p89"/>
            <p:cNvCxnSpPr/>
            <p:nvPr/>
          </p:nvCxnSpPr>
          <p:spPr>
            <a:xfrm rot="10800000">
              <a:off x="1673400" y="20790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07" name="Google Shape;1807;p89"/>
            <p:cNvCxnSpPr/>
            <p:nvPr/>
          </p:nvCxnSpPr>
          <p:spPr>
            <a:xfrm rot="10800000">
              <a:off x="1673400" y="26886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08" name="Google Shape;1808;p89"/>
            <p:cNvCxnSpPr/>
            <p:nvPr/>
          </p:nvCxnSpPr>
          <p:spPr>
            <a:xfrm flipH="1">
              <a:off x="1673400" y="26886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09" name="Google Shape;1809;p89"/>
            <p:cNvCxnSpPr/>
            <p:nvPr/>
          </p:nvCxnSpPr>
          <p:spPr>
            <a:xfrm flipH="1">
              <a:off x="1673400" y="26886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10" name="Google Shape;1810;p89"/>
            <p:cNvCxnSpPr/>
            <p:nvPr/>
          </p:nvCxnSpPr>
          <p:spPr>
            <a:xfrm rot="10800000">
              <a:off x="1673400" y="20790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11" name="Google Shape;1811;p89"/>
            <p:cNvCxnSpPr/>
            <p:nvPr/>
          </p:nvCxnSpPr>
          <p:spPr>
            <a:xfrm rot="10800000">
              <a:off x="1673400" y="26886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12" name="Google Shape;1812;p89"/>
            <p:cNvCxnSpPr/>
            <p:nvPr/>
          </p:nvCxnSpPr>
          <p:spPr>
            <a:xfrm rot="10800000">
              <a:off x="1673400" y="32982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13" name="Google Shape;1813;p89"/>
            <p:cNvCxnSpPr/>
            <p:nvPr/>
          </p:nvCxnSpPr>
          <p:spPr>
            <a:xfrm flipH="1">
              <a:off x="1673400" y="32982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14" name="Google Shape;1814;p89"/>
            <p:cNvCxnSpPr/>
            <p:nvPr/>
          </p:nvCxnSpPr>
          <p:spPr>
            <a:xfrm rot="10800000">
              <a:off x="1673400" y="2079025"/>
              <a:ext cx="813600" cy="182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15" name="Google Shape;1815;p89"/>
            <p:cNvCxnSpPr/>
            <p:nvPr/>
          </p:nvCxnSpPr>
          <p:spPr>
            <a:xfrm rot="10800000">
              <a:off x="1673400" y="26886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16" name="Google Shape;1816;p89"/>
            <p:cNvCxnSpPr/>
            <p:nvPr/>
          </p:nvCxnSpPr>
          <p:spPr>
            <a:xfrm rot="10800000">
              <a:off x="1673400" y="32982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17" name="Google Shape;1817;p89"/>
            <p:cNvCxnSpPr/>
            <p:nvPr/>
          </p:nvCxnSpPr>
          <p:spPr>
            <a:xfrm rot="10800000">
              <a:off x="1673400" y="39078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818" name="Google Shape;1818;p89"/>
          <p:cNvGrpSpPr/>
          <p:nvPr/>
        </p:nvGrpSpPr>
        <p:grpSpPr>
          <a:xfrm>
            <a:off x="5559600" y="2079025"/>
            <a:ext cx="813600" cy="1828800"/>
            <a:chOff x="1673400" y="2079025"/>
            <a:chExt cx="813600" cy="1828800"/>
          </a:xfrm>
        </p:grpSpPr>
        <p:cxnSp>
          <p:nvCxnSpPr>
            <p:cNvPr id="1819" name="Google Shape;1819;p89"/>
            <p:cNvCxnSpPr/>
            <p:nvPr/>
          </p:nvCxnSpPr>
          <p:spPr>
            <a:xfrm rot="10800000">
              <a:off x="1673400" y="20790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20" name="Google Shape;1820;p89"/>
            <p:cNvCxnSpPr/>
            <p:nvPr/>
          </p:nvCxnSpPr>
          <p:spPr>
            <a:xfrm flipH="1">
              <a:off x="1673400" y="20790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21" name="Google Shape;1821;p89"/>
            <p:cNvCxnSpPr/>
            <p:nvPr/>
          </p:nvCxnSpPr>
          <p:spPr>
            <a:xfrm flipH="1">
              <a:off x="1673400" y="20790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22" name="Google Shape;1822;p89"/>
            <p:cNvCxnSpPr/>
            <p:nvPr/>
          </p:nvCxnSpPr>
          <p:spPr>
            <a:xfrm flipH="1">
              <a:off x="1673400" y="2079025"/>
              <a:ext cx="813600" cy="182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23" name="Google Shape;1823;p89"/>
            <p:cNvCxnSpPr/>
            <p:nvPr/>
          </p:nvCxnSpPr>
          <p:spPr>
            <a:xfrm rot="10800000">
              <a:off x="1673400" y="20790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24" name="Google Shape;1824;p89"/>
            <p:cNvCxnSpPr/>
            <p:nvPr/>
          </p:nvCxnSpPr>
          <p:spPr>
            <a:xfrm rot="10800000">
              <a:off x="1673400" y="26886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25" name="Google Shape;1825;p89"/>
            <p:cNvCxnSpPr/>
            <p:nvPr/>
          </p:nvCxnSpPr>
          <p:spPr>
            <a:xfrm flipH="1">
              <a:off x="1673400" y="26886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26" name="Google Shape;1826;p89"/>
            <p:cNvCxnSpPr/>
            <p:nvPr/>
          </p:nvCxnSpPr>
          <p:spPr>
            <a:xfrm flipH="1">
              <a:off x="1673400" y="26886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27" name="Google Shape;1827;p89"/>
            <p:cNvCxnSpPr/>
            <p:nvPr/>
          </p:nvCxnSpPr>
          <p:spPr>
            <a:xfrm rot="10800000">
              <a:off x="1673400" y="20790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28" name="Google Shape;1828;p89"/>
            <p:cNvCxnSpPr/>
            <p:nvPr/>
          </p:nvCxnSpPr>
          <p:spPr>
            <a:xfrm rot="10800000">
              <a:off x="1673400" y="26886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29" name="Google Shape;1829;p89"/>
            <p:cNvCxnSpPr/>
            <p:nvPr/>
          </p:nvCxnSpPr>
          <p:spPr>
            <a:xfrm rot="10800000">
              <a:off x="1673400" y="32982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30" name="Google Shape;1830;p89"/>
            <p:cNvCxnSpPr/>
            <p:nvPr/>
          </p:nvCxnSpPr>
          <p:spPr>
            <a:xfrm flipH="1">
              <a:off x="1673400" y="32982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31" name="Google Shape;1831;p89"/>
            <p:cNvCxnSpPr/>
            <p:nvPr/>
          </p:nvCxnSpPr>
          <p:spPr>
            <a:xfrm rot="10800000">
              <a:off x="1673400" y="2079025"/>
              <a:ext cx="813600" cy="182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32" name="Google Shape;1832;p89"/>
            <p:cNvCxnSpPr/>
            <p:nvPr/>
          </p:nvCxnSpPr>
          <p:spPr>
            <a:xfrm rot="10800000">
              <a:off x="1673400" y="26886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33" name="Google Shape;1833;p89"/>
            <p:cNvCxnSpPr/>
            <p:nvPr/>
          </p:nvCxnSpPr>
          <p:spPr>
            <a:xfrm rot="10800000">
              <a:off x="1673400" y="32982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34" name="Google Shape;1834;p89"/>
            <p:cNvCxnSpPr/>
            <p:nvPr/>
          </p:nvCxnSpPr>
          <p:spPr>
            <a:xfrm rot="10800000">
              <a:off x="1673400" y="39078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835" name="Google Shape;1835;p89"/>
          <p:cNvGrpSpPr/>
          <p:nvPr/>
        </p:nvGrpSpPr>
        <p:grpSpPr>
          <a:xfrm>
            <a:off x="6855000" y="2079025"/>
            <a:ext cx="813600" cy="1828800"/>
            <a:chOff x="1673400" y="2079025"/>
            <a:chExt cx="813600" cy="1828800"/>
          </a:xfrm>
        </p:grpSpPr>
        <p:cxnSp>
          <p:nvCxnSpPr>
            <p:cNvPr id="1836" name="Google Shape;1836;p89"/>
            <p:cNvCxnSpPr/>
            <p:nvPr/>
          </p:nvCxnSpPr>
          <p:spPr>
            <a:xfrm rot="10800000">
              <a:off x="1673400" y="20790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37" name="Google Shape;1837;p89"/>
            <p:cNvCxnSpPr/>
            <p:nvPr/>
          </p:nvCxnSpPr>
          <p:spPr>
            <a:xfrm flipH="1">
              <a:off x="1673400" y="20790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38" name="Google Shape;1838;p89"/>
            <p:cNvCxnSpPr/>
            <p:nvPr/>
          </p:nvCxnSpPr>
          <p:spPr>
            <a:xfrm flipH="1">
              <a:off x="1673400" y="20790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39" name="Google Shape;1839;p89"/>
            <p:cNvCxnSpPr/>
            <p:nvPr/>
          </p:nvCxnSpPr>
          <p:spPr>
            <a:xfrm flipH="1">
              <a:off x="1673400" y="2079025"/>
              <a:ext cx="813600" cy="182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40" name="Google Shape;1840;p89"/>
            <p:cNvCxnSpPr/>
            <p:nvPr/>
          </p:nvCxnSpPr>
          <p:spPr>
            <a:xfrm rot="10800000">
              <a:off x="1673400" y="20790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41" name="Google Shape;1841;p89"/>
            <p:cNvCxnSpPr/>
            <p:nvPr/>
          </p:nvCxnSpPr>
          <p:spPr>
            <a:xfrm rot="10800000">
              <a:off x="1673400" y="26886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42" name="Google Shape;1842;p89"/>
            <p:cNvCxnSpPr/>
            <p:nvPr/>
          </p:nvCxnSpPr>
          <p:spPr>
            <a:xfrm flipH="1">
              <a:off x="1673400" y="26886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43" name="Google Shape;1843;p89"/>
            <p:cNvCxnSpPr/>
            <p:nvPr/>
          </p:nvCxnSpPr>
          <p:spPr>
            <a:xfrm flipH="1">
              <a:off x="1673400" y="26886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44" name="Google Shape;1844;p89"/>
            <p:cNvCxnSpPr/>
            <p:nvPr/>
          </p:nvCxnSpPr>
          <p:spPr>
            <a:xfrm rot="10800000">
              <a:off x="1673400" y="20790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45" name="Google Shape;1845;p89"/>
            <p:cNvCxnSpPr/>
            <p:nvPr/>
          </p:nvCxnSpPr>
          <p:spPr>
            <a:xfrm rot="10800000">
              <a:off x="1673400" y="26886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46" name="Google Shape;1846;p89"/>
            <p:cNvCxnSpPr/>
            <p:nvPr/>
          </p:nvCxnSpPr>
          <p:spPr>
            <a:xfrm rot="10800000">
              <a:off x="1673400" y="32982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47" name="Google Shape;1847;p89"/>
            <p:cNvCxnSpPr/>
            <p:nvPr/>
          </p:nvCxnSpPr>
          <p:spPr>
            <a:xfrm flipH="1">
              <a:off x="1673400" y="32982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48" name="Google Shape;1848;p89"/>
            <p:cNvCxnSpPr/>
            <p:nvPr/>
          </p:nvCxnSpPr>
          <p:spPr>
            <a:xfrm rot="10800000">
              <a:off x="1673400" y="2079025"/>
              <a:ext cx="813600" cy="182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49" name="Google Shape;1849;p89"/>
            <p:cNvCxnSpPr/>
            <p:nvPr/>
          </p:nvCxnSpPr>
          <p:spPr>
            <a:xfrm rot="10800000">
              <a:off x="1673400" y="2688625"/>
              <a:ext cx="81360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50" name="Google Shape;1850;p89"/>
            <p:cNvCxnSpPr/>
            <p:nvPr/>
          </p:nvCxnSpPr>
          <p:spPr>
            <a:xfrm rot="10800000">
              <a:off x="1673400" y="3298225"/>
              <a:ext cx="813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51" name="Google Shape;1851;p89"/>
            <p:cNvCxnSpPr/>
            <p:nvPr/>
          </p:nvCxnSpPr>
          <p:spPr>
            <a:xfrm rot="10800000">
              <a:off x="1673400" y="3907825"/>
              <a:ext cx="813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852" name="Google Shape;1852;p89"/>
          <p:cNvGrpSpPr/>
          <p:nvPr/>
        </p:nvGrpSpPr>
        <p:grpSpPr>
          <a:xfrm>
            <a:off x="1344000" y="1941775"/>
            <a:ext cx="5739600" cy="426900"/>
            <a:chOff x="1344000" y="1941775"/>
            <a:chExt cx="5739600" cy="426900"/>
          </a:xfrm>
        </p:grpSpPr>
        <p:sp>
          <p:nvSpPr>
            <p:cNvPr id="1853" name="Google Shape;1853;p89"/>
            <p:cNvSpPr/>
            <p:nvPr/>
          </p:nvSpPr>
          <p:spPr>
            <a:xfrm>
              <a:off x="1344000" y="1941775"/>
              <a:ext cx="481800" cy="4269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89"/>
            <p:cNvSpPr/>
            <p:nvPr/>
          </p:nvSpPr>
          <p:spPr>
            <a:xfrm>
              <a:off x="3934800" y="1941775"/>
              <a:ext cx="481800" cy="4269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89"/>
            <p:cNvSpPr/>
            <p:nvPr/>
          </p:nvSpPr>
          <p:spPr>
            <a:xfrm>
              <a:off x="6601800" y="1941775"/>
              <a:ext cx="481800" cy="4269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6" name="Google Shape;1856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equivocation using certificates</a:t>
            </a:r>
            <a:endParaRPr/>
          </a:p>
        </p:txBody>
      </p:sp>
      <p:sp>
        <p:nvSpPr>
          <p:cNvPr id="1862" name="Google Shape;1862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63" name="Google Shape;186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450" y="2414225"/>
            <a:ext cx="865850" cy="110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4" name="Google Shape;1864;p90"/>
          <p:cNvGrpSpPr/>
          <p:nvPr/>
        </p:nvGrpSpPr>
        <p:grpSpPr>
          <a:xfrm>
            <a:off x="1566800" y="2595650"/>
            <a:ext cx="879150" cy="571500"/>
            <a:chOff x="1566800" y="2595650"/>
            <a:chExt cx="879150" cy="571500"/>
          </a:xfrm>
        </p:grpSpPr>
        <p:sp>
          <p:nvSpPr>
            <p:cNvPr id="1865" name="Google Shape;1865;p90"/>
            <p:cNvSpPr/>
            <p:nvPr/>
          </p:nvSpPr>
          <p:spPr>
            <a:xfrm>
              <a:off x="1566800" y="2679750"/>
              <a:ext cx="378000" cy="393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66" name="Google Shape;1866;p90"/>
            <p:cNvCxnSpPr/>
            <p:nvPr/>
          </p:nvCxnSpPr>
          <p:spPr>
            <a:xfrm flipH="1" rot="10800000">
              <a:off x="1953650" y="2595650"/>
              <a:ext cx="492300" cy="272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67" name="Google Shape;1867;p90"/>
            <p:cNvCxnSpPr/>
            <p:nvPr/>
          </p:nvCxnSpPr>
          <p:spPr>
            <a:xfrm>
              <a:off x="1971225" y="2868050"/>
              <a:ext cx="457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68" name="Google Shape;1868;p90"/>
            <p:cNvCxnSpPr/>
            <p:nvPr/>
          </p:nvCxnSpPr>
          <p:spPr>
            <a:xfrm>
              <a:off x="1971225" y="2868050"/>
              <a:ext cx="378000" cy="29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869" name="Google Shape;1869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1825" y="1344650"/>
            <a:ext cx="865850" cy="11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0" name="Google Shape;1870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1825" y="2563850"/>
            <a:ext cx="865850" cy="11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1" name="Google Shape;1871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200" y="3783050"/>
            <a:ext cx="865850" cy="110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2" name="Google Shape;1872;p90"/>
          <p:cNvGrpSpPr/>
          <p:nvPr/>
        </p:nvGrpSpPr>
        <p:grpSpPr>
          <a:xfrm>
            <a:off x="6453825" y="1825850"/>
            <a:ext cx="774525" cy="2876850"/>
            <a:chOff x="6453825" y="1825850"/>
            <a:chExt cx="774525" cy="2876850"/>
          </a:xfrm>
        </p:grpSpPr>
        <p:grpSp>
          <p:nvGrpSpPr>
            <p:cNvPr id="1873" name="Google Shape;1873;p90"/>
            <p:cNvGrpSpPr/>
            <p:nvPr/>
          </p:nvGrpSpPr>
          <p:grpSpPr>
            <a:xfrm>
              <a:off x="6453825" y="1825850"/>
              <a:ext cx="774525" cy="514650"/>
              <a:chOff x="6453825" y="1825850"/>
              <a:chExt cx="774525" cy="514650"/>
            </a:xfrm>
          </p:grpSpPr>
          <p:pic>
            <p:nvPicPr>
              <p:cNvPr id="1874" name="Google Shape;1874;p9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592000" y="1825850"/>
                <a:ext cx="636350" cy="5146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75" name="Google Shape;1875;p90"/>
              <p:cNvSpPr/>
              <p:nvPr/>
            </p:nvSpPr>
            <p:spPr>
              <a:xfrm>
                <a:off x="6453825" y="1825850"/>
                <a:ext cx="378000" cy="393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76" name="Google Shape;1876;p90"/>
            <p:cNvGrpSpPr/>
            <p:nvPr/>
          </p:nvGrpSpPr>
          <p:grpSpPr>
            <a:xfrm>
              <a:off x="6453825" y="2892650"/>
              <a:ext cx="774525" cy="514650"/>
              <a:chOff x="6453825" y="1825850"/>
              <a:chExt cx="774525" cy="514650"/>
            </a:xfrm>
          </p:grpSpPr>
          <p:pic>
            <p:nvPicPr>
              <p:cNvPr id="1877" name="Google Shape;1877;p9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592000" y="1825850"/>
                <a:ext cx="636350" cy="5146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78" name="Google Shape;1878;p90"/>
              <p:cNvSpPr/>
              <p:nvPr/>
            </p:nvSpPr>
            <p:spPr>
              <a:xfrm>
                <a:off x="6453825" y="1825850"/>
                <a:ext cx="378000" cy="393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79" name="Google Shape;1879;p90"/>
            <p:cNvGrpSpPr/>
            <p:nvPr/>
          </p:nvGrpSpPr>
          <p:grpSpPr>
            <a:xfrm>
              <a:off x="6453825" y="4188050"/>
              <a:ext cx="774525" cy="514650"/>
              <a:chOff x="6453825" y="1825850"/>
              <a:chExt cx="774525" cy="514650"/>
            </a:xfrm>
          </p:grpSpPr>
          <p:pic>
            <p:nvPicPr>
              <p:cNvPr id="1880" name="Google Shape;1880;p9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592000" y="1825850"/>
                <a:ext cx="636350" cy="5146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81" name="Google Shape;1881;p90"/>
              <p:cNvSpPr/>
              <p:nvPr/>
            </p:nvSpPr>
            <p:spPr>
              <a:xfrm>
                <a:off x="6453825" y="1825850"/>
                <a:ext cx="378000" cy="3936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82" name="Google Shape;1882;p90"/>
          <p:cNvSpPr/>
          <p:nvPr/>
        </p:nvSpPr>
        <p:spPr>
          <a:xfrm>
            <a:off x="1577025" y="2664050"/>
            <a:ext cx="378000" cy="393600"/>
          </a:xfrm>
          <a:prstGeom prst="ellipse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90"/>
          <p:cNvSpPr/>
          <p:nvPr/>
        </p:nvSpPr>
        <p:spPr>
          <a:xfrm>
            <a:off x="2531400" y="2986825"/>
            <a:ext cx="2258700" cy="92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High Latency</a:t>
            </a:r>
            <a:endParaRPr sz="2000"/>
          </a:p>
        </p:txBody>
      </p:sp>
      <p:sp>
        <p:nvSpPr>
          <p:cNvPr id="1884" name="Google Shape;1884;p90"/>
          <p:cNvSpPr/>
          <p:nvPr/>
        </p:nvSpPr>
        <p:spPr>
          <a:xfrm>
            <a:off x="3351350" y="1764050"/>
            <a:ext cx="3140700" cy="87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High resource usage</a:t>
            </a:r>
            <a:endParaRPr sz="2000"/>
          </a:p>
        </p:txBody>
      </p:sp>
      <p:sp>
        <p:nvSpPr>
          <p:cNvPr id="1885" name="Google Shape;1885;p90"/>
          <p:cNvSpPr/>
          <p:nvPr/>
        </p:nvSpPr>
        <p:spPr>
          <a:xfrm>
            <a:off x="841300" y="1565100"/>
            <a:ext cx="1636800" cy="77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BFT Reliable Broadcast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with existing DAG based protocols</a:t>
            </a:r>
            <a:endParaRPr/>
          </a:p>
        </p:txBody>
      </p:sp>
      <p:sp>
        <p:nvSpPr>
          <p:cNvPr id="1891" name="Google Shape;1891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2" name="Google Shape;1892;p91"/>
          <p:cNvSpPr/>
          <p:nvPr/>
        </p:nvSpPr>
        <p:spPr>
          <a:xfrm>
            <a:off x="178175" y="1994650"/>
            <a:ext cx="2538000" cy="73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Cost of certification</a:t>
            </a:r>
            <a:endParaRPr sz="1700"/>
          </a:p>
        </p:txBody>
      </p:sp>
      <p:sp>
        <p:nvSpPr>
          <p:cNvPr id="1893" name="Google Shape;1893;p91"/>
          <p:cNvSpPr/>
          <p:nvPr/>
        </p:nvSpPr>
        <p:spPr>
          <a:xfrm>
            <a:off x="3226175" y="1994650"/>
            <a:ext cx="2538000" cy="73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High commit delay due to wave by wave design</a:t>
            </a:r>
            <a:endParaRPr sz="1700"/>
          </a:p>
        </p:txBody>
      </p:sp>
      <p:sp>
        <p:nvSpPr>
          <p:cNvPr id="1894" name="Google Shape;1894;p91"/>
          <p:cNvSpPr/>
          <p:nvPr/>
        </p:nvSpPr>
        <p:spPr>
          <a:xfrm>
            <a:off x="6350375" y="1994650"/>
            <a:ext cx="2538000" cy="73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High commit delay due to crashed validators</a:t>
            </a:r>
            <a:endParaRPr sz="1700"/>
          </a:p>
        </p:txBody>
      </p:sp>
      <p:sp>
        <p:nvSpPr>
          <p:cNvPr id="1895" name="Google Shape;1895;p91"/>
          <p:cNvSpPr/>
          <p:nvPr/>
        </p:nvSpPr>
        <p:spPr>
          <a:xfrm>
            <a:off x="3226175" y="1994650"/>
            <a:ext cx="2538000" cy="731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High commit delay due to wave by wave design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Relative distance to the next committed leader</a:t>
            </a:r>
            <a:endParaRPr/>
          </a:p>
        </p:txBody>
      </p:sp>
      <p:grpSp>
        <p:nvGrpSpPr>
          <p:cNvPr id="1901" name="Google Shape;1901;p92"/>
          <p:cNvGrpSpPr/>
          <p:nvPr/>
        </p:nvGrpSpPr>
        <p:grpSpPr>
          <a:xfrm>
            <a:off x="2130825" y="1369650"/>
            <a:ext cx="566182" cy="2957375"/>
            <a:chOff x="2130825" y="1369650"/>
            <a:chExt cx="566182" cy="2957375"/>
          </a:xfrm>
        </p:grpSpPr>
        <p:sp>
          <p:nvSpPr>
            <p:cNvPr id="1902" name="Google Shape;1902;p92"/>
            <p:cNvSpPr txBox="1"/>
            <p:nvPr/>
          </p:nvSpPr>
          <p:spPr>
            <a:xfrm>
              <a:off x="2207707" y="1369650"/>
              <a:ext cx="4893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903" name="Google Shape;1903;p92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92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92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92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7" name="Google Shape;1907;p92"/>
          <p:cNvGrpSpPr/>
          <p:nvPr/>
        </p:nvGrpSpPr>
        <p:grpSpPr>
          <a:xfrm>
            <a:off x="2816625" y="1369650"/>
            <a:ext cx="566774" cy="2957375"/>
            <a:chOff x="2130825" y="1369650"/>
            <a:chExt cx="566774" cy="2957375"/>
          </a:xfrm>
        </p:grpSpPr>
        <p:sp>
          <p:nvSpPr>
            <p:cNvPr id="1908" name="Google Shape;1908;p92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r+1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909" name="Google Shape;1909;p92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92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92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92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3" name="Google Shape;1913;p92"/>
          <p:cNvGrpSpPr/>
          <p:nvPr/>
        </p:nvGrpSpPr>
        <p:grpSpPr>
          <a:xfrm>
            <a:off x="3502425" y="1369650"/>
            <a:ext cx="566774" cy="2957375"/>
            <a:chOff x="2130825" y="1369650"/>
            <a:chExt cx="566774" cy="2957375"/>
          </a:xfrm>
        </p:grpSpPr>
        <p:sp>
          <p:nvSpPr>
            <p:cNvPr id="1914" name="Google Shape;1914;p92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915" name="Google Shape;1915;p92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92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92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92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9" name="Google Shape;1919;p92"/>
          <p:cNvSpPr/>
          <p:nvPr/>
        </p:nvSpPr>
        <p:spPr>
          <a:xfrm>
            <a:off x="2130825" y="3307925"/>
            <a:ext cx="489300" cy="409500"/>
          </a:xfrm>
          <a:prstGeom prst="ellipse">
            <a:avLst/>
          </a:prstGeom>
          <a:solidFill>
            <a:srgbClr val="2EDA2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0" name="Google Shape;1920;p92"/>
          <p:cNvGrpSpPr/>
          <p:nvPr/>
        </p:nvGrpSpPr>
        <p:grpSpPr>
          <a:xfrm>
            <a:off x="4112025" y="1369650"/>
            <a:ext cx="566774" cy="2957375"/>
            <a:chOff x="2130825" y="1369650"/>
            <a:chExt cx="566774" cy="2957375"/>
          </a:xfrm>
        </p:grpSpPr>
        <p:sp>
          <p:nvSpPr>
            <p:cNvPr id="1921" name="Google Shape;1921;p92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r+3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922" name="Google Shape;1922;p92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92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92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92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6" name="Google Shape;1926;p92"/>
          <p:cNvGrpSpPr/>
          <p:nvPr/>
        </p:nvGrpSpPr>
        <p:grpSpPr>
          <a:xfrm>
            <a:off x="4721625" y="1369650"/>
            <a:ext cx="566774" cy="2957375"/>
            <a:chOff x="2130825" y="1369650"/>
            <a:chExt cx="566774" cy="2957375"/>
          </a:xfrm>
        </p:grpSpPr>
        <p:sp>
          <p:nvSpPr>
            <p:cNvPr id="1927" name="Google Shape;1927;p92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r+4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928" name="Google Shape;1928;p92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92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92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92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2" name="Google Shape;1932;p92"/>
          <p:cNvGrpSpPr/>
          <p:nvPr/>
        </p:nvGrpSpPr>
        <p:grpSpPr>
          <a:xfrm>
            <a:off x="5331225" y="1369650"/>
            <a:ext cx="566774" cy="2957375"/>
            <a:chOff x="2130825" y="1369650"/>
            <a:chExt cx="566774" cy="2957375"/>
          </a:xfrm>
        </p:grpSpPr>
        <p:sp>
          <p:nvSpPr>
            <p:cNvPr id="1933" name="Google Shape;1933;p92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r+5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934" name="Google Shape;1934;p92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92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92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92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8" name="Google Shape;1938;p92"/>
          <p:cNvSpPr/>
          <p:nvPr/>
        </p:nvSpPr>
        <p:spPr>
          <a:xfrm>
            <a:off x="4112025" y="2698325"/>
            <a:ext cx="489300" cy="409500"/>
          </a:xfrm>
          <a:prstGeom prst="ellipse">
            <a:avLst/>
          </a:prstGeom>
          <a:solidFill>
            <a:srgbClr val="2EDA2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9" name="Google Shape;1939;p92"/>
          <p:cNvGrpSpPr/>
          <p:nvPr/>
        </p:nvGrpSpPr>
        <p:grpSpPr>
          <a:xfrm>
            <a:off x="2130825" y="2088725"/>
            <a:ext cx="1860900" cy="2238300"/>
            <a:chOff x="2130825" y="336125"/>
            <a:chExt cx="1860900" cy="2238300"/>
          </a:xfrm>
        </p:grpSpPr>
        <p:sp>
          <p:nvSpPr>
            <p:cNvPr id="1940" name="Google Shape;1940;p92"/>
            <p:cNvSpPr/>
            <p:nvPr/>
          </p:nvSpPr>
          <p:spPr>
            <a:xfrm>
              <a:off x="2130825" y="3361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92"/>
            <p:cNvSpPr/>
            <p:nvPr/>
          </p:nvSpPr>
          <p:spPr>
            <a:xfrm>
              <a:off x="2130825" y="9457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92"/>
            <p:cNvSpPr/>
            <p:nvPr/>
          </p:nvSpPr>
          <p:spPr>
            <a:xfrm>
              <a:off x="2130825" y="21649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92"/>
            <p:cNvSpPr/>
            <p:nvPr/>
          </p:nvSpPr>
          <p:spPr>
            <a:xfrm>
              <a:off x="2816625" y="9457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92"/>
            <p:cNvSpPr/>
            <p:nvPr/>
          </p:nvSpPr>
          <p:spPr>
            <a:xfrm>
              <a:off x="2816625" y="15553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92"/>
            <p:cNvSpPr/>
            <p:nvPr/>
          </p:nvSpPr>
          <p:spPr>
            <a:xfrm>
              <a:off x="2816625" y="21649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92"/>
            <p:cNvSpPr/>
            <p:nvPr/>
          </p:nvSpPr>
          <p:spPr>
            <a:xfrm>
              <a:off x="3502425" y="9457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92"/>
            <p:cNvSpPr/>
            <p:nvPr/>
          </p:nvSpPr>
          <p:spPr>
            <a:xfrm>
              <a:off x="3502425" y="15553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92"/>
            <p:cNvSpPr/>
            <p:nvPr/>
          </p:nvSpPr>
          <p:spPr>
            <a:xfrm>
              <a:off x="3502425" y="21649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9" name="Google Shape;1949;p92"/>
          <p:cNvSpPr/>
          <p:nvPr/>
        </p:nvSpPr>
        <p:spPr>
          <a:xfrm>
            <a:off x="2816625" y="2088725"/>
            <a:ext cx="489300" cy="4095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0" name="Google Shape;1950;p92"/>
          <p:cNvGrpSpPr/>
          <p:nvPr/>
        </p:nvGrpSpPr>
        <p:grpSpPr>
          <a:xfrm>
            <a:off x="5940825" y="1369650"/>
            <a:ext cx="566774" cy="2957375"/>
            <a:chOff x="2130825" y="1369650"/>
            <a:chExt cx="566774" cy="2957375"/>
          </a:xfrm>
        </p:grpSpPr>
        <p:sp>
          <p:nvSpPr>
            <p:cNvPr id="1951" name="Google Shape;1951;p92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r+6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952" name="Google Shape;1952;p92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92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92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92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6" name="Google Shape;1956;p92"/>
          <p:cNvGrpSpPr/>
          <p:nvPr/>
        </p:nvGrpSpPr>
        <p:grpSpPr>
          <a:xfrm>
            <a:off x="6550425" y="1369650"/>
            <a:ext cx="566774" cy="2957375"/>
            <a:chOff x="2130825" y="1369650"/>
            <a:chExt cx="566774" cy="2957375"/>
          </a:xfrm>
        </p:grpSpPr>
        <p:sp>
          <p:nvSpPr>
            <p:cNvPr id="1957" name="Google Shape;1957;p92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r+7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958" name="Google Shape;1958;p92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92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92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92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2" name="Google Shape;1962;p92"/>
          <p:cNvGrpSpPr/>
          <p:nvPr/>
        </p:nvGrpSpPr>
        <p:grpSpPr>
          <a:xfrm>
            <a:off x="7160025" y="1369650"/>
            <a:ext cx="566774" cy="2957375"/>
            <a:chOff x="2130825" y="1369650"/>
            <a:chExt cx="566774" cy="2957375"/>
          </a:xfrm>
        </p:grpSpPr>
        <p:sp>
          <p:nvSpPr>
            <p:cNvPr id="1963" name="Google Shape;1963;p92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r+8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964" name="Google Shape;1964;p92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92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92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92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8" name="Google Shape;1968;p92"/>
          <p:cNvSpPr/>
          <p:nvPr/>
        </p:nvSpPr>
        <p:spPr>
          <a:xfrm>
            <a:off x="5940825" y="3307925"/>
            <a:ext cx="489300" cy="409500"/>
          </a:xfrm>
          <a:prstGeom prst="ellipse">
            <a:avLst/>
          </a:prstGeom>
          <a:solidFill>
            <a:srgbClr val="2EDA2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69" name="Google Shape;1969;p92"/>
          <p:cNvGrpSpPr/>
          <p:nvPr/>
        </p:nvGrpSpPr>
        <p:grpSpPr>
          <a:xfrm>
            <a:off x="2816625" y="2088725"/>
            <a:ext cx="3003900" cy="2238300"/>
            <a:chOff x="2816625" y="2088725"/>
            <a:chExt cx="3003900" cy="2238300"/>
          </a:xfrm>
        </p:grpSpPr>
        <p:sp>
          <p:nvSpPr>
            <p:cNvPr id="1970" name="Google Shape;1970;p92"/>
            <p:cNvSpPr/>
            <p:nvPr/>
          </p:nvSpPr>
          <p:spPr>
            <a:xfrm>
              <a:off x="3502425" y="20887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92"/>
            <p:cNvSpPr/>
            <p:nvPr/>
          </p:nvSpPr>
          <p:spPr>
            <a:xfrm>
              <a:off x="3502425" y="26983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92"/>
            <p:cNvSpPr/>
            <p:nvPr/>
          </p:nvSpPr>
          <p:spPr>
            <a:xfrm>
              <a:off x="3502425" y="33079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92"/>
            <p:cNvSpPr/>
            <p:nvPr/>
          </p:nvSpPr>
          <p:spPr>
            <a:xfrm>
              <a:off x="4112025" y="20887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92"/>
            <p:cNvSpPr/>
            <p:nvPr/>
          </p:nvSpPr>
          <p:spPr>
            <a:xfrm>
              <a:off x="4112025" y="33079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92"/>
            <p:cNvSpPr/>
            <p:nvPr/>
          </p:nvSpPr>
          <p:spPr>
            <a:xfrm>
              <a:off x="4112025" y="39175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92"/>
            <p:cNvSpPr/>
            <p:nvPr/>
          </p:nvSpPr>
          <p:spPr>
            <a:xfrm>
              <a:off x="4721625" y="20887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92"/>
            <p:cNvSpPr/>
            <p:nvPr/>
          </p:nvSpPr>
          <p:spPr>
            <a:xfrm>
              <a:off x="4721625" y="26983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92"/>
            <p:cNvSpPr/>
            <p:nvPr/>
          </p:nvSpPr>
          <p:spPr>
            <a:xfrm>
              <a:off x="4721625" y="33079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92"/>
            <p:cNvSpPr/>
            <p:nvPr/>
          </p:nvSpPr>
          <p:spPr>
            <a:xfrm>
              <a:off x="5331225" y="26983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92"/>
            <p:cNvSpPr/>
            <p:nvPr/>
          </p:nvSpPr>
          <p:spPr>
            <a:xfrm>
              <a:off x="5331225" y="33079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92"/>
            <p:cNvSpPr/>
            <p:nvPr/>
          </p:nvSpPr>
          <p:spPr>
            <a:xfrm>
              <a:off x="5331225" y="39175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92"/>
            <p:cNvSpPr/>
            <p:nvPr/>
          </p:nvSpPr>
          <p:spPr>
            <a:xfrm>
              <a:off x="2816625" y="2088725"/>
              <a:ext cx="489300" cy="409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3" name="Google Shape;1983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4" name="Google Shape;1984;p92"/>
          <p:cNvSpPr/>
          <p:nvPr/>
        </p:nvSpPr>
        <p:spPr>
          <a:xfrm>
            <a:off x="1968325" y="1144125"/>
            <a:ext cx="2054100" cy="301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 1</a:t>
            </a:r>
            <a:endParaRPr sz="1500"/>
          </a:p>
        </p:txBody>
      </p:sp>
      <p:sp>
        <p:nvSpPr>
          <p:cNvPr id="1985" name="Google Shape;1985;p92"/>
          <p:cNvSpPr/>
          <p:nvPr/>
        </p:nvSpPr>
        <p:spPr>
          <a:xfrm>
            <a:off x="4101925" y="1144125"/>
            <a:ext cx="1718700" cy="301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 2</a:t>
            </a:r>
            <a:endParaRPr sz="1500"/>
          </a:p>
        </p:txBody>
      </p:sp>
      <p:sp>
        <p:nvSpPr>
          <p:cNvPr id="1986" name="Google Shape;1986;p92"/>
          <p:cNvSpPr/>
          <p:nvPr/>
        </p:nvSpPr>
        <p:spPr>
          <a:xfrm>
            <a:off x="5854525" y="1144125"/>
            <a:ext cx="1860900" cy="301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 3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p9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with existing DAG based protocols</a:t>
            </a:r>
            <a:endParaRPr/>
          </a:p>
        </p:txBody>
      </p:sp>
      <p:sp>
        <p:nvSpPr>
          <p:cNvPr id="1992" name="Google Shape;1992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3" name="Google Shape;1993;p93"/>
          <p:cNvSpPr/>
          <p:nvPr/>
        </p:nvSpPr>
        <p:spPr>
          <a:xfrm>
            <a:off x="178175" y="1994650"/>
            <a:ext cx="2538000" cy="73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Cost of certification</a:t>
            </a:r>
            <a:endParaRPr sz="1700"/>
          </a:p>
        </p:txBody>
      </p:sp>
      <p:sp>
        <p:nvSpPr>
          <p:cNvPr id="1994" name="Google Shape;1994;p93"/>
          <p:cNvSpPr/>
          <p:nvPr/>
        </p:nvSpPr>
        <p:spPr>
          <a:xfrm>
            <a:off x="3226175" y="1994650"/>
            <a:ext cx="2538000" cy="73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High commit delay due to wave by wave design</a:t>
            </a:r>
            <a:endParaRPr sz="1700"/>
          </a:p>
        </p:txBody>
      </p:sp>
      <p:sp>
        <p:nvSpPr>
          <p:cNvPr id="1995" name="Google Shape;1995;p93"/>
          <p:cNvSpPr/>
          <p:nvPr/>
        </p:nvSpPr>
        <p:spPr>
          <a:xfrm>
            <a:off x="6350375" y="1994650"/>
            <a:ext cx="2538000" cy="731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High commit delay due to crashed validators</a:t>
            </a:r>
            <a:endParaRPr sz="1700"/>
          </a:p>
        </p:txBody>
      </p:sp>
      <p:sp>
        <p:nvSpPr>
          <p:cNvPr id="1996" name="Google Shape;1996;p93"/>
          <p:cNvSpPr/>
          <p:nvPr/>
        </p:nvSpPr>
        <p:spPr>
          <a:xfrm>
            <a:off x="6350375" y="1994650"/>
            <a:ext cx="2538000" cy="731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High commit delay due to crashed validators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Crash failures increase commit latency</a:t>
            </a:r>
            <a:endParaRPr/>
          </a:p>
        </p:txBody>
      </p:sp>
      <p:grpSp>
        <p:nvGrpSpPr>
          <p:cNvPr id="2002" name="Google Shape;2002;p94"/>
          <p:cNvGrpSpPr/>
          <p:nvPr/>
        </p:nvGrpSpPr>
        <p:grpSpPr>
          <a:xfrm>
            <a:off x="1702450" y="1310725"/>
            <a:ext cx="609919" cy="2910225"/>
            <a:chOff x="1702450" y="1310725"/>
            <a:chExt cx="609919" cy="2910225"/>
          </a:xfrm>
        </p:grpSpPr>
        <p:sp>
          <p:nvSpPr>
            <p:cNvPr id="2003" name="Google Shape;2003;p94"/>
            <p:cNvSpPr txBox="1"/>
            <p:nvPr/>
          </p:nvSpPr>
          <p:spPr>
            <a:xfrm>
              <a:off x="1848569" y="1310725"/>
              <a:ext cx="4638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004" name="Google Shape;2004;p94"/>
            <p:cNvSpPr/>
            <p:nvPr/>
          </p:nvSpPr>
          <p:spPr>
            <a:xfrm>
              <a:off x="1702450" y="19580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94"/>
            <p:cNvSpPr/>
            <p:nvPr/>
          </p:nvSpPr>
          <p:spPr>
            <a:xfrm>
              <a:off x="1702450" y="25676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94"/>
            <p:cNvSpPr/>
            <p:nvPr/>
          </p:nvSpPr>
          <p:spPr>
            <a:xfrm>
              <a:off x="1702450" y="31772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94"/>
            <p:cNvSpPr/>
            <p:nvPr/>
          </p:nvSpPr>
          <p:spPr>
            <a:xfrm>
              <a:off x="1702450" y="37868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8" name="Google Shape;2008;p94"/>
          <p:cNvGrpSpPr/>
          <p:nvPr/>
        </p:nvGrpSpPr>
        <p:grpSpPr>
          <a:xfrm>
            <a:off x="2388250" y="1310725"/>
            <a:ext cx="609901" cy="2910225"/>
            <a:chOff x="1702450" y="1310725"/>
            <a:chExt cx="609901" cy="2910225"/>
          </a:xfrm>
        </p:grpSpPr>
        <p:sp>
          <p:nvSpPr>
            <p:cNvPr id="2009" name="Google Shape;2009;p94"/>
            <p:cNvSpPr txBox="1"/>
            <p:nvPr/>
          </p:nvSpPr>
          <p:spPr>
            <a:xfrm>
              <a:off x="1702451" y="1310725"/>
              <a:ext cx="6099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r+1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010" name="Google Shape;2010;p94"/>
            <p:cNvSpPr/>
            <p:nvPr/>
          </p:nvSpPr>
          <p:spPr>
            <a:xfrm>
              <a:off x="1702450" y="19580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94"/>
            <p:cNvSpPr/>
            <p:nvPr/>
          </p:nvSpPr>
          <p:spPr>
            <a:xfrm>
              <a:off x="1702450" y="25676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94"/>
            <p:cNvSpPr/>
            <p:nvPr/>
          </p:nvSpPr>
          <p:spPr>
            <a:xfrm>
              <a:off x="1702450" y="31772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94"/>
            <p:cNvSpPr/>
            <p:nvPr/>
          </p:nvSpPr>
          <p:spPr>
            <a:xfrm>
              <a:off x="1702450" y="37868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4" name="Google Shape;2014;p94"/>
          <p:cNvGrpSpPr/>
          <p:nvPr/>
        </p:nvGrpSpPr>
        <p:grpSpPr>
          <a:xfrm>
            <a:off x="3074050" y="1310725"/>
            <a:ext cx="609901" cy="2910225"/>
            <a:chOff x="1702450" y="1310725"/>
            <a:chExt cx="609901" cy="2910225"/>
          </a:xfrm>
        </p:grpSpPr>
        <p:sp>
          <p:nvSpPr>
            <p:cNvPr id="2015" name="Google Shape;2015;p94"/>
            <p:cNvSpPr txBox="1"/>
            <p:nvPr/>
          </p:nvSpPr>
          <p:spPr>
            <a:xfrm>
              <a:off x="1702451" y="1310725"/>
              <a:ext cx="6099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r+2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016" name="Google Shape;2016;p94"/>
            <p:cNvSpPr/>
            <p:nvPr/>
          </p:nvSpPr>
          <p:spPr>
            <a:xfrm>
              <a:off x="1702450" y="19580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94"/>
            <p:cNvSpPr/>
            <p:nvPr/>
          </p:nvSpPr>
          <p:spPr>
            <a:xfrm>
              <a:off x="1702450" y="25676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94"/>
            <p:cNvSpPr/>
            <p:nvPr/>
          </p:nvSpPr>
          <p:spPr>
            <a:xfrm>
              <a:off x="1702450" y="31772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94"/>
            <p:cNvSpPr/>
            <p:nvPr/>
          </p:nvSpPr>
          <p:spPr>
            <a:xfrm>
              <a:off x="1702450" y="37868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20" name="Google Shape;2020;p94"/>
          <p:cNvSpPr/>
          <p:nvPr/>
        </p:nvSpPr>
        <p:spPr>
          <a:xfrm>
            <a:off x="1702450" y="2567650"/>
            <a:ext cx="514500" cy="434100"/>
          </a:xfrm>
          <a:prstGeom prst="ellipse">
            <a:avLst/>
          </a:prstGeom>
          <a:solidFill>
            <a:srgbClr val="2EDA2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1" name="Google Shape;2021;p94"/>
          <p:cNvGrpSpPr/>
          <p:nvPr/>
        </p:nvGrpSpPr>
        <p:grpSpPr>
          <a:xfrm>
            <a:off x="3759850" y="1310725"/>
            <a:ext cx="609901" cy="2910225"/>
            <a:chOff x="1702450" y="1310725"/>
            <a:chExt cx="609901" cy="2910225"/>
          </a:xfrm>
        </p:grpSpPr>
        <p:sp>
          <p:nvSpPr>
            <p:cNvPr id="2022" name="Google Shape;2022;p94"/>
            <p:cNvSpPr txBox="1"/>
            <p:nvPr/>
          </p:nvSpPr>
          <p:spPr>
            <a:xfrm>
              <a:off x="1702451" y="1310725"/>
              <a:ext cx="6099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r+3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023" name="Google Shape;2023;p94"/>
            <p:cNvSpPr/>
            <p:nvPr/>
          </p:nvSpPr>
          <p:spPr>
            <a:xfrm>
              <a:off x="1702450" y="19580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94"/>
            <p:cNvSpPr/>
            <p:nvPr/>
          </p:nvSpPr>
          <p:spPr>
            <a:xfrm>
              <a:off x="1702450" y="25676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94"/>
            <p:cNvSpPr/>
            <p:nvPr/>
          </p:nvSpPr>
          <p:spPr>
            <a:xfrm>
              <a:off x="1702450" y="31772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94"/>
            <p:cNvSpPr/>
            <p:nvPr/>
          </p:nvSpPr>
          <p:spPr>
            <a:xfrm>
              <a:off x="1702450" y="37868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7" name="Google Shape;2027;p94"/>
          <p:cNvGrpSpPr/>
          <p:nvPr/>
        </p:nvGrpSpPr>
        <p:grpSpPr>
          <a:xfrm>
            <a:off x="4369450" y="1310725"/>
            <a:ext cx="609901" cy="2910225"/>
            <a:chOff x="1702450" y="1310725"/>
            <a:chExt cx="609901" cy="2910225"/>
          </a:xfrm>
        </p:grpSpPr>
        <p:sp>
          <p:nvSpPr>
            <p:cNvPr id="2028" name="Google Shape;2028;p94"/>
            <p:cNvSpPr txBox="1"/>
            <p:nvPr/>
          </p:nvSpPr>
          <p:spPr>
            <a:xfrm>
              <a:off x="1702451" y="1310725"/>
              <a:ext cx="6099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r+4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029" name="Google Shape;2029;p94"/>
            <p:cNvSpPr/>
            <p:nvPr/>
          </p:nvSpPr>
          <p:spPr>
            <a:xfrm>
              <a:off x="1702450" y="19580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94"/>
            <p:cNvSpPr/>
            <p:nvPr/>
          </p:nvSpPr>
          <p:spPr>
            <a:xfrm>
              <a:off x="1702450" y="31772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94"/>
            <p:cNvSpPr/>
            <p:nvPr/>
          </p:nvSpPr>
          <p:spPr>
            <a:xfrm>
              <a:off x="1702450" y="37868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2" name="Google Shape;2032;p94"/>
          <p:cNvGrpSpPr/>
          <p:nvPr/>
        </p:nvGrpSpPr>
        <p:grpSpPr>
          <a:xfrm>
            <a:off x="4979050" y="1310725"/>
            <a:ext cx="609901" cy="2910225"/>
            <a:chOff x="1702450" y="1310725"/>
            <a:chExt cx="609901" cy="2910225"/>
          </a:xfrm>
        </p:grpSpPr>
        <p:sp>
          <p:nvSpPr>
            <p:cNvPr id="2033" name="Google Shape;2033;p94"/>
            <p:cNvSpPr txBox="1"/>
            <p:nvPr/>
          </p:nvSpPr>
          <p:spPr>
            <a:xfrm>
              <a:off x="1702451" y="1310725"/>
              <a:ext cx="6099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r+5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034" name="Google Shape;2034;p94"/>
            <p:cNvSpPr/>
            <p:nvPr/>
          </p:nvSpPr>
          <p:spPr>
            <a:xfrm>
              <a:off x="1702450" y="19580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94"/>
            <p:cNvSpPr/>
            <p:nvPr/>
          </p:nvSpPr>
          <p:spPr>
            <a:xfrm>
              <a:off x="1702450" y="31772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94"/>
            <p:cNvSpPr/>
            <p:nvPr/>
          </p:nvSpPr>
          <p:spPr>
            <a:xfrm>
              <a:off x="1702450" y="37868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7" name="Google Shape;2037;p94"/>
          <p:cNvSpPr/>
          <p:nvPr/>
        </p:nvSpPr>
        <p:spPr>
          <a:xfrm>
            <a:off x="3759850" y="2567650"/>
            <a:ext cx="514500" cy="434100"/>
          </a:xfrm>
          <a:prstGeom prst="ellipse">
            <a:avLst/>
          </a:prstGeom>
          <a:solidFill>
            <a:srgbClr val="2EDA2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94"/>
          <p:cNvSpPr/>
          <p:nvPr/>
        </p:nvSpPr>
        <p:spPr>
          <a:xfrm>
            <a:off x="3759850" y="2567650"/>
            <a:ext cx="514500" cy="4341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9" name="Google Shape;2039;p94"/>
          <p:cNvGrpSpPr/>
          <p:nvPr/>
        </p:nvGrpSpPr>
        <p:grpSpPr>
          <a:xfrm>
            <a:off x="5664850" y="1310725"/>
            <a:ext cx="609901" cy="2910225"/>
            <a:chOff x="1702450" y="1310725"/>
            <a:chExt cx="609901" cy="2910225"/>
          </a:xfrm>
        </p:grpSpPr>
        <p:sp>
          <p:nvSpPr>
            <p:cNvPr id="2040" name="Google Shape;2040;p94"/>
            <p:cNvSpPr txBox="1"/>
            <p:nvPr/>
          </p:nvSpPr>
          <p:spPr>
            <a:xfrm>
              <a:off x="1702451" y="1310725"/>
              <a:ext cx="6099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r+6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041" name="Google Shape;2041;p94"/>
            <p:cNvSpPr/>
            <p:nvPr/>
          </p:nvSpPr>
          <p:spPr>
            <a:xfrm>
              <a:off x="1702450" y="19580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94"/>
            <p:cNvSpPr/>
            <p:nvPr/>
          </p:nvSpPr>
          <p:spPr>
            <a:xfrm>
              <a:off x="1702450" y="31772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94"/>
            <p:cNvSpPr/>
            <p:nvPr/>
          </p:nvSpPr>
          <p:spPr>
            <a:xfrm>
              <a:off x="1702450" y="37868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44" name="Google Shape;2044;p94"/>
          <p:cNvGrpSpPr/>
          <p:nvPr/>
        </p:nvGrpSpPr>
        <p:grpSpPr>
          <a:xfrm>
            <a:off x="6274450" y="1310725"/>
            <a:ext cx="609901" cy="2910225"/>
            <a:chOff x="1702450" y="1310725"/>
            <a:chExt cx="609901" cy="2910225"/>
          </a:xfrm>
        </p:grpSpPr>
        <p:sp>
          <p:nvSpPr>
            <p:cNvPr id="2045" name="Google Shape;2045;p94"/>
            <p:cNvSpPr txBox="1"/>
            <p:nvPr/>
          </p:nvSpPr>
          <p:spPr>
            <a:xfrm>
              <a:off x="1702451" y="1310725"/>
              <a:ext cx="6099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r+7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046" name="Google Shape;2046;p94"/>
            <p:cNvSpPr/>
            <p:nvPr/>
          </p:nvSpPr>
          <p:spPr>
            <a:xfrm>
              <a:off x="1702450" y="19580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94"/>
            <p:cNvSpPr/>
            <p:nvPr/>
          </p:nvSpPr>
          <p:spPr>
            <a:xfrm>
              <a:off x="1702450" y="31772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94"/>
            <p:cNvSpPr/>
            <p:nvPr/>
          </p:nvSpPr>
          <p:spPr>
            <a:xfrm>
              <a:off x="1702450" y="37868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49" name="Google Shape;2049;p94"/>
          <p:cNvGrpSpPr/>
          <p:nvPr/>
        </p:nvGrpSpPr>
        <p:grpSpPr>
          <a:xfrm>
            <a:off x="6960250" y="1310725"/>
            <a:ext cx="609901" cy="2910225"/>
            <a:chOff x="1702450" y="1310725"/>
            <a:chExt cx="609901" cy="2910225"/>
          </a:xfrm>
        </p:grpSpPr>
        <p:sp>
          <p:nvSpPr>
            <p:cNvPr id="2050" name="Google Shape;2050;p94"/>
            <p:cNvSpPr txBox="1"/>
            <p:nvPr/>
          </p:nvSpPr>
          <p:spPr>
            <a:xfrm>
              <a:off x="1702451" y="1310725"/>
              <a:ext cx="6099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r+8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051" name="Google Shape;2051;p94"/>
            <p:cNvSpPr/>
            <p:nvPr/>
          </p:nvSpPr>
          <p:spPr>
            <a:xfrm>
              <a:off x="1702450" y="19580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94"/>
            <p:cNvSpPr/>
            <p:nvPr/>
          </p:nvSpPr>
          <p:spPr>
            <a:xfrm>
              <a:off x="1702450" y="31772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94"/>
            <p:cNvSpPr/>
            <p:nvPr/>
          </p:nvSpPr>
          <p:spPr>
            <a:xfrm>
              <a:off x="1702450" y="3786850"/>
              <a:ext cx="514500" cy="434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4" name="Google Shape;2054;p94"/>
          <p:cNvSpPr/>
          <p:nvPr/>
        </p:nvSpPr>
        <p:spPr>
          <a:xfrm>
            <a:off x="5664850" y="3177250"/>
            <a:ext cx="514500" cy="434100"/>
          </a:xfrm>
          <a:prstGeom prst="ellipse">
            <a:avLst/>
          </a:prstGeom>
          <a:solidFill>
            <a:srgbClr val="2EDA2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55" name="Google Shape;2055;p94"/>
          <p:cNvGrpSpPr/>
          <p:nvPr/>
        </p:nvGrpSpPr>
        <p:grpSpPr>
          <a:xfrm>
            <a:off x="1702450" y="1958050"/>
            <a:ext cx="3791100" cy="2262900"/>
            <a:chOff x="1702450" y="1958050"/>
            <a:chExt cx="3791100" cy="2262900"/>
          </a:xfrm>
        </p:grpSpPr>
        <p:sp>
          <p:nvSpPr>
            <p:cNvPr id="2056" name="Google Shape;2056;p94"/>
            <p:cNvSpPr/>
            <p:nvPr/>
          </p:nvSpPr>
          <p:spPr>
            <a:xfrm>
              <a:off x="1702450" y="1958050"/>
              <a:ext cx="514500" cy="4341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94"/>
            <p:cNvSpPr/>
            <p:nvPr/>
          </p:nvSpPr>
          <p:spPr>
            <a:xfrm>
              <a:off x="1702450" y="3177250"/>
              <a:ext cx="514500" cy="4341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94"/>
            <p:cNvSpPr/>
            <p:nvPr/>
          </p:nvSpPr>
          <p:spPr>
            <a:xfrm>
              <a:off x="1702450" y="3786850"/>
              <a:ext cx="514500" cy="4341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94"/>
            <p:cNvSpPr/>
            <p:nvPr/>
          </p:nvSpPr>
          <p:spPr>
            <a:xfrm>
              <a:off x="2388250" y="1958050"/>
              <a:ext cx="514500" cy="4341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94"/>
            <p:cNvSpPr/>
            <p:nvPr/>
          </p:nvSpPr>
          <p:spPr>
            <a:xfrm>
              <a:off x="2388250" y="2567650"/>
              <a:ext cx="514500" cy="4341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94"/>
            <p:cNvSpPr/>
            <p:nvPr/>
          </p:nvSpPr>
          <p:spPr>
            <a:xfrm>
              <a:off x="2388250" y="3177250"/>
              <a:ext cx="514500" cy="4341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94"/>
            <p:cNvSpPr/>
            <p:nvPr/>
          </p:nvSpPr>
          <p:spPr>
            <a:xfrm>
              <a:off x="3074050" y="1958050"/>
              <a:ext cx="514500" cy="4341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94"/>
            <p:cNvSpPr/>
            <p:nvPr/>
          </p:nvSpPr>
          <p:spPr>
            <a:xfrm>
              <a:off x="3074050" y="2567650"/>
              <a:ext cx="514500" cy="4341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94"/>
            <p:cNvSpPr/>
            <p:nvPr/>
          </p:nvSpPr>
          <p:spPr>
            <a:xfrm>
              <a:off x="3074050" y="3177250"/>
              <a:ext cx="514500" cy="4341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94"/>
            <p:cNvSpPr/>
            <p:nvPr/>
          </p:nvSpPr>
          <p:spPr>
            <a:xfrm>
              <a:off x="3759850" y="1958050"/>
              <a:ext cx="514500" cy="4341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94"/>
            <p:cNvSpPr/>
            <p:nvPr/>
          </p:nvSpPr>
          <p:spPr>
            <a:xfrm>
              <a:off x="3759850" y="3177250"/>
              <a:ext cx="514500" cy="4341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94"/>
            <p:cNvSpPr/>
            <p:nvPr/>
          </p:nvSpPr>
          <p:spPr>
            <a:xfrm>
              <a:off x="3759850" y="3786850"/>
              <a:ext cx="514500" cy="4341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94"/>
            <p:cNvSpPr/>
            <p:nvPr/>
          </p:nvSpPr>
          <p:spPr>
            <a:xfrm>
              <a:off x="4369450" y="3177250"/>
              <a:ext cx="514500" cy="4341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94"/>
            <p:cNvSpPr/>
            <p:nvPr/>
          </p:nvSpPr>
          <p:spPr>
            <a:xfrm>
              <a:off x="4369450" y="3786850"/>
              <a:ext cx="514500" cy="4341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94"/>
            <p:cNvSpPr/>
            <p:nvPr/>
          </p:nvSpPr>
          <p:spPr>
            <a:xfrm>
              <a:off x="4979050" y="1958050"/>
              <a:ext cx="514500" cy="4341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94"/>
            <p:cNvSpPr/>
            <p:nvPr/>
          </p:nvSpPr>
          <p:spPr>
            <a:xfrm>
              <a:off x="4979050" y="3177250"/>
              <a:ext cx="514500" cy="4341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2" name="Google Shape;2072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3" name="Google Shape;2073;p94"/>
          <p:cNvSpPr/>
          <p:nvPr/>
        </p:nvSpPr>
        <p:spPr>
          <a:xfrm>
            <a:off x="1663525" y="1067925"/>
            <a:ext cx="2054100" cy="301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 1</a:t>
            </a:r>
            <a:endParaRPr sz="1500"/>
          </a:p>
        </p:txBody>
      </p:sp>
      <p:sp>
        <p:nvSpPr>
          <p:cNvPr id="2074" name="Google Shape;2074;p94"/>
          <p:cNvSpPr/>
          <p:nvPr/>
        </p:nvSpPr>
        <p:spPr>
          <a:xfrm>
            <a:off x="3797125" y="1067925"/>
            <a:ext cx="1696500" cy="301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 2</a:t>
            </a:r>
            <a:endParaRPr sz="1500"/>
          </a:p>
        </p:txBody>
      </p:sp>
      <p:sp>
        <p:nvSpPr>
          <p:cNvPr id="2075" name="Google Shape;2075;p94"/>
          <p:cNvSpPr/>
          <p:nvPr/>
        </p:nvSpPr>
        <p:spPr>
          <a:xfrm>
            <a:off x="5625925" y="1067925"/>
            <a:ext cx="1696500" cy="3018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 3</a:t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9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Google Shape;2080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Mahi-Mahi</a:t>
            </a:r>
            <a:endParaRPr/>
          </a:p>
        </p:txBody>
      </p:sp>
      <p:sp>
        <p:nvSpPr>
          <p:cNvPr id="2081" name="Google Shape;2081;p95"/>
          <p:cNvSpPr/>
          <p:nvPr/>
        </p:nvSpPr>
        <p:spPr>
          <a:xfrm>
            <a:off x="67675" y="1762975"/>
            <a:ext cx="26952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Reduce resource consumption</a:t>
            </a:r>
            <a:endParaRPr sz="2100"/>
          </a:p>
        </p:txBody>
      </p:sp>
      <p:sp>
        <p:nvSpPr>
          <p:cNvPr id="2082" name="Google Shape;2082;p95"/>
          <p:cNvSpPr/>
          <p:nvPr/>
        </p:nvSpPr>
        <p:spPr>
          <a:xfrm>
            <a:off x="2985100" y="1762975"/>
            <a:ext cx="29421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Reduce commit latency</a:t>
            </a:r>
            <a:endParaRPr sz="2100"/>
          </a:p>
        </p:txBody>
      </p:sp>
      <p:sp>
        <p:nvSpPr>
          <p:cNvPr id="2083" name="Google Shape;2083;p95"/>
          <p:cNvSpPr/>
          <p:nvPr/>
        </p:nvSpPr>
        <p:spPr>
          <a:xfrm>
            <a:off x="6103375" y="1762975"/>
            <a:ext cx="29421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Have minimal impact from the crashed validators</a:t>
            </a:r>
            <a:endParaRPr sz="2100"/>
          </a:p>
        </p:txBody>
      </p:sp>
      <p:sp>
        <p:nvSpPr>
          <p:cNvPr id="2084" name="Google Shape;2084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Threat Model</a:t>
            </a:r>
            <a:endParaRPr/>
          </a:p>
        </p:txBody>
      </p:sp>
      <p:sp>
        <p:nvSpPr>
          <p:cNvPr id="2090" name="Google Shape;2090;p9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Up to </a:t>
            </a:r>
            <a:r>
              <a:rPr b="1" i="1" lang="en" sz="2200"/>
              <a:t>f</a:t>
            </a:r>
            <a:r>
              <a:rPr lang="en" sz="2200"/>
              <a:t> out of </a:t>
            </a:r>
            <a:r>
              <a:rPr b="1" i="1" lang="en" sz="2200"/>
              <a:t>3</a:t>
            </a:r>
            <a:r>
              <a:rPr b="1" i="1" lang="en" sz="2200"/>
              <a:t>f+1</a:t>
            </a:r>
            <a:r>
              <a:rPr lang="en" sz="2200"/>
              <a:t> nodes are </a:t>
            </a:r>
            <a:r>
              <a:rPr b="1" lang="en" sz="2200"/>
              <a:t>malicious</a:t>
            </a:r>
            <a:r>
              <a:rPr lang="en" sz="2200"/>
              <a:t>.</a:t>
            </a:r>
            <a:br>
              <a:rPr lang="en" sz="2200"/>
            </a:b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The network is </a:t>
            </a:r>
            <a:r>
              <a:rPr b="1" lang="en" sz="2200"/>
              <a:t>asynchronous</a:t>
            </a:r>
            <a:r>
              <a:rPr lang="en" sz="2200"/>
              <a:t> – there exists </a:t>
            </a:r>
            <a:r>
              <a:rPr b="1" lang="en" sz="2200"/>
              <a:t>no bound Δ</a:t>
            </a:r>
            <a:r>
              <a:rPr lang="en" sz="2200"/>
              <a:t> on message transmission delay.</a:t>
            </a:r>
            <a:br>
              <a:rPr lang="en" sz="2200"/>
            </a:b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Network attacker</a:t>
            </a:r>
            <a:endParaRPr sz="22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Can delay and reorder messages.</a:t>
            </a:r>
            <a:br>
              <a:rPr lang="en" sz="1800"/>
            </a:b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Cannot intercept messages from honest nodes.</a:t>
            </a:r>
            <a:endParaRPr sz="1800"/>
          </a:p>
        </p:txBody>
      </p:sp>
      <p:sp>
        <p:nvSpPr>
          <p:cNvPr id="2091" name="Google Shape;2091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Mahi-Mahi uncertified DAG Wave</a:t>
            </a:r>
            <a:endParaRPr/>
          </a:p>
        </p:txBody>
      </p:sp>
      <p:grpSp>
        <p:nvGrpSpPr>
          <p:cNvPr id="2097" name="Google Shape;2097;p97"/>
          <p:cNvGrpSpPr/>
          <p:nvPr/>
        </p:nvGrpSpPr>
        <p:grpSpPr>
          <a:xfrm>
            <a:off x="3301550" y="1463125"/>
            <a:ext cx="604500" cy="2810550"/>
            <a:chOff x="2463350" y="1310725"/>
            <a:chExt cx="604500" cy="2810550"/>
          </a:xfrm>
        </p:grpSpPr>
        <p:sp>
          <p:nvSpPr>
            <p:cNvPr id="2098" name="Google Shape;2098;p97"/>
            <p:cNvSpPr/>
            <p:nvPr/>
          </p:nvSpPr>
          <p:spPr>
            <a:xfrm>
              <a:off x="2487000" y="18655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97"/>
            <p:cNvSpPr/>
            <p:nvPr/>
          </p:nvSpPr>
          <p:spPr>
            <a:xfrm>
              <a:off x="2487000" y="24751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97"/>
            <p:cNvSpPr/>
            <p:nvPr/>
          </p:nvSpPr>
          <p:spPr>
            <a:xfrm>
              <a:off x="2487000" y="30847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97"/>
            <p:cNvSpPr/>
            <p:nvPr/>
          </p:nvSpPr>
          <p:spPr>
            <a:xfrm>
              <a:off x="2487000" y="36943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97"/>
            <p:cNvSpPr txBox="1"/>
            <p:nvPr/>
          </p:nvSpPr>
          <p:spPr>
            <a:xfrm>
              <a:off x="2463350" y="1310725"/>
              <a:ext cx="6045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r+1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2103" name="Google Shape;2103;p97"/>
          <p:cNvGrpSpPr/>
          <p:nvPr/>
        </p:nvGrpSpPr>
        <p:grpSpPr>
          <a:xfrm>
            <a:off x="4596950" y="1463125"/>
            <a:ext cx="604500" cy="2810550"/>
            <a:chOff x="3682550" y="1310725"/>
            <a:chExt cx="604500" cy="2810550"/>
          </a:xfrm>
        </p:grpSpPr>
        <p:sp>
          <p:nvSpPr>
            <p:cNvPr id="2104" name="Google Shape;2104;p97"/>
            <p:cNvSpPr/>
            <p:nvPr/>
          </p:nvSpPr>
          <p:spPr>
            <a:xfrm>
              <a:off x="3706200" y="18655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97"/>
            <p:cNvSpPr/>
            <p:nvPr/>
          </p:nvSpPr>
          <p:spPr>
            <a:xfrm>
              <a:off x="3706200" y="24751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97"/>
            <p:cNvSpPr/>
            <p:nvPr/>
          </p:nvSpPr>
          <p:spPr>
            <a:xfrm>
              <a:off x="3706200" y="30847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97"/>
            <p:cNvSpPr/>
            <p:nvPr/>
          </p:nvSpPr>
          <p:spPr>
            <a:xfrm>
              <a:off x="3706200" y="36943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97"/>
            <p:cNvSpPr txBox="1"/>
            <p:nvPr/>
          </p:nvSpPr>
          <p:spPr>
            <a:xfrm>
              <a:off x="3682550" y="1310725"/>
              <a:ext cx="6045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r+2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2109" name="Google Shape;2109;p97"/>
          <p:cNvSpPr txBox="1"/>
          <p:nvPr/>
        </p:nvSpPr>
        <p:spPr>
          <a:xfrm>
            <a:off x="3154425" y="4374500"/>
            <a:ext cx="11934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10" name="Google Shape;2110;p97"/>
          <p:cNvSpPr txBox="1"/>
          <p:nvPr/>
        </p:nvSpPr>
        <p:spPr>
          <a:xfrm>
            <a:off x="4449825" y="4374500"/>
            <a:ext cx="11934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2111" name="Google Shape;2111;p97"/>
          <p:cNvGrpSpPr/>
          <p:nvPr/>
        </p:nvGrpSpPr>
        <p:grpSpPr>
          <a:xfrm>
            <a:off x="5821425" y="1463125"/>
            <a:ext cx="1193400" cy="3217975"/>
            <a:chOff x="5821425" y="1463125"/>
            <a:chExt cx="1193400" cy="3217975"/>
          </a:xfrm>
        </p:grpSpPr>
        <p:grpSp>
          <p:nvGrpSpPr>
            <p:cNvPr id="2112" name="Google Shape;2112;p97"/>
            <p:cNvGrpSpPr/>
            <p:nvPr/>
          </p:nvGrpSpPr>
          <p:grpSpPr>
            <a:xfrm>
              <a:off x="5892350" y="1463125"/>
              <a:ext cx="604500" cy="2810550"/>
              <a:chOff x="4977950" y="1310725"/>
              <a:chExt cx="604500" cy="2810550"/>
            </a:xfrm>
          </p:grpSpPr>
          <p:sp>
            <p:nvSpPr>
              <p:cNvPr id="2113" name="Google Shape;2113;p97"/>
              <p:cNvSpPr/>
              <p:nvPr/>
            </p:nvSpPr>
            <p:spPr>
              <a:xfrm>
                <a:off x="5001600" y="1865575"/>
                <a:ext cx="481800" cy="4269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4" name="Google Shape;2114;p97"/>
              <p:cNvSpPr/>
              <p:nvPr/>
            </p:nvSpPr>
            <p:spPr>
              <a:xfrm>
                <a:off x="5001600" y="2475175"/>
                <a:ext cx="481800" cy="4269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5" name="Google Shape;2115;p97"/>
              <p:cNvSpPr/>
              <p:nvPr/>
            </p:nvSpPr>
            <p:spPr>
              <a:xfrm>
                <a:off x="5001600" y="3084775"/>
                <a:ext cx="481800" cy="4269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6" name="Google Shape;2116;p97"/>
              <p:cNvSpPr/>
              <p:nvPr/>
            </p:nvSpPr>
            <p:spPr>
              <a:xfrm>
                <a:off x="5001600" y="3694375"/>
                <a:ext cx="481800" cy="4269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7" name="Google Shape;2117;p97"/>
              <p:cNvSpPr txBox="1"/>
              <p:nvPr/>
            </p:nvSpPr>
            <p:spPr>
              <a:xfrm>
                <a:off x="4977950" y="1310725"/>
                <a:ext cx="604500" cy="30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dk2"/>
                    </a:solidFill>
                  </a:rPr>
                  <a:t>r+3</a:t>
                </a:r>
                <a:endParaRPr sz="1800">
                  <a:solidFill>
                    <a:schemeClr val="dk2"/>
                  </a:solidFill>
                </a:endParaRPr>
              </a:p>
            </p:txBody>
          </p:sp>
        </p:grpSp>
        <p:sp>
          <p:nvSpPr>
            <p:cNvPr id="2118" name="Google Shape;2118;p97"/>
            <p:cNvSpPr txBox="1"/>
            <p:nvPr/>
          </p:nvSpPr>
          <p:spPr>
            <a:xfrm>
              <a:off x="5821425" y="4374500"/>
              <a:ext cx="11934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2119" name="Google Shape;2119;p97"/>
          <p:cNvSpPr/>
          <p:nvPr/>
        </p:nvSpPr>
        <p:spPr>
          <a:xfrm>
            <a:off x="4849200" y="2094175"/>
            <a:ext cx="481800" cy="426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0" name="Google Shape;2120;p97"/>
          <p:cNvGrpSpPr/>
          <p:nvPr/>
        </p:nvGrpSpPr>
        <p:grpSpPr>
          <a:xfrm>
            <a:off x="7040625" y="1463125"/>
            <a:ext cx="1193400" cy="3217975"/>
            <a:chOff x="7040625" y="1463125"/>
            <a:chExt cx="1193400" cy="3217975"/>
          </a:xfrm>
        </p:grpSpPr>
        <p:grpSp>
          <p:nvGrpSpPr>
            <p:cNvPr id="2121" name="Google Shape;2121;p97"/>
            <p:cNvGrpSpPr/>
            <p:nvPr/>
          </p:nvGrpSpPr>
          <p:grpSpPr>
            <a:xfrm>
              <a:off x="7187750" y="1463125"/>
              <a:ext cx="604500" cy="2810550"/>
              <a:chOff x="6273350" y="1310725"/>
              <a:chExt cx="604500" cy="2810550"/>
            </a:xfrm>
          </p:grpSpPr>
          <p:sp>
            <p:nvSpPr>
              <p:cNvPr id="2122" name="Google Shape;2122;p97"/>
              <p:cNvSpPr/>
              <p:nvPr/>
            </p:nvSpPr>
            <p:spPr>
              <a:xfrm>
                <a:off x="6297000" y="1865575"/>
                <a:ext cx="481800" cy="4269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3" name="Google Shape;2123;p97"/>
              <p:cNvSpPr/>
              <p:nvPr/>
            </p:nvSpPr>
            <p:spPr>
              <a:xfrm>
                <a:off x="6297000" y="2475175"/>
                <a:ext cx="481800" cy="4269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4" name="Google Shape;2124;p97"/>
              <p:cNvSpPr/>
              <p:nvPr/>
            </p:nvSpPr>
            <p:spPr>
              <a:xfrm>
                <a:off x="6297000" y="3084775"/>
                <a:ext cx="481800" cy="4269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5" name="Google Shape;2125;p97"/>
              <p:cNvSpPr/>
              <p:nvPr/>
            </p:nvSpPr>
            <p:spPr>
              <a:xfrm>
                <a:off x="6297000" y="3694375"/>
                <a:ext cx="481800" cy="4269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6" name="Google Shape;2126;p97"/>
              <p:cNvSpPr txBox="1"/>
              <p:nvPr/>
            </p:nvSpPr>
            <p:spPr>
              <a:xfrm>
                <a:off x="6273350" y="1310725"/>
                <a:ext cx="604500" cy="30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chemeClr val="dk2"/>
                    </a:solidFill>
                  </a:rPr>
                  <a:t>r+4</a:t>
                </a:r>
                <a:endParaRPr sz="1800">
                  <a:solidFill>
                    <a:schemeClr val="dk2"/>
                  </a:solidFill>
                </a:endParaRPr>
              </a:p>
            </p:txBody>
          </p:sp>
        </p:grpSp>
        <p:sp>
          <p:nvSpPr>
            <p:cNvPr id="2127" name="Google Shape;2127;p97"/>
            <p:cNvSpPr txBox="1"/>
            <p:nvPr/>
          </p:nvSpPr>
          <p:spPr>
            <a:xfrm>
              <a:off x="7040625" y="4374500"/>
              <a:ext cx="11934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128" name="Google Shape;2128;p97"/>
            <p:cNvSpPr/>
            <p:nvPr/>
          </p:nvSpPr>
          <p:spPr>
            <a:xfrm>
              <a:off x="7440000" y="2094175"/>
              <a:ext cx="481800" cy="4269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29" name="Google Shape;2129;p97"/>
          <p:cNvGrpSpPr/>
          <p:nvPr/>
        </p:nvGrpSpPr>
        <p:grpSpPr>
          <a:xfrm>
            <a:off x="1782825" y="1463125"/>
            <a:ext cx="1193400" cy="3217975"/>
            <a:chOff x="1782825" y="1463125"/>
            <a:chExt cx="1193400" cy="3217975"/>
          </a:xfrm>
        </p:grpSpPr>
        <p:sp>
          <p:nvSpPr>
            <p:cNvPr id="2130" name="Google Shape;2130;p97"/>
            <p:cNvSpPr/>
            <p:nvPr/>
          </p:nvSpPr>
          <p:spPr>
            <a:xfrm>
              <a:off x="2106000" y="20179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97"/>
            <p:cNvSpPr/>
            <p:nvPr/>
          </p:nvSpPr>
          <p:spPr>
            <a:xfrm>
              <a:off x="2106000" y="26275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97"/>
            <p:cNvSpPr/>
            <p:nvPr/>
          </p:nvSpPr>
          <p:spPr>
            <a:xfrm>
              <a:off x="2106000" y="32371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97"/>
            <p:cNvSpPr/>
            <p:nvPr/>
          </p:nvSpPr>
          <p:spPr>
            <a:xfrm>
              <a:off x="2106000" y="3846775"/>
              <a:ext cx="481800" cy="4269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97"/>
            <p:cNvSpPr txBox="1"/>
            <p:nvPr/>
          </p:nvSpPr>
          <p:spPr>
            <a:xfrm>
              <a:off x="2158550" y="1463125"/>
              <a:ext cx="5145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r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135" name="Google Shape;2135;p97"/>
            <p:cNvSpPr txBox="1"/>
            <p:nvPr/>
          </p:nvSpPr>
          <p:spPr>
            <a:xfrm>
              <a:off x="1782825" y="4374500"/>
              <a:ext cx="1193400" cy="30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2136" name="Google Shape;2136;p97"/>
            <p:cNvSpPr/>
            <p:nvPr/>
          </p:nvSpPr>
          <p:spPr>
            <a:xfrm>
              <a:off x="2258400" y="2094175"/>
              <a:ext cx="481800" cy="426900"/>
            </a:xfrm>
            <a:prstGeom prst="ellipse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7" name="Google Shape;2137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8" name="Google Shape;2138;p97"/>
          <p:cNvSpPr/>
          <p:nvPr/>
        </p:nvSpPr>
        <p:spPr>
          <a:xfrm>
            <a:off x="2125075" y="2677375"/>
            <a:ext cx="57537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L</a:t>
            </a:r>
            <a:r>
              <a:rPr lang="en" sz="2100"/>
              <a:t>ower resource usage.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Leader blocks in each round</a:t>
            </a:r>
            <a:endParaRPr/>
          </a:p>
        </p:txBody>
      </p:sp>
      <p:grpSp>
        <p:nvGrpSpPr>
          <p:cNvPr id="2144" name="Google Shape;2144;p98"/>
          <p:cNvGrpSpPr/>
          <p:nvPr/>
        </p:nvGrpSpPr>
        <p:grpSpPr>
          <a:xfrm>
            <a:off x="3578625" y="1445850"/>
            <a:ext cx="566182" cy="2957375"/>
            <a:chOff x="2130825" y="1369650"/>
            <a:chExt cx="566182" cy="2957375"/>
          </a:xfrm>
        </p:grpSpPr>
        <p:sp>
          <p:nvSpPr>
            <p:cNvPr id="2145" name="Google Shape;2145;p98"/>
            <p:cNvSpPr txBox="1"/>
            <p:nvPr/>
          </p:nvSpPr>
          <p:spPr>
            <a:xfrm>
              <a:off x="2207707" y="1369650"/>
              <a:ext cx="4893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146" name="Google Shape;2146;p98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98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98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98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0" name="Google Shape;2150;p98"/>
          <p:cNvGrpSpPr/>
          <p:nvPr/>
        </p:nvGrpSpPr>
        <p:grpSpPr>
          <a:xfrm>
            <a:off x="4264425" y="1445850"/>
            <a:ext cx="566774" cy="2957375"/>
            <a:chOff x="2130825" y="1369650"/>
            <a:chExt cx="566774" cy="2957375"/>
          </a:xfrm>
        </p:grpSpPr>
        <p:sp>
          <p:nvSpPr>
            <p:cNvPr id="2151" name="Google Shape;2151;p98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r+1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152" name="Google Shape;2152;p98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98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98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98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6" name="Google Shape;2156;p98"/>
          <p:cNvGrpSpPr/>
          <p:nvPr/>
        </p:nvGrpSpPr>
        <p:grpSpPr>
          <a:xfrm>
            <a:off x="4950225" y="1445850"/>
            <a:ext cx="566774" cy="2957375"/>
            <a:chOff x="2130825" y="1369650"/>
            <a:chExt cx="566774" cy="2957375"/>
          </a:xfrm>
        </p:grpSpPr>
        <p:sp>
          <p:nvSpPr>
            <p:cNvPr id="2157" name="Google Shape;2157;p98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r+2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158" name="Google Shape;2158;p98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98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98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98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2" name="Google Shape;2162;p98"/>
          <p:cNvGrpSpPr/>
          <p:nvPr/>
        </p:nvGrpSpPr>
        <p:grpSpPr>
          <a:xfrm>
            <a:off x="5559825" y="1445850"/>
            <a:ext cx="566774" cy="2957375"/>
            <a:chOff x="2130825" y="1369650"/>
            <a:chExt cx="566774" cy="2957375"/>
          </a:xfrm>
        </p:grpSpPr>
        <p:sp>
          <p:nvSpPr>
            <p:cNvPr id="2163" name="Google Shape;2163;p98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r+3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164" name="Google Shape;2164;p98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98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98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98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8" name="Google Shape;2168;p98"/>
          <p:cNvGrpSpPr/>
          <p:nvPr/>
        </p:nvGrpSpPr>
        <p:grpSpPr>
          <a:xfrm>
            <a:off x="6169425" y="1445850"/>
            <a:ext cx="566774" cy="2957375"/>
            <a:chOff x="2130825" y="1369650"/>
            <a:chExt cx="566774" cy="2957375"/>
          </a:xfrm>
        </p:grpSpPr>
        <p:sp>
          <p:nvSpPr>
            <p:cNvPr id="2169" name="Google Shape;2169;p98"/>
            <p:cNvSpPr txBox="1"/>
            <p:nvPr/>
          </p:nvSpPr>
          <p:spPr>
            <a:xfrm>
              <a:off x="2131499" y="1369650"/>
              <a:ext cx="566100" cy="3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595959"/>
                  </a:solidFill>
                </a:rPr>
                <a:t>r+4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2170" name="Google Shape;2170;p98"/>
            <p:cNvSpPr/>
            <p:nvPr/>
          </p:nvSpPr>
          <p:spPr>
            <a:xfrm>
              <a:off x="2130825" y="20887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98"/>
            <p:cNvSpPr/>
            <p:nvPr/>
          </p:nvSpPr>
          <p:spPr>
            <a:xfrm>
              <a:off x="2130825" y="26983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98"/>
            <p:cNvSpPr/>
            <p:nvPr/>
          </p:nvSpPr>
          <p:spPr>
            <a:xfrm>
              <a:off x="2130825" y="33079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98"/>
            <p:cNvSpPr/>
            <p:nvPr/>
          </p:nvSpPr>
          <p:spPr>
            <a:xfrm>
              <a:off x="2130825" y="3917525"/>
              <a:ext cx="489300" cy="4095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4" name="Google Shape;2174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5" name="Google Shape;2175;p98"/>
          <p:cNvSpPr/>
          <p:nvPr/>
        </p:nvSpPr>
        <p:spPr>
          <a:xfrm>
            <a:off x="3578625" y="2164925"/>
            <a:ext cx="489300" cy="40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98"/>
          <p:cNvSpPr/>
          <p:nvPr/>
        </p:nvSpPr>
        <p:spPr>
          <a:xfrm>
            <a:off x="4264425" y="2774525"/>
            <a:ext cx="489300" cy="40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7" name="Google Shape;2177;p98"/>
          <p:cNvSpPr/>
          <p:nvPr/>
        </p:nvSpPr>
        <p:spPr>
          <a:xfrm>
            <a:off x="4950225" y="3384125"/>
            <a:ext cx="489300" cy="40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98"/>
          <p:cNvSpPr/>
          <p:nvPr/>
        </p:nvSpPr>
        <p:spPr>
          <a:xfrm>
            <a:off x="5559825" y="3993725"/>
            <a:ext cx="489300" cy="40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98"/>
          <p:cNvSpPr/>
          <p:nvPr/>
        </p:nvSpPr>
        <p:spPr>
          <a:xfrm>
            <a:off x="6169425" y="3384125"/>
            <a:ext cx="489300" cy="409500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98"/>
          <p:cNvSpPr/>
          <p:nvPr/>
        </p:nvSpPr>
        <p:spPr>
          <a:xfrm>
            <a:off x="2425125" y="2360200"/>
            <a:ext cx="5376900" cy="1080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Lower commit delay</a:t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pic>
        <p:nvPicPr>
          <p:cNvPr id="2186" name="Google Shape;2186;p99"/>
          <p:cNvPicPr preferRelativeResize="0"/>
          <p:nvPr/>
        </p:nvPicPr>
        <p:blipFill rotWithShape="1">
          <a:blip r:embed="rId3">
            <a:alphaModFix/>
          </a:blip>
          <a:srcRect b="17478" l="3725" r="0" t="0"/>
          <a:stretch/>
        </p:blipFill>
        <p:spPr>
          <a:xfrm>
            <a:off x="858925" y="1220550"/>
            <a:ext cx="7184950" cy="3153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7" name="Google Shape;2187;p99"/>
          <p:cNvGrpSpPr/>
          <p:nvPr/>
        </p:nvGrpSpPr>
        <p:grpSpPr>
          <a:xfrm>
            <a:off x="1623400" y="1590376"/>
            <a:ext cx="5819775" cy="1374700"/>
            <a:chOff x="1623400" y="1590376"/>
            <a:chExt cx="5819775" cy="1374700"/>
          </a:xfrm>
        </p:grpSpPr>
        <p:pic>
          <p:nvPicPr>
            <p:cNvPr id="2188" name="Google Shape;2188;p9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623400" y="2047576"/>
              <a:ext cx="485775" cy="53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9" name="Google Shape;2189;p9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33000" y="2047576"/>
              <a:ext cx="485775" cy="53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0" name="Google Shape;2190;p9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214200" y="1590376"/>
              <a:ext cx="485775" cy="53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1" name="Google Shape;2191;p9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57400" y="2123776"/>
              <a:ext cx="485775" cy="536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2" name="Google Shape;2192;p9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00200" y="2428576"/>
              <a:ext cx="485775" cy="536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3" name="Google Shape;2193;p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7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Google Shape;2198;p10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Case Performance</a:t>
            </a:r>
            <a:endParaRPr/>
          </a:p>
        </p:txBody>
      </p:sp>
      <p:pic>
        <p:nvPicPr>
          <p:cNvPr id="2199" name="Google Shape;219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32000"/>
            <a:ext cx="9089702" cy="2843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0" name="Google Shape;2200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1" name="Google Shape;2201;p100"/>
          <p:cNvSpPr/>
          <p:nvPr/>
        </p:nvSpPr>
        <p:spPr>
          <a:xfrm>
            <a:off x="2180875" y="4413425"/>
            <a:ext cx="5052900" cy="26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Mahi-Mahi achieves higher throughput with lower latency</a:t>
            </a:r>
            <a:endParaRPr sz="15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1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under crash faults</a:t>
            </a:r>
            <a:endParaRPr/>
          </a:p>
        </p:txBody>
      </p:sp>
      <p:pic>
        <p:nvPicPr>
          <p:cNvPr id="2207" name="Google Shape;2207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375" y="947475"/>
            <a:ext cx="3767625" cy="3749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8" name="Google Shape;2208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9" name="Google Shape;2209;p101"/>
          <p:cNvSpPr/>
          <p:nvPr/>
        </p:nvSpPr>
        <p:spPr>
          <a:xfrm>
            <a:off x="2409475" y="4642025"/>
            <a:ext cx="4856400" cy="26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Mahi-Mahi has minimal impact from crashed validators</a:t>
            </a:r>
            <a:endParaRPr sz="15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3" name="Shape 2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4" name="Google Shape;2214;p1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Mahi-Mahi Summary</a:t>
            </a:r>
            <a:endParaRPr/>
          </a:p>
        </p:txBody>
      </p:sp>
      <p:sp>
        <p:nvSpPr>
          <p:cNvPr id="2215" name="Google Shape;2215;p102"/>
          <p:cNvSpPr/>
          <p:nvPr/>
        </p:nvSpPr>
        <p:spPr>
          <a:xfrm>
            <a:off x="67675" y="1762975"/>
            <a:ext cx="26952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Reduce resource consumption</a:t>
            </a:r>
            <a:endParaRPr sz="2100"/>
          </a:p>
        </p:txBody>
      </p:sp>
      <p:sp>
        <p:nvSpPr>
          <p:cNvPr id="2216" name="Google Shape;2216;p102"/>
          <p:cNvSpPr/>
          <p:nvPr/>
        </p:nvSpPr>
        <p:spPr>
          <a:xfrm>
            <a:off x="2985100" y="1762975"/>
            <a:ext cx="29421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Reduce commit latency</a:t>
            </a:r>
            <a:endParaRPr sz="2100"/>
          </a:p>
        </p:txBody>
      </p:sp>
      <p:sp>
        <p:nvSpPr>
          <p:cNvPr id="2217" name="Google Shape;2217;p102"/>
          <p:cNvSpPr/>
          <p:nvPr/>
        </p:nvSpPr>
        <p:spPr>
          <a:xfrm>
            <a:off x="6103375" y="1762975"/>
            <a:ext cx="2942100" cy="116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Have minimal impact from the crashed validators</a:t>
            </a:r>
            <a:endParaRPr sz="2100"/>
          </a:p>
        </p:txBody>
      </p:sp>
      <p:sp>
        <p:nvSpPr>
          <p:cNvPr id="2218" name="Google Shape;2218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1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Thesis Contributions</a:t>
            </a:r>
            <a:endParaRPr/>
          </a:p>
        </p:txBody>
      </p:sp>
      <p:grpSp>
        <p:nvGrpSpPr>
          <p:cNvPr id="2224" name="Google Shape;2224;p103"/>
          <p:cNvGrpSpPr/>
          <p:nvPr/>
        </p:nvGrpSpPr>
        <p:grpSpPr>
          <a:xfrm>
            <a:off x="353000" y="1696950"/>
            <a:ext cx="8479200" cy="572700"/>
            <a:chOff x="353000" y="1696950"/>
            <a:chExt cx="8479200" cy="572700"/>
          </a:xfrm>
        </p:grpSpPr>
        <p:sp>
          <p:nvSpPr>
            <p:cNvPr id="2225" name="Google Shape;2225;p103"/>
            <p:cNvSpPr/>
            <p:nvPr/>
          </p:nvSpPr>
          <p:spPr>
            <a:xfrm>
              <a:off x="353000" y="1696950"/>
              <a:ext cx="22587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Baxos</a:t>
              </a:r>
              <a:endParaRPr sz="1800"/>
            </a:p>
          </p:txBody>
        </p:sp>
        <p:sp>
          <p:nvSpPr>
            <p:cNvPr id="2226" name="Google Shape;2226;p103"/>
            <p:cNvSpPr/>
            <p:nvPr/>
          </p:nvSpPr>
          <p:spPr>
            <a:xfrm>
              <a:off x="3248600" y="1696950"/>
              <a:ext cx="55836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REB as a replacement for leader election in Multi-Paxos to achieve high robustness</a:t>
              </a:r>
              <a:endParaRPr sz="1800"/>
            </a:p>
          </p:txBody>
        </p:sp>
      </p:grpSp>
      <p:grpSp>
        <p:nvGrpSpPr>
          <p:cNvPr id="2227" name="Google Shape;2227;p103"/>
          <p:cNvGrpSpPr/>
          <p:nvPr/>
        </p:nvGrpSpPr>
        <p:grpSpPr>
          <a:xfrm>
            <a:off x="353000" y="2458950"/>
            <a:ext cx="8479200" cy="572700"/>
            <a:chOff x="353000" y="2458950"/>
            <a:chExt cx="8479200" cy="572700"/>
          </a:xfrm>
        </p:grpSpPr>
        <p:sp>
          <p:nvSpPr>
            <p:cNvPr id="2228" name="Google Shape;2228;p103"/>
            <p:cNvSpPr/>
            <p:nvPr/>
          </p:nvSpPr>
          <p:spPr>
            <a:xfrm>
              <a:off x="353000" y="2458950"/>
              <a:ext cx="22587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RACS-SADL</a:t>
              </a:r>
              <a:endParaRPr sz="1800"/>
            </a:p>
          </p:txBody>
        </p:sp>
        <p:sp>
          <p:nvSpPr>
            <p:cNvPr id="2229" name="Google Shape;2229;p103"/>
            <p:cNvSpPr/>
            <p:nvPr/>
          </p:nvSpPr>
          <p:spPr>
            <a:xfrm>
              <a:off x="3248600" y="2458950"/>
              <a:ext cx="55836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Avoid leader bottleneck and asynchronous liveness</a:t>
              </a:r>
              <a:endParaRPr sz="1800"/>
            </a:p>
          </p:txBody>
        </p:sp>
      </p:grpSp>
      <p:grpSp>
        <p:nvGrpSpPr>
          <p:cNvPr id="2230" name="Google Shape;2230;p103"/>
          <p:cNvGrpSpPr/>
          <p:nvPr/>
        </p:nvGrpSpPr>
        <p:grpSpPr>
          <a:xfrm>
            <a:off x="353000" y="3220950"/>
            <a:ext cx="8479200" cy="572700"/>
            <a:chOff x="353000" y="3220950"/>
            <a:chExt cx="8479200" cy="572700"/>
          </a:xfrm>
        </p:grpSpPr>
        <p:sp>
          <p:nvSpPr>
            <p:cNvPr id="2231" name="Google Shape;2231;p103"/>
            <p:cNvSpPr/>
            <p:nvPr/>
          </p:nvSpPr>
          <p:spPr>
            <a:xfrm>
              <a:off x="353000" y="3220950"/>
              <a:ext cx="22587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QuePaxa</a:t>
              </a:r>
              <a:endParaRPr sz="1800"/>
            </a:p>
          </p:txBody>
        </p:sp>
        <p:sp>
          <p:nvSpPr>
            <p:cNvPr id="2232" name="Google Shape;2232;p103"/>
            <p:cNvSpPr/>
            <p:nvPr/>
          </p:nvSpPr>
          <p:spPr>
            <a:xfrm>
              <a:off x="3248600" y="3220950"/>
              <a:ext cx="55836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Optimum performance under synchronous and asynchronous networks, support hedging</a:t>
              </a:r>
              <a:endParaRPr sz="1800"/>
            </a:p>
          </p:txBody>
        </p:sp>
      </p:grpSp>
      <p:grpSp>
        <p:nvGrpSpPr>
          <p:cNvPr id="2233" name="Google Shape;2233;p103"/>
          <p:cNvGrpSpPr/>
          <p:nvPr/>
        </p:nvGrpSpPr>
        <p:grpSpPr>
          <a:xfrm>
            <a:off x="353000" y="3982950"/>
            <a:ext cx="8479200" cy="572700"/>
            <a:chOff x="353000" y="3982950"/>
            <a:chExt cx="8479200" cy="572700"/>
          </a:xfrm>
        </p:grpSpPr>
        <p:sp>
          <p:nvSpPr>
            <p:cNvPr id="2234" name="Google Shape;2234;p103"/>
            <p:cNvSpPr/>
            <p:nvPr/>
          </p:nvSpPr>
          <p:spPr>
            <a:xfrm>
              <a:off x="353000" y="3982950"/>
              <a:ext cx="22587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Mahi-Mahi</a:t>
              </a:r>
              <a:endParaRPr sz="1800"/>
            </a:p>
          </p:txBody>
        </p:sp>
        <p:sp>
          <p:nvSpPr>
            <p:cNvPr id="2235" name="Google Shape;2235;p103"/>
            <p:cNvSpPr/>
            <p:nvPr/>
          </p:nvSpPr>
          <p:spPr>
            <a:xfrm>
              <a:off x="3248600" y="3982950"/>
              <a:ext cx="55836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Low</a:t>
              </a:r>
              <a:r>
                <a:rPr lang="en" sz="1800"/>
                <a:t> commit delay with low resource utilization for DAG based BFT</a:t>
              </a:r>
              <a:endParaRPr sz="1800"/>
            </a:p>
          </p:txBody>
        </p:sp>
      </p:grpSp>
      <p:grpSp>
        <p:nvGrpSpPr>
          <p:cNvPr id="2236" name="Google Shape;2236;p103"/>
          <p:cNvGrpSpPr/>
          <p:nvPr/>
        </p:nvGrpSpPr>
        <p:grpSpPr>
          <a:xfrm>
            <a:off x="353000" y="1696950"/>
            <a:ext cx="2258700" cy="2858700"/>
            <a:chOff x="353000" y="1696950"/>
            <a:chExt cx="2258700" cy="2858700"/>
          </a:xfrm>
        </p:grpSpPr>
        <p:sp>
          <p:nvSpPr>
            <p:cNvPr id="2237" name="Google Shape;2237;p103"/>
            <p:cNvSpPr/>
            <p:nvPr/>
          </p:nvSpPr>
          <p:spPr>
            <a:xfrm>
              <a:off x="353000" y="1696950"/>
              <a:ext cx="2258700" cy="5727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Baxos</a:t>
              </a:r>
              <a:endParaRPr sz="1800"/>
            </a:p>
          </p:txBody>
        </p:sp>
        <p:sp>
          <p:nvSpPr>
            <p:cNvPr id="2238" name="Google Shape;2238;p103"/>
            <p:cNvSpPr/>
            <p:nvPr/>
          </p:nvSpPr>
          <p:spPr>
            <a:xfrm>
              <a:off x="353000" y="3220950"/>
              <a:ext cx="2258700" cy="5727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QuePaxa</a:t>
              </a:r>
              <a:endParaRPr sz="1800"/>
            </a:p>
          </p:txBody>
        </p:sp>
        <p:sp>
          <p:nvSpPr>
            <p:cNvPr id="2239" name="Google Shape;2239;p103"/>
            <p:cNvSpPr/>
            <p:nvPr/>
          </p:nvSpPr>
          <p:spPr>
            <a:xfrm>
              <a:off x="353000" y="3982950"/>
              <a:ext cx="2258700" cy="5727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Mahi-Mahi</a:t>
              </a:r>
              <a:endParaRPr sz="1800"/>
            </a:p>
          </p:txBody>
        </p:sp>
      </p:grpSp>
      <p:sp>
        <p:nvSpPr>
          <p:cNvPr id="2240" name="Google Shape;2240;p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4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p104"/>
          <p:cNvSpPr/>
          <p:nvPr/>
        </p:nvSpPr>
        <p:spPr>
          <a:xfrm>
            <a:off x="179450" y="4903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High Performance</a:t>
            </a:r>
            <a:endParaRPr sz="1800"/>
          </a:p>
        </p:txBody>
      </p:sp>
      <p:sp>
        <p:nvSpPr>
          <p:cNvPr id="2246" name="Google Shape;2246;p104"/>
          <p:cNvSpPr/>
          <p:nvPr/>
        </p:nvSpPr>
        <p:spPr>
          <a:xfrm>
            <a:off x="2325825" y="424275"/>
            <a:ext cx="4484700" cy="10341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Existing Consensus Protocols</a:t>
            </a:r>
            <a:endParaRPr sz="1800"/>
          </a:p>
        </p:txBody>
      </p:sp>
      <p:sp>
        <p:nvSpPr>
          <p:cNvPr id="2247" name="Google Shape;2247;p104"/>
          <p:cNvSpPr/>
          <p:nvPr/>
        </p:nvSpPr>
        <p:spPr>
          <a:xfrm>
            <a:off x="2694050" y="2242975"/>
            <a:ext cx="3637200" cy="1875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48" name="Google Shape;2248;p104"/>
          <p:cNvSpPr/>
          <p:nvPr/>
        </p:nvSpPr>
        <p:spPr>
          <a:xfrm>
            <a:off x="2742975" y="2781100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High Robustness</a:t>
            </a:r>
            <a:endParaRPr sz="1800"/>
          </a:p>
        </p:txBody>
      </p:sp>
      <p:sp>
        <p:nvSpPr>
          <p:cNvPr id="2249" name="Google Shape;2249;p104"/>
          <p:cNvSpPr/>
          <p:nvPr/>
        </p:nvSpPr>
        <p:spPr>
          <a:xfrm>
            <a:off x="4571775" y="2781100"/>
            <a:ext cx="1689900" cy="9648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High Performance</a:t>
            </a:r>
            <a:endParaRPr sz="1800"/>
          </a:p>
        </p:txBody>
      </p:sp>
      <p:sp>
        <p:nvSpPr>
          <p:cNvPr id="2250" name="Google Shape;2250;p104"/>
          <p:cNvSpPr txBox="1"/>
          <p:nvPr/>
        </p:nvSpPr>
        <p:spPr>
          <a:xfrm>
            <a:off x="3927300" y="2240725"/>
            <a:ext cx="2018700" cy="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This thesis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51" name="Google Shape;2251;p104"/>
          <p:cNvSpPr/>
          <p:nvPr/>
        </p:nvSpPr>
        <p:spPr>
          <a:xfrm>
            <a:off x="7189850" y="490375"/>
            <a:ext cx="1689900" cy="96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High Robustness</a:t>
            </a:r>
            <a:endParaRPr sz="1800"/>
          </a:p>
        </p:txBody>
      </p:sp>
      <p:sp>
        <p:nvSpPr>
          <p:cNvPr id="2252" name="Google Shape;2252;p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53" name="Google Shape;2253;p104"/>
          <p:cNvCxnSpPr/>
          <p:nvPr/>
        </p:nvCxnSpPr>
        <p:spPr>
          <a:xfrm>
            <a:off x="558675" y="1924825"/>
            <a:ext cx="8183700" cy="10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7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1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Directions</a:t>
            </a:r>
            <a:endParaRPr/>
          </a:p>
        </p:txBody>
      </p:sp>
      <p:sp>
        <p:nvSpPr>
          <p:cNvPr id="2259" name="Google Shape;2259;p10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Measuring</a:t>
            </a:r>
            <a:r>
              <a:rPr lang="en" sz="2100"/>
              <a:t> </a:t>
            </a:r>
            <a:r>
              <a:rPr lang="en" sz="2100"/>
              <a:t>adversarial performance.</a:t>
            </a:r>
            <a:br>
              <a:rPr lang="en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Merging SADL and RACS to reduce latency.</a:t>
            </a:r>
            <a:br>
              <a:rPr lang="en" sz="2100"/>
            </a:b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Tuning consensus for high performance.</a:t>
            </a:r>
            <a:endParaRPr sz="2100"/>
          </a:p>
        </p:txBody>
      </p:sp>
      <p:sp>
        <p:nvSpPr>
          <p:cNvPr id="2260" name="Google Shape;2260;p1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4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p10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Thesis Contributions</a:t>
            </a:r>
            <a:endParaRPr/>
          </a:p>
        </p:txBody>
      </p:sp>
      <p:grpSp>
        <p:nvGrpSpPr>
          <p:cNvPr id="2266" name="Google Shape;2266;p106"/>
          <p:cNvGrpSpPr/>
          <p:nvPr/>
        </p:nvGrpSpPr>
        <p:grpSpPr>
          <a:xfrm>
            <a:off x="353000" y="1696950"/>
            <a:ext cx="8479200" cy="572700"/>
            <a:chOff x="353000" y="1696950"/>
            <a:chExt cx="8479200" cy="572700"/>
          </a:xfrm>
        </p:grpSpPr>
        <p:sp>
          <p:nvSpPr>
            <p:cNvPr id="2267" name="Google Shape;2267;p106"/>
            <p:cNvSpPr/>
            <p:nvPr/>
          </p:nvSpPr>
          <p:spPr>
            <a:xfrm>
              <a:off x="353000" y="1696950"/>
              <a:ext cx="22587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Baxos</a:t>
              </a:r>
              <a:endParaRPr sz="1800"/>
            </a:p>
          </p:txBody>
        </p:sp>
        <p:sp>
          <p:nvSpPr>
            <p:cNvPr id="2268" name="Google Shape;2268;p106"/>
            <p:cNvSpPr/>
            <p:nvPr/>
          </p:nvSpPr>
          <p:spPr>
            <a:xfrm>
              <a:off x="3248600" y="1696950"/>
              <a:ext cx="55836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REB as a replacement for leader election in Multi-Paxos to achieve high robustness</a:t>
              </a:r>
              <a:endParaRPr sz="1800"/>
            </a:p>
          </p:txBody>
        </p:sp>
      </p:grpSp>
      <p:grpSp>
        <p:nvGrpSpPr>
          <p:cNvPr id="2269" name="Google Shape;2269;p106"/>
          <p:cNvGrpSpPr/>
          <p:nvPr/>
        </p:nvGrpSpPr>
        <p:grpSpPr>
          <a:xfrm>
            <a:off x="353000" y="2458950"/>
            <a:ext cx="8479200" cy="572700"/>
            <a:chOff x="353000" y="2458950"/>
            <a:chExt cx="8479200" cy="572700"/>
          </a:xfrm>
        </p:grpSpPr>
        <p:sp>
          <p:nvSpPr>
            <p:cNvPr id="2270" name="Google Shape;2270;p106"/>
            <p:cNvSpPr/>
            <p:nvPr/>
          </p:nvSpPr>
          <p:spPr>
            <a:xfrm>
              <a:off x="353000" y="2458950"/>
              <a:ext cx="22587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RACS-SADL</a:t>
              </a:r>
              <a:endParaRPr sz="1800"/>
            </a:p>
          </p:txBody>
        </p:sp>
        <p:sp>
          <p:nvSpPr>
            <p:cNvPr id="2271" name="Google Shape;2271;p106"/>
            <p:cNvSpPr/>
            <p:nvPr/>
          </p:nvSpPr>
          <p:spPr>
            <a:xfrm>
              <a:off x="3248600" y="2458950"/>
              <a:ext cx="55836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Avoid leader bottleneck and asynchronous liveness</a:t>
              </a:r>
              <a:endParaRPr sz="1800"/>
            </a:p>
          </p:txBody>
        </p:sp>
      </p:grpSp>
      <p:grpSp>
        <p:nvGrpSpPr>
          <p:cNvPr id="2272" name="Google Shape;2272;p106"/>
          <p:cNvGrpSpPr/>
          <p:nvPr/>
        </p:nvGrpSpPr>
        <p:grpSpPr>
          <a:xfrm>
            <a:off x="353000" y="3220950"/>
            <a:ext cx="8479200" cy="572700"/>
            <a:chOff x="353000" y="3220950"/>
            <a:chExt cx="8479200" cy="572700"/>
          </a:xfrm>
        </p:grpSpPr>
        <p:sp>
          <p:nvSpPr>
            <p:cNvPr id="2273" name="Google Shape;2273;p106"/>
            <p:cNvSpPr/>
            <p:nvPr/>
          </p:nvSpPr>
          <p:spPr>
            <a:xfrm>
              <a:off x="353000" y="3220950"/>
              <a:ext cx="22587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QuePaxa</a:t>
              </a:r>
              <a:endParaRPr sz="1800"/>
            </a:p>
          </p:txBody>
        </p:sp>
        <p:sp>
          <p:nvSpPr>
            <p:cNvPr id="2274" name="Google Shape;2274;p106"/>
            <p:cNvSpPr/>
            <p:nvPr/>
          </p:nvSpPr>
          <p:spPr>
            <a:xfrm>
              <a:off x="3248600" y="3220950"/>
              <a:ext cx="55836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Optimum performance under synchronous and asynchronous networks, support hedging and tuning</a:t>
              </a:r>
              <a:endParaRPr sz="1800"/>
            </a:p>
          </p:txBody>
        </p:sp>
      </p:grpSp>
      <p:grpSp>
        <p:nvGrpSpPr>
          <p:cNvPr id="2275" name="Google Shape;2275;p106"/>
          <p:cNvGrpSpPr/>
          <p:nvPr/>
        </p:nvGrpSpPr>
        <p:grpSpPr>
          <a:xfrm>
            <a:off x="353000" y="3982950"/>
            <a:ext cx="8479200" cy="572700"/>
            <a:chOff x="353000" y="3982950"/>
            <a:chExt cx="8479200" cy="572700"/>
          </a:xfrm>
        </p:grpSpPr>
        <p:sp>
          <p:nvSpPr>
            <p:cNvPr id="2276" name="Google Shape;2276;p106"/>
            <p:cNvSpPr/>
            <p:nvPr/>
          </p:nvSpPr>
          <p:spPr>
            <a:xfrm>
              <a:off x="353000" y="3982950"/>
              <a:ext cx="22587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Mahi-Mahi</a:t>
              </a:r>
              <a:endParaRPr sz="1800"/>
            </a:p>
          </p:txBody>
        </p:sp>
        <p:sp>
          <p:nvSpPr>
            <p:cNvPr id="2277" name="Google Shape;2277;p106"/>
            <p:cNvSpPr/>
            <p:nvPr/>
          </p:nvSpPr>
          <p:spPr>
            <a:xfrm>
              <a:off x="3248600" y="3982950"/>
              <a:ext cx="5583600" cy="572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Low commit delay with low resource utilization for DAG based BFT</a:t>
              </a:r>
              <a:endParaRPr sz="1800"/>
            </a:p>
          </p:txBody>
        </p:sp>
      </p:grpSp>
      <p:grpSp>
        <p:nvGrpSpPr>
          <p:cNvPr id="2278" name="Google Shape;2278;p106"/>
          <p:cNvGrpSpPr/>
          <p:nvPr/>
        </p:nvGrpSpPr>
        <p:grpSpPr>
          <a:xfrm>
            <a:off x="353000" y="1696950"/>
            <a:ext cx="2258700" cy="2858700"/>
            <a:chOff x="353000" y="1696950"/>
            <a:chExt cx="2258700" cy="2858700"/>
          </a:xfrm>
        </p:grpSpPr>
        <p:sp>
          <p:nvSpPr>
            <p:cNvPr id="2279" name="Google Shape;2279;p106"/>
            <p:cNvSpPr/>
            <p:nvPr/>
          </p:nvSpPr>
          <p:spPr>
            <a:xfrm>
              <a:off x="353000" y="1696950"/>
              <a:ext cx="2258700" cy="5727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Baxos</a:t>
              </a:r>
              <a:endParaRPr sz="1800"/>
            </a:p>
          </p:txBody>
        </p:sp>
        <p:sp>
          <p:nvSpPr>
            <p:cNvPr id="2280" name="Google Shape;2280;p106"/>
            <p:cNvSpPr/>
            <p:nvPr/>
          </p:nvSpPr>
          <p:spPr>
            <a:xfrm>
              <a:off x="353000" y="3220950"/>
              <a:ext cx="2258700" cy="5727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QuePaxa</a:t>
              </a:r>
              <a:endParaRPr sz="1800"/>
            </a:p>
          </p:txBody>
        </p:sp>
        <p:sp>
          <p:nvSpPr>
            <p:cNvPr id="2281" name="Google Shape;2281;p106"/>
            <p:cNvSpPr/>
            <p:nvPr/>
          </p:nvSpPr>
          <p:spPr>
            <a:xfrm>
              <a:off x="353000" y="3982950"/>
              <a:ext cx="2258700" cy="5727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Mahi-Mahi</a:t>
              </a:r>
              <a:endParaRPr sz="1800"/>
            </a:p>
          </p:txBody>
        </p:sp>
      </p:grpSp>
      <p:sp>
        <p:nvSpPr>
          <p:cNvPr id="2282" name="Google Shape;2282;p1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