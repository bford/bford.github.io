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6D5B3F-BB46-4773-A9BD-39845686CCF7}">
  <a:tblStyle styleId="{EE6D5B3F-BB46-4773-A9BD-39845686CC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1dbc663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1dbc663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1dbc663c9_0_2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1dbc663c9_0_2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1dbc663c9_0_2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1dbc663c9_0_2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1dbc663c9_0_2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1dbc663c9_0_2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1dbc663c9_0_2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1dbc663c9_0_2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1dbc663c9_0_2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71dbc663c9_0_2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1dbc663c9_0_29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1dbc663c9_0_29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1dbc663c9_0_2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1dbc663c9_0_2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1dbc663c9_0_2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1dbc663c9_0_2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1dbc663c9_0_3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1dbc663c9_0_3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1dbc663c9_0_3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1dbc663c9_0_3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1dbc663c9_0_3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71dbc663c9_0_3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1dbc663c9_0_3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1dbc663c9_0_3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1dbc663c9_0_3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71dbc663c9_0_3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1dbc663c9_0_3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1dbc663c9_0_3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1dbc663c9_0_3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1dbc663c9_0_3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1dbc663c9_0_3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71dbc663c9_0_3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1dbc663c9_0_3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71dbc663c9_0_3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1dbc663c9_0_3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1dbc663c9_0_3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1dbc663c9_0_3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71dbc663c9_0_3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71dbc663c9_0_3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71dbc663c9_0_3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1dbc663c9_0_3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1dbc663c9_0_3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1dbc663c9_0_3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71dbc663c9_0_3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1dbc663c9_0_3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1dbc663c9_0_3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3974eea67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73974eea67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71dbc663c9_0_3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71dbc663c9_0_3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71dbc663c9_0_3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71dbc663c9_0_3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71dbc663c9_0_3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71dbc663c9_0_3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71dbc663c9_0_3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71dbc663c9_0_3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3974eea67_0_10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3974eea67_0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3974eea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73974eea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73974eea6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73974eea6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3974eea6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73974eea6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3974eea6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73974eea6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73974eea67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73974eea67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73974eea67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73974eea67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73974eea6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73974eea6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73974eea67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73974eea67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73974eea6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373974eea6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73974eea6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373974eea6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73974eea67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73974eea67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73974eea67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73974eea67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73974eea67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73974eea67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73974eea67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73974eea67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373974eea67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373974eea67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373974eea67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373974eea67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73974eea67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73974eea67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73974eea67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73974eea67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73974eea67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73974eea67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73974eea67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73974eea67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73974eea67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73974eea67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73974eea67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73974eea67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73974eea67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73974eea67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73974eea67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373974eea67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73974eea67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73974eea67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73974eea67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73974eea67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73974eea67_0_6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g373974eea67_0_6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373974eea67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373974eea67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22222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74f63ee6b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74f63ee6b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73974eea67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73974eea67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73974eea67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0" name="Google Shape;1170;g373974eea67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73974eea67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373974eea67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73974eea67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73974eea67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73974eea67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73974eea67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73974eea67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373974eea67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3739a8891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3739a8891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73974eea67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373974eea67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373974eea67_0_9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373974eea67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373974eea67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373974eea67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373974eea67_0_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373974eea67_0_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73974eea67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373974eea67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73974eea67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5" name="Google Shape;1325;g373974eea67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73974eea67_0_9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1" name="Google Shape;1341;g373974eea67_0_9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373974eea67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373974eea67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739a8891c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739a8891c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3736aa3de3f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3736aa3de3f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72a151903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72a151903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37307b7666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37307b7666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72a1519031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g372a1519031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6250" y="304800"/>
            <a:ext cx="81915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6250" y="800100"/>
            <a:ext cx="8191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000"/>
              <a:buFont typeface="Arial"/>
              <a:buNone/>
              <a:defRPr sz="20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6250" y="1600200"/>
            <a:ext cx="8191500" cy="31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1pPr>
            <a:lvl2pPr indent="-2730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491609" y="4905375"/>
            <a:ext cx="1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476250" y="1233488"/>
            <a:ext cx="8191500" cy="14550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8FF"/>
              </a:buClr>
              <a:buSzPts val="4400"/>
              <a:buFont typeface="Arial"/>
              <a:buNone/>
              <a:defRPr sz="4400">
                <a:solidFill>
                  <a:srgbClr val="00E8FF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76250" y="4560161"/>
            <a:ext cx="81915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1300"/>
              <a:buFont typeface="Arial"/>
              <a:buNone/>
              <a:defRPr sz="13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476250" y="2619375"/>
            <a:ext cx="81915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Arial"/>
              <a:buNone/>
              <a:defRPr sz="24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Arial"/>
              <a:buNone/>
              <a:defRPr sz="24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Arial"/>
              <a:buNone/>
              <a:defRPr sz="24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Arial"/>
              <a:buNone/>
              <a:defRPr sz="24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5D5D5"/>
              </a:buClr>
              <a:buSzPts val="2400"/>
              <a:buFont typeface="Arial"/>
              <a:buNone/>
              <a:defRPr sz="2400">
                <a:solidFill>
                  <a:srgbClr val="D5D5D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305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491609" y="4905375"/>
            <a:ext cx="1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  <a:defRPr sz="800"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png"/><Relationship Id="rId4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Relationship Id="rId4" Type="http://schemas.openxmlformats.org/officeDocument/2006/relationships/image" Target="../media/image3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png"/><Relationship Id="rId4" Type="http://schemas.openxmlformats.org/officeDocument/2006/relationships/image" Target="../media/image4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4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3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0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80"/>
              <a:t>Robust and High-Performance Wide-Area</a:t>
            </a:r>
            <a:endParaRPr sz="34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Consensus Protocols</a:t>
            </a:r>
            <a:endParaRPr sz="2780"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224525"/>
            <a:ext cx="8520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2705"/>
              <a:t>PhD Public Defense</a:t>
            </a:r>
            <a:endParaRPr sz="270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br>
              <a:rPr lang="en" sz="2230"/>
            </a:br>
            <a:r>
              <a:rPr lang="en" sz="2230"/>
              <a:t>Pasindu Tennage</a:t>
            </a:r>
            <a:br>
              <a:rPr lang="en" sz="2230"/>
            </a:br>
            <a:br>
              <a:rPr lang="en" sz="2230"/>
            </a:br>
            <a:r>
              <a:rPr lang="en" sz="1530"/>
              <a:t>Thesis director: Bryan Ford </a:t>
            </a:r>
            <a:br>
              <a:rPr lang="en" sz="1530"/>
            </a:br>
            <a:r>
              <a:rPr lang="en" sz="1530"/>
              <a:t>Thesis co-director: Lefteris Kokoris-Kogias</a:t>
            </a:r>
            <a:endParaRPr sz="2230"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400" y="2571750"/>
            <a:ext cx="1643948" cy="24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8550" l="0" r="0" t="0"/>
          <a:stretch/>
        </p:blipFill>
        <p:spPr>
          <a:xfrm>
            <a:off x="3647167" y="142450"/>
            <a:ext cx="1749183" cy="24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2824" y="1993875"/>
            <a:ext cx="1174800" cy="10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9450" y="-8"/>
            <a:ext cx="1643950" cy="92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6350" y="2052875"/>
            <a:ext cx="1238100" cy="12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8">
            <a:alphaModFix/>
          </a:blip>
          <a:srcRect b="0" l="22832" r="22216" t="0"/>
          <a:stretch/>
        </p:blipFill>
        <p:spPr>
          <a:xfrm>
            <a:off x="7511025" y="2691525"/>
            <a:ext cx="1100525" cy="22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7"/>
          <p:cNvGrpSpPr/>
          <p:nvPr/>
        </p:nvGrpSpPr>
        <p:grpSpPr>
          <a:xfrm>
            <a:off x="541101" y="450500"/>
            <a:ext cx="6313624" cy="811775"/>
            <a:chOff x="541101" y="450500"/>
            <a:chExt cx="6313624" cy="811775"/>
          </a:xfrm>
        </p:grpSpPr>
        <p:pic>
          <p:nvPicPr>
            <p:cNvPr id="84" name="Google Shape;84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101" y="450500"/>
              <a:ext cx="540750" cy="811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7"/>
            <p:cNvSpPr/>
            <p:nvPr/>
          </p:nvSpPr>
          <p:spPr>
            <a:xfrm>
              <a:off x="1445425" y="610325"/>
              <a:ext cx="5409300" cy="341400"/>
            </a:xfrm>
            <a:prstGeom prst="wedgeEllipse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14:58	</a:t>
              </a:r>
              <a:r>
                <a:rPr lang="en"/>
                <a:t>	Let’s meet at Cafe du flon</a:t>
              </a:r>
              <a:endParaRPr/>
            </a:p>
          </p:txBody>
        </p:sp>
      </p:grpSp>
      <p:grpSp>
        <p:nvGrpSpPr>
          <p:cNvPr id="86" name="Google Shape;86;p17"/>
          <p:cNvGrpSpPr/>
          <p:nvPr/>
        </p:nvGrpSpPr>
        <p:grpSpPr>
          <a:xfrm>
            <a:off x="607375" y="1335625"/>
            <a:ext cx="6247350" cy="668199"/>
            <a:chOff x="607375" y="1335625"/>
            <a:chExt cx="6247350" cy="668199"/>
          </a:xfrm>
        </p:grpSpPr>
        <p:pic>
          <p:nvPicPr>
            <p:cNvPr id="87" name="Google Shape;87;p17"/>
            <p:cNvPicPr preferRelativeResize="0"/>
            <p:nvPr/>
          </p:nvPicPr>
          <p:blipFill rotWithShape="1">
            <a:blip r:embed="rId4">
              <a:alphaModFix/>
            </a:blip>
            <a:srcRect b="8550" l="0" r="0" t="0"/>
            <a:stretch/>
          </p:blipFill>
          <p:spPr>
            <a:xfrm>
              <a:off x="607375" y="1335625"/>
              <a:ext cx="473575" cy="668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7"/>
            <p:cNvSpPr/>
            <p:nvPr/>
          </p:nvSpPr>
          <p:spPr>
            <a:xfrm>
              <a:off x="1445425" y="1524725"/>
              <a:ext cx="5409300" cy="341400"/>
            </a:xfrm>
            <a:prstGeom prst="wedgeEllipse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14:58	</a:t>
              </a:r>
              <a:r>
                <a:rPr lang="en"/>
                <a:t>	Let’s meet at Pizza place</a:t>
              </a:r>
              <a:endParaRPr/>
            </a:p>
          </p:txBody>
        </p:sp>
      </p:grpSp>
      <p:grpSp>
        <p:nvGrpSpPr>
          <p:cNvPr id="89" name="Google Shape;89;p17"/>
          <p:cNvGrpSpPr/>
          <p:nvPr/>
        </p:nvGrpSpPr>
        <p:grpSpPr>
          <a:xfrm>
            <a:off x="607375" y="3240625"/>
            <a:ext cx="6247350" cy="668199"/>
            <a:chOff x="607375" y="1335625"/>
            <a:chExt cx="6247350" cy="668199"/>
          </a:xfrm>
        </p:grpSpPr>
        <p:pic>
          <p:nvPicPr>
            <p:cNvPr id="90" name="Google Shape;90;p17"/>
            <p:cNvPicPr preferRelativeResize="0"/>
            <p:nvPr/>
          </p:nvPicPr>
          <p:blipFill rotWithShape="1">
            <a:blip r:embed="rId4">
              <a:alphaModFix/>
            </a:blip>
            <a:srcRect b="8550" l="0" r="0" t="0"/>
            <a:stretch/>
          </p:blipFill>
          <p:spPr>
            <a:xfrm>
              <a:off x="607375" y="1335625"/>
              <a:ext cx="473575" cy="6681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7"/>
            <p:cNvSpPr/>
            <p:nvPr/>
          </p:nvSpPr>
          <p:spPr>
            <a:xfrm>
              <a:off x="1445425" y="1524725"/>
              <a:ext cx="5409300" cy="341400"/>
            </a:xfrm>
            <a:prstGeom prst="wedgeEllipse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16:58 	      </a:t>
              </a:r>
              <a:r>
                <a:rPr lang="en"/>
                <a:t>Which one you mean?</a:t>
              </a:r>
              <a:endParaRPr/>
            </a:p>
          </p:txBody>
        </p:sp>
      </p:grpSp>
      <p:grpSp>
        <p:nvGrpSpPr>
          <p:cNvPr id="92" name="Google Shape;92;p17"/>
          <p:cNvGrpSpPr/>
          <p:nvPr/>
        </p:nvGrpSpPr>
        <p:grpSpPr>
          <a:xfrm>
            <a:off x="541101" y="4108100"/>
            <a:ext cx="6313624" cy="811775"/>
            <a:chOff x="541101" y="450500"/>
            <a:chExt cx="6313624" cy="811775"/>
          </a:xfrm>
        </p:grpSpPr>
        <p:pic>
          <p:nvPicPr>
            <p:cNvPr id="93" name="Google Shape;9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101" y="450500"/>
              <a:ext cx="540750" cy="811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7"/>
            <p:cNvSpPr/>
            <p:nvPr/>
          </p:nvSpPr>
          <p:spPr>
            <a:xfrm>
              <a:off x="1445425" y="610325"/>
              <a:ext cx="5409300" cy="341400"/>
            </a:xfrm>
            <a:prstGeom prst="wedgeEllipse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17:58</a:t>
              </a:r>
              <a:r>
                <a:rPr lang="en"/>
                <a:t>		I assume it is Cafe du flon?</a:t>
              </a:r>
              <a:endParaRPr/>
            </a:p>
          </p:txBody>
        </p:sp>
      </p:grpSp>
      <p:grpSp>
        <p:nvGrpSpPr>
          <p:cNvPr id="95" name="Google Shape;95;p17"/>
          <p:cNvGrpSpPr/>
          <p:nvPr/>
        </p:nvGrpSpPr>
        <p:grpSpPr>
          <a:xfrm>
            <a:off x="607375" y="2120600"/>
            <a:ext cx="6247350" cy="920750"/>
            <a:chOff x="607375" y="2120600"/>
            <a:chExt cx="6247350" cy="920750"/>
          </a:xfrm>
        </p:grpSpPr>
        <p:sp>
          <p:nvSpPr>
            <p:cNvPr id="96" name="Google Shape;96;p17"/>
            <p:cNvSpPr/>
            <p:nvPr/>
          </p:nvSpPr>
          <p:spPr>
            <a:xfrm>
              <a:off x="1445425" y="2439125"/>
              <a:ext cx="5409300" cy="341400"/>
            </a:xfrm>
            <a:prstGeom prst="wedgeEllipseCallout">
              <a:avLst>
                <a:gd fmla="val -20833" name="adj1"/>
                <a:gd fmla="val 625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15:50	</a:t>
              </a:r>
              <a:r>
                <a:rPr lang="en"/>
                <a:t>	Sure, I am good with that</a:t>
              </a:r>
              <a:endParaRPr/>
            </a:p>
          </p:txBody>
        </p:sp>
        <p:pic>
          <p:nvPicPr>
            <p:cNvPr id="97" name="Google Shape;97;p17"/>
            <p:cNvPicPr preferRelativeResize="0"/>
            <p:nvPr/>
          </p:nvPicPr>
          <p:blipFill rotWithShape="1">
            <a:blip r:embed="rId5">
              <a:alphaModFix/>
            </a:blip>
            <a:srcRect b="0" l="22832" r="22216" t="0"/>
            <a:stretch/>
          </p:blipFill>
          <p:spPr>
            <a:xfrm>
              <a:off x="607375" y="2120600"/>
              <a:ext cx="454725" cy="9207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8" name="Google Shape;98;p17"/>
          <p:cNvGrpSpPr/>
          <p:nvPr/>
        </p:nvGrpSpPr>
        <p:grpSpPr>
          <a:xfrm>
            <a:off x="7244000" y="866350"/>
            <a:ext cx="1836900" cy="2325250"/>
            <a:chOff x="7244000" y="866350"/>
            <a:chExt cx="1836900" cy="2325250"/>
          </a:xfrm>
        </p:grpSpPr>
        <p:sp>
          <p:nvSpPr>
            <p:cNvPr id="99" name="Google Shape;99;p17"/>
            <p:cNvSpPr/>
            <p:nvPr/>
          </p:nvSpPr>
          <p:spPr>
            <a:xfrm>
              <a:off x="7244000" y="2120600"/>
              <a:ext cx="1836900" cy="10710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Distributed Agreement is Hard </a:t>
              </a:r>
              <a:endParaRPr/>
            </a:p>
          </p:txBody>
        </p:sp>
        <p:pic>
          <p:nvPicPr>
            <p:cNvPr id="100" name="Google Shape;100;p17"/>
            <p:cNvPicPr preferRelativeResize="0"/>
            <p:nvPr/>
          </p:nvPicPr>
          <p:blipFill rotWithShape="1">
            <a:blip r:embed="rId6">
              <a:alphaModFix/>
            </a:blip>
            <a:srcRect b="22375" l="5368" r="1919" t="22087"/>
            <a:stretch/>
          </p:blipFill>
          <p:spPr>
            <a:xfrm>
              <a:off x="7413350" y="866350"/>
              <a:ext cx="1570476" cy="1254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1147950" y="313800"/>
            <a:ext cx="6731400" cy="243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Consensus: an agreement about something</a:t>
            </a:r>
            <a:endParaRPr sz="3600"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250" y="2823875"/>
            <a:ext cx="2786801" cy="209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400" y="2571750"/>
            <a:ext cx="1643948" cy="24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 rotWithShape="1">
          <a:blip r:embed="rId4">
            <a:alphaModFix/>
          </a:blip>
          <a:srcRect b="8550" l="0" r="0" t="0"/>
          <a:stretch/>
        </p:blipFill>
        <p:spPr>
          <a:xfrm>
            <a:off x="3647167" y="142450"/>
            <a:ext cx="1749183" cy="2467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9"/>
          <p:cNvGrpSpPr/>
          <p:nvPr/>
        </p:nvGrpSpPr>
        <p:grpSpPr>
          <a:xfrm>
            <a:off x="2003225" y="-8"/>
            <a:ext cx="5319775" cy="4076108"/>
            <a:chOff x="2003225" y="-8"/>
            <a:chExt cx="5319775" cy="4076108"/>
          </a:xfrm>
        </p:grpSpPr>
        <p:pic>
          <p:nvPicPr>
            <p:cNvPr id="114" name="Google Shape;114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9450" y="-8"/>
              <a:ext cx="1643950" cy="924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79050" y="2590792"/>
              <a:ext cx="1643950" cy="924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03225" y="2662392"/>
              <a:ext cx="1643950" cy="924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9"/>
            <p:cNvSpPr/>
            <p:nvPr/>
          </p:nvSpPr>
          <p:spPr>
            <a:xfrm>
              <a:off x="4010925" y="3514200"/>
              <a:ext cx="1390500" cy="561900"/>
            </a:xfrm>
            <a:prstGeom prst="rect">
              <a:avLst/>
            </a:prstGeom>
            <a:solidFill>
              <a:srgbClr val="D9EAD3"/>
            </a:solidFill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Consensus</a:t>
              </a:r>
              <a:endParaRPr/>
            </a:p>
          </p:txBody>
        </p:sp>
      </p:grpSp>
      <p:pic>
        <p:nvPicPr>
          <p:cNvPr id="118" name="Google Shape;118;p19"/>
          <p:cNvPicPr preferRelativeResize="0"/>
          <p:nvPr/>
        </p:nvPicPr>
        <p:blipFill rotWithShape="1">
          <a:blip r:embed="rId6">
            <a:alphaModFix/>
          </a:blip>
          <a:srcRect b="0" l="22832" r="22216" t="0"/>
          <a:stretch/>
        </p:blipFill>
        <p:spPr>
          <a:xfrm>
            <a:off x="7511025" y="2691525"/>
            <a:ext cx="1100525" cy="222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150" y="1690375"/>
            <a:ext cx="1643948" cy="246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9149" y="1745075"/>
            <a:ext cx="1090275" cy="109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5199" y="588013"/>
            <a:ext cx="4408233" cy="4408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1360598"/>
            <a:ext cx="2831425" cy="283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5750" y="166565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0500" y="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6125" y="1665650"/>
            <a:ext cx="2106525" cy="210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50" y="219905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700" y="53340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325" y="2199050"/>
            <a:ext cx="2106525" cy="2106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2" name="Google Shape;142;p22"/>
          <p:cNvGraphicFramePr/>
          <p:nvPr/>
        </p:nvGraphicFramePr>
        <p:xfrm>
          <a:off x="9525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3" name="Google Shape;143;p22"/>
          <p:cNvGraphicFramePr/>
          <p:nvPr/>
        </p:nvGraphicFramePr>
        <p:xfrm>
          <a:off x="3238500" y="24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4" name="Google Shape;144;p22"/>
          <p:cNvGraphicFramePr/>
          <p:nvPr/>
        </p:nvGraphicFramePr>
        <p:xfrm>
          <a:off x="55245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50" y="219905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700" y="53340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325" y="2199050"/>
            <a:ext cx="2106525" cy="2106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2" name="Google Shape;152;p23"/>
          <p:cNvGraphicFramePr/>
          <p:nvPr/>
        </p:nvGraphicFramePr>
        <p:xfrm>
          <a:off x="9525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r>
                        <a:rPr b="1" lang="en"/>
                        <a:t>00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3" name="Google Shape;153;p23"/>
          <p:cNvGraphicFramePr/>
          <p:nvPr/>
        </p:nvGraphicFramePr>
        <p:xfrm>
          <a:off x="3238500" y="24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54" name="Google Shape;154;p23"/>
          <p:cNvGraphicFramePr/>
          <p:nvPr/>
        </p:nvGraphicFramePr>
        <p:xfrm>
          <a:off x="55245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55" name="Google Shape;15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76825"/>
            <a:ext cx="1643948" cy="24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3"/>
          <p:cNvSpPr/>
          <p:nvPr/>
        </p:nvSpPr>
        <p:spPr>
          <a:xfrm>
            <a:off x="2051350" y="1337450"/>
            <a:ext cx="5365200" cy="22848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Inconsistent State</a:t>
            </a:r>
            <a:endParaRPr sz="4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7950" y="219905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700" y="533400"/>
            <a:ext cx="2106525" cy="210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325" y="2199050"/>
            <a:ext cx="2106525" cy="2106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24"/>
          <p:cNvGraphicFramePr/>
          <p:nvPr/>
        </p:nvGraphicFramePr>
        <p:xfrm>
          <a:off x="9525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100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5" name="Google Shape;165;p24"/>
          <p:cNvGraphicFramePr/>
          <p:nvPr/>
        </p:nvGraphicFramePr>
        <p:xfrm>
          <a:off x="3238500" y="247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100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66" name="Google Shape;166;p24"/>
          <p:cNvGraphicFramePr/>
          <p:nvPr/>
        </p:nvGraphicFramePr>
        <p:xfrm>
          <a:off x="5524500" y="421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{EE6D5B3F-BB46-4773-A9BD-39845686CCF7}</a:tableStyleId>
              </a:tblPr>
              <a:tblGrid>
                <a:gridCol w="1315100"/>
                <a:gridCol w="1315100"/>
              </a:tblGrid>
              <a:tr h="473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Albert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100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76825"/>
            <a:ext cx="1643948" cy="246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/>
          <p:nvPr/>
        </p:nvSpPr>
        <p:spPr>
          <a:xfrm>
            <a:off x="3934725" y="3209400"/>
            <a:ext cx="1390500" cy="561900"/>
          </a:xfrm>
          <a:prstGeom prst="rect">
            <a:avLst/>
          </a:prstGeom>
          <a:solidFill>
            <a:srgbClr val="D9EAD3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Consensus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1147950" y="1304400"/>
            <a:ext cx="6731400" cy="2434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Consensus protocols</a:t>
            </a:r>
            <a:r>
              <a:rPr lang="en" sz="3600"/>
              <a:t> enable a distributed set of machines to agree on the same value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Robust and High-Performance Wide-Area</a:t>
            </a:r>
            <a:endParaRPr sz="34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480"/>
              <a:t>Consensus Protocols</a:t>
            </a:r>
            <a:endParaRPr b="1" sz="2780"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/>
          <p:nvPr/>
        </p:nvSpPr>
        <p:spPr>
          <a:xfrm>
            <a:off x="2183550" y="1447625"/>
            <a:ext cx="4770300" cy="639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175" y="725755"/>
            <a:ext cx="6719025" cy="3531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7"/>
          <p:cNvPicPr preferRelativeResize="0"/>
          <p:nvPr/>
        </p:nvPicPr>
        <p:blipFill rotWithShape="1">
          <a:blip r:embed="rId4">
            <a:alphaModFix/>
          </a:blip>
          <a:srcRect b="0" l="0" r="66168" t="0"/>
          <a:stretch/>
        </p:blipFill>
        <p:spPr>
          <a:xfrm>
            <a:off x="1841148" y="981850"/>
            <a:ext cx="591900" cy="14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 rotWithShape="1">
          <a:blip r:embed="rId4">
            <a:alphaModFix/>
          </a:blip>
          <a:srcRect b="0" l="0" r="66168" t="0"/>
          <a:stretch/>
        </p:blipFill>
        <p:spPr>
          <a:xfrm>
            <a:off x="2907948" y="2201050"/>
            <a:ext cx="591900" cy="14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 rotWithShape="1">
          <a:blip r:embed="rId4">
            <a:alphaModFix/>
          </a:blip>
          <a:srcRect b="0" l="0" r="66168" t="0"/>
          <a:stretch/>
        </p:blipFill>
        <p:spPr>
          <a:xfrm>
            <a:off x="4127148" y="2048650"/>
            <a:ext cx="591900" cy="14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 b="0" l="0" r="66168" t="0"/>
          <a:stretch/>
        </p:blipFill>
        <p:spPr>
          <a:xfrm>
            <a:off x="5651148" y="1058050"/>
            <a:ext cx="591900" cy="149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7"/>
          <p:cNvPicPr preferRelativeResize="0"/>
          <p:nvPr/>
        </p:nvPicPr>
        <p:blipFill rotWithShape="1">
          <a:blip r:embed="rId4">
            <a:alphaModFix/>
          </a:blip>
          <a:srcRect b="0" l="0" r="66168" t="0"/>
          <a:stretch/>
        </p:blipFill>
        <p:spPr>
          <a:xfrm>
            <a:off x="6260748" y="2505850"/>
            <a:ext cx="591900" cy="14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Robust and High-Performance </a:t>
            </a:r>
            <a:r>
              <a:rPr b="1" lang="en" sz="3480"/>
              <a:t>Wide-Area</a:t>
            </a:r>
            <a:endParaRPr b="1" sz="34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Consensus Protocols</a:t>
            </a:r>
            <a:endParaRPr sz="2780"/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8"/>
          <p:cNvSpPr/>
          <p:nvPr/>
        </p:nvSpPr>
        <p:spPr>
          <a:xfrm>
            <a:off x="6425950" y="923700"/>
            <a:ext cx="2412600" cy="639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Consensus</a:t>
            </a:r>
            <a:endParaRPr/>
          </a:p>
        </p:txBody>
      </p:sp>
      <p:sp>
        <p:nvSpPr>
          <p:cNvPr id="207" name="Google Shape;20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8" name="Google Shape;208;p29"/>
          <p:cNvCxnSpPr/>
          <p:nvPr/>
        </p:nvCxnSpPr>
        <p:spPr>
          <a:xfrm>
            <a:off x="497950" y="1772625"/>
            <a:ext cx="8262600" cy="3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29"/>
          <p:cNvSpPr txBox="1"/>
          <p:nvPr/>
        </p:nvSpPr>
        <p:spPr>
          <a:xfrm>
            <a:off x="4584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80s/90s</a:t>
            </a:r>
            <a:r>
              <a:rPr lang="en" sz="1800">
                <a:solidFill>
                  <a:schemeClr val="dk2"/>
                </a:solidFill>
              </a:rPr>
              <a:t> 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FLP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Paxos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View Stamp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0" name="Google Shape;210;p29"/>
          <p:cNvSpPr txBox="1"/>
          <p:nvPr/>
        </p:nvSpPr>
        <p:spPr>
          <a:xfrm>
            <a:off x="1677675" y="1795575"/>
            <a:ext cx="10788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2000</a:t>
            </a:r>
            <a:r>
              <a:rPr lang="en" sz="1800">
                <a:solidFill>
                  <a:schemeClr val="dk2"/>
                </a:solidFill>
              </a:rPr>
              <a:t>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PBFT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Fast Paxos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</p:txBody>
      </p:sp>
      <p:sp>
        <p:nvSpPr>
          <p:cNvPr id="211" name="Google Shape;211;p29"/>
          <p:cNvSpPr txBox="1"/>
          <p:nvPr/>
        </p:nvSpPr>
        <p:spPr>
          <a:xfrm>
            <a:off x="26682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2010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Mencius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EPaxos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Raft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WPaxos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Pig Paxos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12" name="Google Shape;212;p29"/>
          <p:cNvSpPr txBox="1"/>
          <p:nvPr/>
        </p:nvSpPr>
        <p:spPr>
          <a:xfrm>
            <a:off x="37350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2020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Hotstuff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Dag-Rider</a:t>
            </a:r>
            <a:endParaRPr sz="1100">
              <a:solidFill>
                <a:schemeClr val="dk2"/>
              </a:solidFill>
            </a:endParaRPr>
          </a:p>
        </p:txBody>
      </p:sp>
      <p:grpSp>
        <p:nvGrpSpPr>
          <p:cNvPr id="213" name="Google Shape;213;p29"/>
          <p:cNvGrpSpPr/>
          <p:nvPr/>
        </p:nvGrpSpPr>
        <p:grpSpPr>
          <a:xfrm>
            <a:off x="3658875" y="2657550"/>
            <a:ext cx="1707600" cy="1607625"/>
            <a:chOff x="3658875" y="2657550"/>
            <a:chExt cx="1707600" cy="1607625"/>
          </a:xfrm>
        </p:grpSpPr>
        <p:sp>
          <p:nvSpPr>
            <p:cNvPr id="214" name="Google Shape;214;p29"/>
            <p:cNvSpPr txBox="1"/>
            <p:nvPr/>
          </p:nvSpPr>
          <p:spPr>
            <a:xfrm>
              <a:off x="3658875" y="3471975"/>
              <a:ext cx="1707600" cy="7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2"/>
                  </a:solidFill>
                </a:rPr>
                <a:t>Started thesis</a:t>
              </a:r>
              <a:endParaRPr sz="1100">
                <a:solidFill>
                  <a:schemeClr val="dk2"/>
                </a:solidFill>
              </a:endParaRPr>
            </a:p>
          </p:txBody>
        </p:sp>
        <p:cxnSp>
          <p:nvCxnSpPr>
            <p:cNvPr id="215" name="Google Shape;215;p29"/>
            <p:cNvCxnSpPr/>
            <p:nvPr/>
          </p:nvCxnSpPr>
          <p:spPr>
            <a:xfrm flipH="1" rot="10800000">
              <a:off x="4063825" y="2657550"/>
              <a:ext cx="8100" cy="78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/>
          <p:nvPr/>
        </p:nvSpPr>
        <p:spPr>
          <a:xfrm>
            <a:off x="1794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221" name="Google Shape;221;p30"/>
          <p:cNvSpPr/>
          <p:nvPr/>
        </p:nvSpPr>
        <p:spPr>
          <a:xfrm>
            <a:off x="2325825" y="21768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Existing Consensus Protocols</a:t>
            </a:r>
            <a:endParaRPr sz="1900"/>
          </a:p>
        </p:txBody>
      </p:sp>
      <p:sp>
        <p:nvSpPr>
          <p:cNvPr id="222" name="Google Shape;222;p30"/>
          <p:cNvSpPr/>
          <p:nvPr/>
        </p:nvSpPr>
        <p:spPr>
          <a:xfrm>
            <a:off x="72660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  <p:sp>
        <p:nvSpPr>
          <p:cNvPr id="223" name="Google Shape;223;p30"/>
          <p:cNvSpPr/>
          <p:nvPr/>
        </p:nvSpPr>
        <p:spPr>
          <a:xfrm>
            <a:off x="1794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224" name="Google Shape;22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Performance using Leader-based Consensus</a:t>
            </a:r>
            <a:endParaRPr/>
          </a:p>
        </p:txBody>
      </p:sp>
      <p:pic>
        <p:nvPicPr>
          <p:cNvPr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270" y="2705378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002" y="1368325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002" y="2589113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002" y="3809901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1"/>
          <p:cNvPicPr preferRelativeResize="0"/>
          <p:nvPr/>
        </p:nvPicPr>
        <p:blipFill rotWithShape="1">
          <a:blip r:embed="rId4">
            <a:alphaModFix/>
          </a:blip>
          <a:srcRect b="30143" l="0" r="0" t="0"/>
          <a:stretch/>
        </p:blipFill>
        <p:spPr>
          <a:xfrm>
            <a:off x="1456200" y="2936622"/>
            <a:ext cx="1363062" cy="8520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31"/>
          <p:cNvCxnSpPr/>
          <p:nvPr/>
        </p:nvCxnSpPr>
        <p:spPr>
          <a:xfrm>
            <a:off x="2968592" y="3264315"/>
            <a:ext cx="121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36" name="Google Shape;236;p31"/>
          <p:cNvGrpSpPr/>
          <p:nvPr/>
        </p:nvGrpSpPr>
        <p:grpSpPr>
          <a:xfrm>
            <a:off x="5372451" y="2004165"/>
            <a:ext cx="1414740" cy="2556249"/>
            <a:chOff x="4754100" y="1047700"/>
            <a:chExt cx="1659325" cy="3350700"/>
          </a:xfrm>
        </p:grpSpPr>
        <p:cxnSp>
          <p:nvCxnSpPr>
            <p:cNvPr id="237" name="Google Shape;237;p31"/>
            <p:cNvCxnSpPr/>
            <p:nvPr/>
          </p:nvCxnSpPr>
          <p:spPr>
            <a:xfrm flipH="1" rot="10800000">
              <a:off x="4825825" y="1047700"/>
              <a:ext cx="1587600" cy="1317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8" name="Google Shape;238;p31"/>
            <p:cNvCxnSpPr/>
            <p:nvPr/>
          </p:nvCxnSpPr>
          <p:spPr>
            <a:xfrm>
              <a:off x="4754100" y="2928100"/>
              <a:ext cx="1420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9" name="Google Shape;239;p31"/>
            <p:cNvCxnSpPr/>
            <p:nvPr/>
          </p:nvCxnSpPr>
          <p:spPr>
            <a:xfrm>
              <a:off x="4817400" y="3516400"/>
              <a:ext cx="1554900" cy="882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240" name="Google Shape;240;p31"/>
          <p:cNvGrpSpPr/>
          <p:nvPr/>
        </p:nvGrpSpPr>
        <p:grpSpPr>
          <a:xfrm>
            <a:off x="5377225" y="2340337"/>
            <a:ext cx="1330354" cy="2305903"/>
            <a:chOff x="4759700" y="1488350"/>
            <a:chExt cx="1560350" cy="3022550"/>
          </a:xfrm>
        </p:grpSpPr>
        <p:cxnSp>
          <p:nvCxnSpPr>
            <p:cNvPr id="241" name="Google Shape;241;p31"/>
            <p:cNvCxnSpPr/>
            <p:nvPr/>
          </p:nvCxnSpPr>
          <p:spPr>
            <a:xfrm flipH="1">
              <a:off x="5021650" y="1488350"/>
              <a:ext cx="1298400" cy="104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2" name="Google Shape;242;p31"/>
            <p:cNvCxnSpPr/>
            <p:nvPr/>
          </p:nvCxnSpPr>
          <p:spPr>
            <a:xfrm flipH="1">
              <a:off x="4792350" y="3114200"/>
              <a:ext cx="1342200" cy="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3" name="Google Shape;243;p31"/>
            <p:cNvCxnSpPr/>
            <p:nvPr/>
          </p:nvCxnSpPr>
          <p:spPr>
            <a:xfrm rot="10800000">
              <a:off x="4759700" y="3714400"/>
              <a:ext cx="1320300" cy="7965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44" name="Google Shape;244;p31"/>
          <p:cNvCxnSpPr/>
          <p:nvPr/>
        </p:nvCxnSpPr>
        <p:spPr>
          <a:xfrm rot="10800000">
            <a:off x="2977130" y="3580822"/>
            <a:ext cx="110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5" name="Google Shape;24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70125"/>
            <a:ext cx="2495550" cy="1562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163" y="1137425"/>
            <a:ext cx="5305425" cy="17335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7" name="Google Shape;247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6138" y="1137413"/>
            <a:ext cx="7686675" cy="218122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8" name="Google Shape;24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Problem of Leader Based Protocols</a:t>
            </a:r>
            <a:endParaRPr/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950" y="2457052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369" y="1347050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369" y="2499678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369" y="3652306"/>
            <a:ext cx="1087230" cy="12007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32"/>
          <p:cNvGrpSpPr/>
          <p:nvPr/>
        </p:nvGrpSpPr>
        <p:grpSpPr>
          <a:xfrm>
            <a:off x="986409" y="2419457"/>
            <a:ext cx="2723738" cy="1505573"/>
            <a:chOff x="3096373" y="2419350"/>
            <a:chExt cx="2061720" cy="1081512"/>
          </a:xfrm>
        </p:grpSpPr>
        <p:pic>
          <p:nvPicPr>
            <p:cNvPr id="259" name="Google Shape;259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97910" y="2551326"/>
              <a:ext cx="1258652" cy="817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32"/>
            <p:cNvSpPr/>
            <p:nvPr/>
          </p:nvSpPr>
          <p:spPr>
            <a:xfrm>
              <a:off x="3096373" y="2419350"/>
              <a:ext cx="2061720" cy="1081512"/>
            </a:xfrm>
            <a:prstGeom prst="cloud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1" name="Google Shape;261;p32"/>
          <p:cNvSpPr txBox="1"/>
          <p:nvPr>
            <p:ph idx="1" type="body"/>
          </p:nvPr>
        </p:nvSpPr>
        <p:spPr>
          <a:xfrm>
            <a:off x="5097950" y="1347050"/>
            <a:ext cx="3064800" cy="2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Network partition. </a:t>
            </a:r>
            <a:br>
              <a:rPr lang="en" sz="2000"/>
            </a:b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Link failures.</a:t>
            </a:r>
            <a:br>
              <a:rPr lang="en" sz="2000"/>
            </a:b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DDoS attacks.</a:t>
            </a:r>
            <a:br>
              <a:rPr lang="en" sz="2000"/>
            </a:b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Leader crash.</a:t>
            </a:r>
            <a:endParaRPr sz="2000"/>
          </a:p>
        </p:txBody>
      </p:sp>
      <p:sp>
        <p:nvSpPr>
          <p:cNvPr id="262" name="Google Shape;26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/>
          <p:nvPr/>
        </p:nvSpPr>
        <p:spPr>
          <a:xfrm>
            <a:off x="1794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268" name="Google Shape;268;p33"/>
          <p:cNvSpPr/>
          <p:nvPr/>
        </p:nvSpPr>
        <p:spPr>
          <a:xfrm>
            <a:off x="2325825" y="21768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Existing Consensus Protocols</a:t>
            </a:r>
            <a:endParaRPr sz="1900"/>
          </a:p>
        </p:txBody>
      </p:sp>
      <p:sp>
        <p:nvSpPr>
          <p:cNvPr id="269" name="Google Shape;269;p33"/>
          <p:cNvSpPr/>
          <p:nvPr/>
        </p:nvSpPr>
        <p:spPr>
          <a:xfrm>
            <a:off x="72660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72660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 randomized consensus protocols</a:t>
            </a:r>
            <a:endParaRPr/>
          </a:p>
        </p:txBody>
      </p:sp>
      <p:cxnSp>
        <p:nvCxnSpPr>
          <p:cNvPr id="277" name="Google Shape;277;p34"/>
          <p:cNvCxnSpPr/>
          <p:nvPr/>
        </p:nvCxnSpPr>
        <p:spPr>
          <a:xfrm>
            <a:off x="299375" y="2504533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4"/>
          <p:cNvCxnSpPr/>
          <p:nvPr/>
        </p:nvCxnSpPr>
        <p:spPr>
          <a:xfrm>
            <a:off x="299375" y="2854742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4"/>
          <p:cNvCxnSpPr/>
          <p:nvPr/>
        </p:nvCxnSpPr>
        <p:spPr>
          <a:xfrm>
            <a:off x="299375" y="3204950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" name="Google Shape;280;p34"/>
          <p:cNvCxnSpPr/>
          <p:nvPr/>
        </p:nvCxnSpPr>
        <p:spPr>
          <a:xfrm flipH="1" rot="10800000">
            <a:off x="282125" y="2158525"/>
            <a:ext cx="5287200" cy="81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34"/>
          <p:cNvCxnSpPr/>
          <p:nvPr/>
        </p:nvCxnSpPr>
        <p:spPr>
          <a:xfrm>
            <a:off x="506025" y="21853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4"/>
          <p:cNvCxnSpPr/>
          <p:nvPr/>
        </p:nvCxnSpPr>
        <p:spPr>
          <a:xfrm>
            <a:off x="512250" y="21915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34"/>
          <p:cNvCxnSpPr/>
          <p:nvPr/>
        </p:nvCxnSpPr>
        <p:spPr>
          <a:xfrm>
            <a:off x="506025" y="21853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34"/>
          <p:cNvCxnSpPr/>
          <p:nvPr/>
        </p:nvCxnSpPr>
        <p:spPr>
          <a:xfrm>
            <a:off x="2182425" y="21853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34"/>
          <p:cNvCxnSpPr/>
          <p:nvPr/>
        </p:nvCxnSpPr>
        <p:spPr>
          <a:xfrm>
            <a:off x="2188650" y="21915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34"/>
          <p:cNvCxnSpPr/>
          <p:nvPr/>
        </p:nvCxnSpPr>
        <p:spPr>
          <a:xfrm>
            <a:off x="2182425" y="21853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4011225" y="21853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4017450" y="21915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4011225" y="21853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34"/>
          <p:cNvCxnSpPr/>
          <p:nvPr/>
        </p:nvCxnSpPr>
        <p:spPr>
          <a:xfrm flipH="1" rot="10800000">
            <a:off x="493600" y="21728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34"/>
          <p:cNvCxnSpPr/>
          <p:nvPr/>
        </p:nvCxnSpPr>
        <p:spPr>
          <a:xfrm>
            <a:off x="530900" y="25087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2" name="Google Shape;292;p34"/>
          <p:cNvCxnSpPr/>
          <p:nvPr/>
        </p:nvCxnSpPr>
        <p:spPr>
          <a:xfrm>
            <a:off x="555800" y="25087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3" name="Google Shape;293;p34"/>
          <p:cNvCxnSpPr/>
          <p:nvPr/>
        </p:nvCxnSpPr>
        <p:spPr>
          <a:xfrm flipH="1" rot="10800000">
            <a:off x="2170000" y="21728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4"/>
          <p:cNvCxnSpPr/>
          <p:nvPr/>
        </p:nvCxnSpPr>
        <p:spPr>
          <a:xfrm>
            <a:off x="2207300" y="25087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4"/>
          <p:cNvCxnSpPr/>
          <p:nvPr/>
        </p:nvCxnSpPr>
        <p:spPr>
          <a:xfrm>
            <a:off x="2232200" y="25087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4"/>
          <p:cNvCxnSpPr/>
          <p:nvPr/>
        </p:nvCxnSpPr>
        <p:spPr>
          <a:xfrm flipH="1" rot="10800000">
            <a:off x="3998800" y="21728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34"/>
          <p:cNvCxnSpPr/>
          <p:nvPr/>
        </p:nvCxnSpPr>
        <p:spPr>
          <a:xfrm>
            <a:off x="4036100" y="25087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34"/>
          <p:cNvCxnSpPr/>
          <p:nvPr/>
        </p:nvCxnSpPr>
        <p:spPr>
          <a:xfrm>
            <a:off x="4061000" y="25087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9" name="Google Shape;299;p34"/>
          <p:cNvCxnSpPr/>
          <p:nvPr/>
        </p:nvCxnSpPr>
        <p:spPr>
          <a:xfrm flipH="1" rot="10800000">
            <a:off x="555800" y="22100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4"/>
          <p:cNvCxnSpPr/>
          <p:nvPr/>
        </p:nvCxnSpPr>
        <p:spPr>
          <a:xfrm flipH="1" rot="10800000">
            <a:off x="549575" y="25025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4"/>
          <p:cNvCxnSpPr/>
          <p:nvPr/>
        </p:nvCxnSpPr>
        <p:spPr>
          <a:xfrm>
            <a:off x="562000" y="28445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34"/>
          <p:cNvCxnSpPr/>
          <p:nvPr/>
        </p:nvCxnSpPr>
        <p:spPr>
          <a:xfrm flipH="1" rot="10800000">
            <a:off x="2232200" y="22100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34"/>
          <p:cNvCxnSpPr/>
          <p:nvPr/>
        </p:nvCxnSpPr>
        <p:spPr>
          <a:xfrm flipH="1" rot="10800000">
            <a:off x="2225975" y="25025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34"/>
          <p:cNvCxnSpPr/>
          <p:nvPr/>
        </p:nvCxnSpPr>
        <p:spPr>
          <a:xfrm>
            <a:off x="2238400" y="28445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34"/>
          <p:cNvCxnSpPr/>
          <p:nvPr/>
        </p:nvCxnSpPr>
        <p:spPr>
          <a:xfrm flipH="1" rot="10800000">
            <a:off x="4061000" y="22100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34"/>
          <p:cNvCxnSpPr/>
          <p:nvPr/>
        </p:nvCxnSpPr>
        <p:spPr>
          <a:xfrm flipH="1" rot="10800000">
            <a:off x="4054775" y="25025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34"/>
          <p:cNvCxnSpPr/>
          <p:nvPr/>
        </p:nvCxnSpPr>
        <p:spPr>
          <a:xfrm>
            <a:off x="4067200" y="28445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8" name="Google Shape;308;p34"/>
          <p:cNvCxnSpPr/>
          <p:nvPr/>
        </p:nvCxnSpPr>
        <p:spPr>
          <a:xfrm flipH="1" rot="10800000">
            <a:off x="562000" y="22225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34"/>
          <p:cNvCxnSpPr/>
          <p:nvPr/>
        </p:nvCxnSpPr>
        <p:spPr>
          <a:xfrm flipH="1" rot="10800000">
            <a:off x="562000" y="25460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0" name="Google Shape;310;p34"/>
          <p:cNvCxnSpPr/>
          <p:nvPr/>
        </p:nvCxnSpPr>
        <p:spPr>
          <a:xfrm flipH="1" rot="10800000">
            <a:off x="580675" y="28571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1" name="Google Shape;311;p34"/>
          <p:cNvCxnSpPr/>
          <p:nvPr/>
        </p:nvCxnSpPr>
        <p:spPr>
          <a:xfrm flipH="1" rot="10800000">
            <a:off x="2238400" y="22225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34"/>
          <p:cNvCxnSpPr/>
          <p:nvPr/>
        </p:nvCxnSpPr>
        <p:spPr>
          <a:xfrm flipH="1" rot="10800000">
            <a:off x="2238400" y="25460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4"/>
          <p:cNvCxnSpPr/>
          <p:nvPr/>
        </p:nvCxnSpPr>
        <p:spPr>
          <a:xfrm flipH="1" rot="10800000">
            <a:off x="2257075" y="28571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4"/>
          <p:cNvCxnSpPr/>
          <p:nvPr/>
        </p:nvCxnSpPr>
        <p:spPr>
          <a:xfrm flipH="1" rot="10800000">
            <a:off x="4067200" y="22225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4"/>
          <p:cNvCxnSpPr/>
          <p:nvPr/>
        </p:nvCxnSpPr>
        <p:spPr>
          <a:xfrm flipH="1" rot="10800000">
            <a:off x="4067200" y="25460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4"/>
          <p:cNvCxnSpPr/>
          <p:nvPr/>
        </p:nvCxnSpPr>
        <p:spPr>
          <a:xfrm flipH="1" rot="10800000">
            <a:off x="4085875" y="28571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4"/>
          <p:cNvSpPr txBox="1"/>
          <p:nvPr>
            <p:ph idx="1" type="body"/>
          </p:nvPr>
        </p:nvSpPr>
        <p:spPr>
          <a:xfrm>
            <a:off x="5840025" y="1990675"/>
            <a:ext cx="2992200" cy="18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Less efficient.</a:t>
            </a:r>
            <a:r>
              <a:rPr lang="en" sz="1600"/>
              <a:t>  </a:t>
            </a:r>
            <a:br>
              <a:rPr lang="en" sz="1600"/>
            </a:br>
            <a:endParaRPr sz="16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Hard to understand. </a:t>
            </a:r>
            <a:br>
              <a:rPr lang="en" sz="2000"/>
            </a:b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Rarely deployed.</a:t>
            </a:r>
            <a:endParaRPr sz="2000"/>
          </a:p>
        </p:txBody>
      </p:sp>
      <p:sp>
        <p:nvSpPr>
          <p:cNvPr id="318" name="Google Shape;31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 txBox="1"/>
          <p:nvPr>
            <p:ph type="title"/>
          </p:nvPr>
        </p:nvSpPr>
        <p:spPr>
          <a:xfrm>
            <a:off x="1911900" y="2883425"/>
            <a:ext cx="55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have the best of both worlds?</a:t>
            </a:r>
            <a:endParaRPr/>
          </a:p>
        </p:txBody>
      </p:sp>
      <p:sp>
        <p:nvSpPr>
          <p:cNvPr id="324" name="Google Shape;324;p35"/>
          <p:cNvSpPr/>
          <p:nvPr/>
        </p:nvSpPr>
        <p:spPr>
          <a:xfrm>
            <a:off x="179450" y="15571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325" name="Google Shape;325;p35"/>
          <p:cNvSpPr/>
          <p:nvPr/>
        </p:nvSpPr>
        <p:spPr>
          <a:xfrm>
            <a:off x="2325825" y="14910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Existing Consensus Protocols</a:t>
            </a:r>
            <a:endParaRPr sz="1900"/>
          </a:p>
        </p:txBody>
      </p:sp>
      <p:sp>
        <p:nvSpPr>
          <p:cNvPr id="326" name="Google Shape;326;p35"/>
          <p:cNvSpPr/>
          <p:nvPr/>
        </p:nvSpPr>
        <p:spPr>
          <a:xfrm>
            <a:off x="7266050" y="15571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  <p:sp>
        <p:nvSpPr>
          <p:cNvPr id="327" name="Google Shape;32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80"/>
              <a:t>Robust and High-Performance</a:t>
            </a:r>
            <a:r>
              <a:rPr lang="en" sz="3280"/>
              <a:t> </a:t>
            </a:r>
            <a:r>
              <a:rPr lang="en" sz="3280"/>
              <a:t>Wide-Area</a:t>
            </a:r>
            <a:endParaRPr sz="3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Consensus Protocols</a:t>
            </a:r>
            <a:endParaRPr sz="2580"/>
          </a:p>
        </p:txBody>
      </p:sp>
      <p:pic>
        <p:nvPicPr>
          <p:cNvPr id="333" name="Google Shape;3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5" name="Google Shape;33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6"/>
          <p:cNvSpPr/>
          <p:nvPr/>
        </p:nvSpPr>
        <p:spPr>
          <a:xfrm>
            <a:off x="406150" y="923700"/>
            <a:ext cx="6215400" cy="647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Robust and High-Performance</a:t>
            </a:r>
            <a:r>
              <a:rPr lang="en" sz="3280"/>
              <a:t> Wide-Area</a:t>
            </a:r>
            <a:endParaRPr sz="3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Consensus Protocols</a:t>
            </a:r>
            <a:endParaRPr sz="2580"/>
          </a:p>
        </p:txBody>
      </p:sp>
      <p:pic>
        <p:nvPicPr>
          <p:cNvPr id="342" name="Google Shape;3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4" name="Google Shape;34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Contributions</a:t>
            </a:r>
            <a:endParaRPr/>
          </a:p>
        </p:txBody>
      </p:sp>
      <p:sp>
        <p:nvSpPr>
          <p:cNvPr id="350" name="Google Shape;350;p38"/>
          <p:cNvSpPr/>
          <p:nvPr/>
        </p:nvSpPr>
        <p:spPr>
          <a:xfrm>
            <a:off x="4239200" y="1544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Baxos</a:t>
            </a:r>
            <a:endParaRPr sz="1600"/>
          </a:p>
        </p:txBody>
      </p:sp>
      <p:sp>
        <p:nvSpPr>
          <p:cNvPr id="351" name="Google Shape;351;p38"/>
          <p:cNvSpPr/>
          <p:nvPr/>
        </p:nvSpPr>
        <p:spPr>
          <a:xfrm>
            <a:off x="4239200" y="3068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QuePaxa</a:t>
            </a:r>
            <a:endParaRPr sz="1600"/>
          </a:p>
        </p:txBody>
      </p:sp>
      <p:sp>
        <p:nvSpPr>
          <p:cNvPr id="352" name="Google Shape;352;p38"/>
          <p:cNvSpPr/>
          <p:nvPr/>
        </p:nvSpPr>
        <p:spPr>
          <a:xfrm>
            <a:off x="4239200" y="3830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Mahi-Mahi</a:t>
            </a:r>
            <a:endParaRPr sz="1600"/>
          </a:p>
        </p:txBody>
      </p:sp>
      <p:sp>
        <p:nvSpPr>
          <p:cNvPr id="353" name="Google Shape;35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4" name="Google Shape;354;p38"/>
          <p:cNvGrpSpPr/>
          <p:nvPr/>
        </p:nvGrpSpPr>
        <p:grpSpPr>
          <a:xfrm>
            <a:off x="1746650" y="1660050"/>
            <a:ext cx="2446902" cy="2743200"/>
            <a:chOff x="133650" y="1788350"/>
            <a:chExt cx="2446902" cy="2743200"/>
          </a:xfrm>
        </p:grpSpPr>
        <p:sp>
          <p:nvSpPr>
            <p:cNvPr id="355" name="Google Shape;355;p38"/>
            <p:cNvSpPr/>
            <p:nvPr/>
          </p:nvSpPr>
          <p:spPr>
            <a:xfrm>
              <a:off x="133650" y="1788350"/>
              <a:ext cx="219900" cy="27432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6" name="Google Shape;356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8700" y="1994150"/>
              <a:ext cx="2111852" cy="21118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7" name="Google Shape;357;p38"/>
          <p:cNvSpPr/>
          <p:nvPr/>
        </p:nvSpPr>
        <p:spPr>
          <a:xfrm>
            <a:off x="4239200" y="2306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RACS-SADL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Contributions</a:t>
            </a:r>
            <a:endParaRPr/>
          </a:p>
        </p:txBody>
      </p:sp>
      <p:sp>
        <p:nvSpPr>
          <p:cNvPr id="363" name="Google Shape;36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4" name="Google Shape;364;p39"/>
          <p:cNvGrpSpPr/>
          <p:nvPr/>
        </p:nvGrpSpPr>
        <p:grpSpPr>
          <a:xfrm>
            <a:off x="101350" y="1696950"/>
            <a:ext cx="6632950" cy="572700"/>
            <a:chOff x="482350" y="1696950"/>
            <a:chExt cx="6632950" cy="572700"/>
          </a:xfrm>
        </p:grpSpPr>
        <p:sp>
          <p:nvSpPr>
            <p:cNvPr id="365" name="Google Shape;365;p39"/>
            <p:cNvSpPr/>
            <p:nvPr/>
          </p:nvSpPr>
          <p:spPr>
            <a:xfrm>
              <a:off x="482350" y="1696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Baxos</a:t>
              </a:r>
              <a:endParaRPr sz="1600"/>
            </a:p>
          </p:txBody>
        </p:sp>
        <p:sp>
          <p:nvSpPr>
            <p:cNvPr id="366" name="Google Shape;366;p39"/>
            <p:cNvSpPr/>
            <p:nvPr/>
          </p:nvSpPr>
          <p:spPr>
            <a:xfrm>
              <a:off x="2867600" y="1696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Robustness against leader-targeted attacks</a:t>
              </a:r>
              <a:endParaRPr sz="1600"/>
            </a:p>
          </p:txBody>
        </p:sp>
      </p:grpSp>
      <p:grpSp>
        <p:nvGrpSpPr>
          <p:cNvPr id="367" name="Google Shape;367;p39"/>
          <p:cNvGrpSpPr/>
          <p:nvPr/>
        </p:nvGrpSpPr>
        <p:grpSpPr>
          <a:xfrm>
            <a:off x="101350" y="2458950"/>
            <a:ext cx="10559650" cy="572700"/>
            <a:chOff x="101350" y="2458950"/>
            <a:chExt cx="10559650" cy="572700"/>
          </a:xfrm>
        </p:grpSpPr>
        <p:sp>
          <p:nvSpPr>
            <p:cNvPr id="368" name="Google Shape;368;p39"/>
            <p:cNvSpPr/>
            <p:nvPr/>
          </p:nvSpPr>
          <p:spPr>
            <a:xfrm>
              <a:off x="101350" y="2458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RACS-SADL</a:t>
              </a:r>
              <a:endParaRPr sz="1600"/>
            </a:p>
          </p:txBody>
        </p:sp>
        <p:sp>
          <p:nvSpPr>
            <p:cNvPr id="369" name="Google Shape;369;p39"/>
            <p:cNvSpPr/>
            <p:nvPr/>
          </p:nvSpPr>
          <p:spPr>
            <a:xfrm>
              <a:off x="2486600" y="2458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Asynchronous liveness and high scalability</a:t>
              </a:r>
              <a:endParaRPr sz="1600"/>
            </a:p>
          </p:txBody>
        </p:sp>
        <p:sp>
          <p:nvSpPr>
            <p:cNvPr id="370" name="Google Shape;370;p39"/>
            <p:cNvSpPr/>
            <p:nvPr/>
          </p:nvSpPr>
          <p:spPr>
            <a:xfrm>
              <a:off x="5077400" y="2458950"/>
              <a:ext cx="5583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(IEEE CLOUD 2025)</a:t>
              </a:r>
              <a:endParaRPr sz="1800"/>
            </a:p>
          </p:txBody>
        </p:sp>
      </p:grpSp>
      <p:grpSp>
        <p:nvGrpSpPr>
          <p:cNvPr id="371" name="Google Shape;371;p39"/>
          <p:cNvGrpSpPr/>
          <p:nvPr/>
        </p:nvGrpSpPr>
        <p:grpSpPr>
          <a:xfrm>
            <a:off x="101350" y="3220950"/>
            <a:ext cx="10559650" cy="572700"/>
            <a:chOff x="101350" y="3220950"/>
            <a:chExt cx="10559650" cy="572700"/>
          </a:xfrm>
        </p:grpSpPr>
        <p:sp>
          <p:nvSpPr>
            <p:cNvPr id="372" name="Google Shape;372;p39"/>
            <p:cNvSpPr/>
            <p:nvPr/>
          </p:nvSpPr>
          <p:spPr>
            <a:xfrm>
              <a:off x="101350" y="3220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QuePaxa</a:t>
              </a:r>
              <a:endParaRPr sz="1600"/>
            </a:p>
          </p:txBody>
        </p:sp>
        <p:sp>
          <p:nvSpPr>
            <p:cNvPr id="373" name="Google Shape;373;p39"/>
            <p:cNvSpPr/>
            <p:nvPr/>
          </p:nvSpPr>
          <p:spPr>
            <a:xfrm>
              <a:off x="2486600" y="3220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</a:t>
              </a:r>
              <a:r>
                <a:rPr lang="en" sz="1600"/>
                <a:t>echanisms to avoid tyranny of timeout problems in consensus</a:t>
              </a:r>
              <a:endParaRPr sz="1600"/>
            </a:p>
          </p:txBody>
        </p:sp>
        <p:sp>
          <p:nvSpPr>
            <p:cNvPr id="374" name="Google Shape;374;p39"/>
            <p:cNvSpPr/>
            <p:nvPr/>
          </p:nvSpPr>
          <p:spPr>
            <a:xfrm>
              <a:off x="5077400" y="3220950"/>
              <a:ext cx="5583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(ACM SOSP 2023)</a:t>
              </a:r>
              <a:endParaRPr sz="1800"/>
            </a:p>
          </p:txBody>
        </p:sp>
      </p:grpSp>
      <p:grpSp>
        <p:nvGrpSpPr>
          <p:cNvPr id="375" name="Google Shape;375;p39"/>
          <p:cNvGrpSpPr/>
          <p:nvPr/>
        </p:nvGrpSpPr>
        <p:grpSpPr>
          <a:xfrm>
            <a:off x="101350" y="3982950"/>
            <a:ext cx="10559650" cy="572700"/>
            <a:chOff x="101350" y="3982950"/>
            <a:chExt cx="10559650" cy="572700"/>
          </a:xfrm>
        </p:grpSpPr>
        <p:sp>
          <p:nvSpPr>
            <p:cNvPr id="376" name="Google Shape;376;p39"/>
            <p:cNvSpPr/>
            <p:nvPr/>
          </p:nvSpPr>
          <p:spPr>
            <a:xfrm>
              <a:off x="101350" y="3982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Mahi-Mahi</a:t>
              </a:r>
              <a:endParaRPr sz="1600"/>
            </a:p>
          </p:txBody>
        </p:sp>
        <p:sp>
          <p:nvSpPr>
            <p:cNvPr id="377" name="Google Shape;377;p39"/>
            <p:cNvSpPr/>
            <p:nvPr/>
          </p:nvSpPr>
          <p:spPr>
            <a:xfrm>
              <a:off x="2486600" y="3982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Scalable, asynchronous liveness in BFT</a:t>
              </a:r>
              <a:endParaRPr sz="1600"/>
            </a:p>
          </p:txBody>
        </p:sp>
        <p:sp>
          <p:nvSpPr>
            <p:cNvPr id="378" name="Google Shape;378;p39"/>
            <p:cNvSpPr/>
            <p:nvPr/>
          </p:nvSpPr>
          <p:spPr>
            <a:xfrm>
              <a:off x="5077400" y="3982950"/>
              <a:ext cx="5583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(IEEE ICDCS 2025)</a:t>
              </a:r>
              <a:endParaRPr sz="1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Contributions</a:t>
            </a:r>
            <a:endParaRPr/>
          </a:p>
        </p:txBody>
      </p:sp>
      <p:sp>
        <p:nvSpPr>
          <p:cNvPr id="384" name="Google Shape;384;p40"/>
          <p:cNvSpPr/>
          <p:nvPr/>
        </p:nvSpPr>
        <p:spPr>
          <a:xfrm>
            <a:off x="4239200" y="1544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Baxos</a:t>
            </a:r>
            <a:endParaRPr sz="1600"/>
          </a:p>
        </p:txBody>
      </p:sp>
      <p:sp>
        <p:nvSpPr>
          <p:cNvPr id="385" name="Google Shape;385;p40"/>
          <p:cNvSpPr/>
          <p:nvPr/>
        </p:nvSpPr>
        <p:spPr>
          <a:xfrm>
            <a:off x="4239200" y="3068550"/>
            <a:ext cx="2258700" cy="5727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QuePaxa</a:t>
            </a:r>
            <a:endParaRPr sz="1600"/>
          </a:p>
        </p:txBody>
      </p:sp>
      <p:sp>
        <p:nvSpPr>
          <p:cNvPr id="386" name="Google Shape;386;p40"/>
          <p:cNvSpPr/>
          <p:nvPr/>
        </p:nvSpPr>
        <p:spPr>
          <a:xfrm>
            <a:off x="4239200" y="3830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Mahi-Mahi</a:t>
            </a:r>
            <a:endParaRPr sz="1600"/>
          </a:p>
        </p:txBody>
      </p:sp>
      <p:sp>
        <p:nvSpPr>
          <p:cNvPr id="387" name="Google Shape;38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8" name="Google Shape;388;p40"/>
          <p:cNvGrpSpPr/>
          <p:nvPr/>
        </p:nvGrpSpPr>
        <p:grpSpPr>
          <a:xfrm>
            <a:off x="1746650" y="1660050"/>
            <a:ext cx="2446902" cy="2743200"/>
            <a:chOff x="133650" y="1788350"/>
            <a:chExt cx="2446902" cy="2743200"/>
          </a:xfrm>
        </p:grpSpPr>
        <p:sp>
          <p:nvSpPr>
            <p:cNvPr id="389" name="Google Shape;389;p40"/>
            <p:cNvSpPr/>
            <p:nvPr/>
          </p:nvSpPr>
          <p:spPr>
            <a:xfrm>
              <a:off x="133650" y="1788350"/>
              <a:ext cx="219900" cy="27432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90" name="Google Shape;3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8700" y="1994150"/>
              <a:ext cx="2111852" cy="21118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/>
          <p:nvPr/>
        </p:nvSpPr>
        <p:spPr>
          <a:xfrm>
            <a:off x="4239200" y="23065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RACS-SADL</a:t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97" name="Google Shape;39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Consensus</a:t>
            </a:r>
            <a:br>
              <a:rPr b="1" lang="en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Thesis Contributions</a:t>
            </a:r>
            <a:br>
              <a:rPr b="1" lang="en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QuePaxa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Summary</a:t>
            </a:r>
            <a:endParaRPr sz="2000"/>
          </a:p>
        </p:txBody>
      </p:sp>
      <p:sp>
        <p:nvSpPr>
          <p:cNvPr id="398" name="Google Shape;39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404" name="Google Shape;40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Consensus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Thesis Contributions</a:t>
            </a:r>
            <a:br>
              <a:rPr b="1" lang="en" sz="2000"/>
            </a:b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QuePaxa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Summary</a:t>
            </a:r>
            <a:endParaRPr sz="2000"/>
          </a:p>
        </p:txBody>
      </p:sp>
      <p:sp>
        <p:nvSpPr>
          <p:cNvPr id="405" name="Google Shape;40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/>
          <p:nvPr>
            <p:ph type="title"/>
          </p:nvPr>
        </p:nvSpPr>
        <p:spPr>
          <a:xfrm>
            <a:off x="461250" y="826025"/>
            <a:ext cx="844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20"/>
              <a:t>QuePaxa: Escaping the tyranny of timeouts in consensus</a:t>
            </a:r>
            <a:endParaRPr sz="3320"/>
          </a:p>
        </p:txBody>
      </p:sp>
      <p:sp>
        <p:nvSpPr>
          <p:cNvPr id="411" name="Google Shape;41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43"/>
          <p:cNvSpPr txBox="1"/>
          <p:nvPr/>
        </p:nvSpPr>
        <p:spPr>
          <a:xfrm>
            <a:off x="57300" y="2523575"/>
            <a:ext cx="89637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</a:rPr>
              <a:t>SOSP 2023</a:t>
            </a:r>
            <a:endParaRPr b="1" sz="3100">
              <a:solidFill>
                <a:schemeClr val="dk2"/>
              </a:solidFill>
            </a:endParaRPr>
          </a:p>
        </p:txBody>
      </p:sp>
      <p:pic>
        <p:nvPicPr>
          <p:cNvPr id="413" name="Google Shape;41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9250" y="3762600"/>
            <a:ext cx="2074524" cy="6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3"/>
          <p:cNvSpPr txBox="1"/>
          <p:nvPr/>
        </p:nvSpPr>
        <p:spPr>
          <a:xfrm>
            <a:off x="1371050" y="1761575"/>
            <a:ext cx="7356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95959"/>
                </a:solidFill>
              </a:rPr>
              <a:t>Pasindu Tennage*, Cristina Basescu*, Lefteris Kokoris-Kogias, Ewa Syta, Philipp Jovanovic, Bryan Ford</a:t>
            </a:r>
            <a:endParaRPr sz="10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Parallels of QuePaxa and hedging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algorithm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 Problems in Consensus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5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5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Conservative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Manually configured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45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/>
          <p:nvPr>
            <p:ph type="title"/>
          </p:nvPr>
        </p:nvSpPr>
        <p:spPr>
          <a:xfrm>
            <a:off x="311700" y="1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 [Multi-Paxos]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37" name="Google Shape;437;p46"/>
          <p:cNvCxnSpPr/>
          <p:nvPr/>
        </p:nvCxnSpPr>
        <p:spPr>
          <a:xfrm>
            <a:off x="438875" y="1218400"/>
            <a:ext cx="7924800" cy="50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46"/>
          <p:cNvCxnSpPr/>
          <p:nvPr/>
        </p:nvCxnSpPr>
        <p:spPr>
          <a:xfrm>
            <a:off x="438875" y="1980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6"/>
          <p:cNvCxnSpPr/>
          <p:nvPr/>
        </p:nvCxnSpPr>
        <p:spPr>
          <a:xfrm>
            <a:off x="438875" y="2742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46"/>
          <p:cNvCxnSpPr/>
          <p:nvPr/>
        </p:nvCxnSpPr>
        <p:spPr>
          <a:xfrm>
            <a:off x="438875" y="3504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" name="Google Shape;441;p46"/>
          <p:cNvSpPr txBox="1"/>
          <p:nvPr/>
        </p:nvSpPr>
        <p:spPr>
          <a:xfrm>
            <a:off x="349525" y="811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46"/>
          <p:cNvSpPr txBox="1"/>
          <p:nvPr/>
        </p:nvSpPr>
        <p:spPr>
          <a:xfrm>
            <a:off x="35000" y="1001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443" name="Google Shape;443;p46"/>
          <p:cNvSpPr txBox="1"/>
          <p:nvPr/>
        </p:nvSpPr>
        <p:spPr>
          <a:xfrm>
            <a:off x="35000" y="1763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444" name="Google Shape;444;p46"/>
          <p:cNvSpPr txBox="1"/>
          <p:nvPr/>
        </p:nvSpPr>
        <p:spPr>
          <a:xfrm>
            <a:off x="35000" y="2525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445" name="Google Shape;445;p46"/>
          <p:cNvSpPr txBox="1"/>
          <p:nvPr/>
        </p:nvSpPr>
        <p:spPr>
          <a:xfrm>
            <a:off x="35000" y="3287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3891300" y="38340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cxnSp>
        <p:nvCxnSpPr>
          <p:cNvPr id="447" name="Google Shape;447;p46"/>
          <p:cNvCxnSpPr/>
          <p:nvPr/>
        </p:nvCxnSpPr>
        <p:spPr>
          <a:xfrm>
            <a:off x="9113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46"/>
          <p:cNvCxnSpPr/>
          <p:nvPr/>
        </p:nvCxnSpPr>
        <p:spPr>
          <a:xfrm>
            <a:off x="9113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46"/>
          <p:cNvCxnSpPr/>
          <p:nvPr/>
        </p:nvCxnSpPr>
        <p:spPr>
          <a:xfrm>
            <a:off x="9113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50" name="Google Shape;45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04" y="7936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6"/>
          <p:cNvSpPr txBox="1"/>
          <p:nvPr/>
        </p:nvSpPr>
        <p:spPr>
          <a:xfrm>
            <a:off x="4196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452" name="Google Shape;452;p46"/>
          <p:cNvCxnSpPr/>
          <p:nvPr/>
        </p:nvCxnSpPr>
        <p:spPr>
          <a:xfrm flipH="1" rot="10800000">
            <a:off x="14452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6"/>
          <p:cNvCxnSpPr/>
          <p:nvPr/>
        </p:nvCxnSpPr>
        <p:spPr>
          <a:xfrm flipH="1" rot="10800000">
            <a:off x="14656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46"/>
          <p:cNvCxnSpPr/>
          <p:nvPr/>
        </p:nvCxnSpPr>
        <p:spPr>
          <a:xfrm flipH="1" rot="10800000">
            <a:off x="13672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46"/>
          <p:cNvSpPr txBox="1"/>
          <p:nvPr/>
        </p:nvSpPr>
        <p:spPr>
          <a:xfrm>
            <a:off x="1715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456" name="Google Shape;456;p46"/>
          <p:cNvSpPr txBox="1"/>
          <p:nvPr/>
        </p:nvSpPr>
        <p:spPr>
          <a:xfrm>
            <a:off x="19436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457" name="Google Shape;45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58" name="Google Shape;458;p46"/>
          <p:cNvCxnSpPr/>
          <p:nvPr/>
        </p:nvCxnSpPr>
        <p:spPr>
          <a:xfrm>
            <a:off x="28925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6"/>
          <p:cNvCxnSpPr/>
          <p:nvPr/>
        </p:nvCxnSpPr>
        <p:spPr>
          <a:xfrm>
            <a:off x="28925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46"/>
          <p:cNvCxnSpPr/>
          <p:nvPr/>
        </p:nvCxnSpPr>
        <p:spPr>
          <a:xfrm>
            <a:off x="28925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46"/>
          <p:cNvSpPr txBox="1"/>
          <p:nvPr/>
        </p:nvSpPr>
        <p:spPr>
          <a:xfrm>
            <a:off x="2477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462" name="Google Shape;462;p46"/>
          <p:cNvCxnSpPr/>
          <p:nvPr/>
        </p:nvCxnSpPr>
        <p:spPr>
          <a:xfrm flipH="1" rot="10800000">
            <a:off x="34264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" name="Google Shape;463;p46"/>
          <p:cNvCxnSpPr/>
          <p:nvPr/>
        </p:nvCxnSpPr>
        <p:spPr>
          <a:xfrm flipH="1" rot="10800000">
            <a:off x="34468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4" name="Google Shape;464;p46"/>
          <p:cNvCxnSpPr/>
          <p:nvPr/>
        </p:nvCxnSpPr>
        <p:spPr>
          <a:xfrm flipH="1" rot="10800000">
            <a:off x="33484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5" name="Google Shape;465;p46"/>
          <p:cNvSpPr txBox="1"/>
          <p:nvPr/>
        </p:nvSpPr>
        <p:spPr>
          <a:xfrm>
            <a:off x="36962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466" name="Google Shape;466;p46"/>
          <p:cNvSpPr txBox="1"/>
          <p:nvPr/>
        </p:nvSpPr>
        <p:spPr>
          <a:xfrm>
            <a:off x="39248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467" name="Google Shape;467;p46"/>
          <p:cNvCxnSpPr/>
          <p:nvPr/>
        </p:nvCxnSpPr>
        <p:spPr>
          <a:xfrm>
            <a:off x="47975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8" name="Google Shape;468;p46"/>
          <p:cNvCxnSpPr/>
          <p:nvPr/>
        </p:nvCxnSpPr>
        <p:spPr>
          <a:xfrm>
            <a:off x="47975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9" name="Google Shape;469;p46"/>
          <p:cNvCxnSpPr/>
          <p:nvPr/>
        </p:nvCxnSpPr>
        <p:spPr>
          <a:xfrm>
            <a:off x="47975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0" name="Google Shape;470;p46"/>
          <p:cNvSpPr txBox="1"/>
          <p:nvPr/>
        </p:nvSpPr>
        <p:spPr>
          <a:xfrm>
            <a:off x="4382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471" name="Google Shape;471;p46"/>
          <p:cNvCxnSpPr/>
          <p:nvPr/>
        </p:nvCxnSpPr>
        <p:spPr>
          <a:xfrm flipH="1" rot="10800000">
            <a:off x="53314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2" name="Google Shape;472;p46"/>
          <p:cNvCxnSpPr/>
          <p:nvPr/>
        </p:nvCxnSpPr>
        <p:spPr>
          <a:xfrm flipH="1" rot="10800000">
            <a:off x="53518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46"/>
          <p:cNvCxnSpPr/>
          <p:nvPr/>
        </p:nvCxnSpPr>
        <p:spPr>
          <a:xfrm flipH="1" rot="10800000">
            <a:off x="52534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4" name="Google Shape;474;p46"/>
          <p:cNvSpPr txBox="1"/>
          <p:nvPr/>
        </p:nvSpPr>
        <p:spPr>
          <a:xfrm>
            <a:off x="56012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475" name="Google Shape;475;p46"/>
          <p:cNvSpPr txBox="1"/>
          <p:nvPr/>
        </p:nvSpPr>
        <p:spPr>
          <a:xfrm>
            <a:off x="58298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476" name="Google Shape;476;p46"/>
          <p:cNvCxnSpPr/>
          <p:nvPr/>
        </p:nvCxnSpPr>
        <p:spPr>
          <a:xfrm>
            <a:off x="66263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7" name="Google Shape;477;p46"/>
          <p:cNvCxnSpPr/>
          <p:nvPr/>
        </p:nvCxnSpPr>
        <p:spPr>
          <a:xfrm>
            <a:off x="66263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46"/>
          <p:cNvCxnSpPr/>
          <p:nvPr/>
        </p:nvCxnSpPr>
        <p:spPr>
          <a:xfrm>
            <a:off x="66263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46"/>
          <p:cNvSpPr txBox="1"/>
          <p:nvPr/>
        </p:nvSpPr>
        <p:spPr>
          <a:xfrm>
            <a:off x="62108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480" name="Google Shape;480;p46"/>
          <p:cNvCxnSpPr/>
          <p:nvPr/>
        </p:nvCxnSpPr>
        <p:spPr>
          <a:xfrm flipH="1" rot="10800000">
            <a:off x="71602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46"/>
          <p:cNvCxnSpPr/>
          <p:nvPr/>
        </p:nvCxnSpPr>
        <p:spPr>
          <a:xfrm flipH="1" rot="10800000">
            <a:off x="71806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46"/>
          <p:cNvCxnSpPr/>
          <p:nvPr/>
        </p:nvCxnSpPr>
        <p:spPr>
          <a:xfrm flipH="1" rot="10800000">
            <a:off x="70822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3" name="Google Shape;483;p46"/>
          <p:cNvSpPr txBox="1"/>
          <p:nvPr/>
        </p:nvSpPr>
        <p:spPr>
          <a:xfrm>
            <a:off x="7430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484" name="Google Shape;484;p46"/>
          <p:cNvSpPr txBox="1"/>
          <p:nvPr/>
        </p:nvSpPr>
        <p:spPr>
          <a:xfrm>
            <a:off x="76586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485" name="Google Shape;485;p46"/>
          <p:cNvSpPr txBox="1"/>
          <p:nvPr/>
        </p:nvSpPr>
        <p:spPr>
          <a:xfrm>
            <a:off x="35150" y="4450300"/>
            <a:ext cx="9144000" cy="5727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As long as the network is synchronous, the leader will keep committing new requests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7"/>
          <p:cNvSpPr txBox="1"/>
          <p:nvPr>
            <p:ph type="title"/>
          </p:nvPr>
        </p:nvSpPr>
        <p:spPr>
          <a:xfrm>
            <a:off x="311700" y="1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 [Multi-Paxos]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1" name="Google Shape;491;p47"/>
          <p:cNvCxnSpPr/>
          <p:nvPr/>
        </p:nvCxnSpPr>
        <p:spPr>
          <a:xfrm>
            <a:off x="438875" y="1218400"/>
            <a:ext cx="7874100" cy="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47"/>
          <p:cNvCxnSpPr/>
          <p:nvPr/>
        </p:nvCxnSpPr>
        <p:spPr>
          <a:xfrm>
            <a:off x="438875" y="1980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47"/>
          <p:cNvCxnSpPr/>
          <p:nvPr/>
        </p:nvCxnSpPr>
        <p:spPr>
          <a:xfrm>
            <a:off x="438875" y="2742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7"/>
          <p:cNvCxnSpPr/>
          <p:nvPr/>
        </p:nvCxnSpPr>
        <p:spPr>
          <a:xfrm>
            <a:off x="438875" y="3504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47"/>
          <p:cNvSpPr txBox="1"/>
          <p:nvPr/>
        </p:nvSpPr>
        <p:spPr>
          <a:xfrm>
            <a:off x="349525" y="811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47"/>
          <p:cNvSpPr txBox="1"/>
          <p:nvPr/>
        </p:nvSpPr>
        <p:spPr>
          <a:xfrm>
            <a:off x="35000" y="1001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497" name="Google Shape;497;p47"/>
          <p:cNvSpPr txBox="1"/>
          <p:nvPr/>
        </p:nvSpPr>
        <p:spPr>
          <a:xfrm>
            <a:off x="35000" y="1763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498" name="Google Shape;498;p47"/>
          <p:cNvSpPr txBox="1"/>
          <p:nvPr/>
        </p:nvSpPr>
        <p:spPr>
          <a:xfrm>
            <a:off x="35000" y="2525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499" name="Google Shape;499;p47"/>
          <p:cNvSpPr txBox="1"/>
          <p:nvPr/>
        </p:nvSpPr>
        <p:spPr>
          <a:xfrm>
            <a:off x="35000" y="3287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500" name="Google Shape;500;p47"/>
          <p:cNvCxnSpPr/>
          <p:nvPr/>
        </p:nvCxnSpPr>
        <p:spPr>
          <a:xfrm rot="10800000">
            <a:off x="3706225" y="859050"/>
            <a:ext cx="10800" cy="30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47"/>
          <p:cNvSpPr txBox="1"/>
          <p:nvPr/>
        </p:nvSpPr>
        <p:spPr>
          <a:xfrm>
            <a:off x="1529100" y="38340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cxnSp>
        <p:nvCxnSpPr>
          <p:cNvPr id="502" name="Google Shape;502;p47"/>
          <p:cNvCxnSpPr/>
          <p:nvPr/>
        </p:nvCxnSpPr>
        <p:spPr>
          <a:xfrm>
            <a:off x="9113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47"/>
          <p:cNvCxnSpPr/>
          <p:nvPr/>
        </p:nvCxnSpPr>
        <p:spPr>
          <a:xfrm>
            <a:off x="9113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47"/>
          <p:cNvCxnSpPr/>
          <p:nvPr/>
        </p:nvCxnSpPr>
        <p:spPr>
          <a:xfrm>
            <a:off x="9113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05" name="Google Shape;5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04" y="7936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7"/>
          <p:cNvSpPr txBox="1"/>
          <p:nvPr/>
        </p:nvSpPr>
        <p:spPr>
          <a:xfrm>
            <a:off x="495850" y="2265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507" name="Google Shape;507;p47"/>
          <p:cNvCxnSpPr/>
          <p:nvPr/>
        </p:nvCxnSpPr>
        <p:spPr>
          <a:xfrm flipH="1" rot="10800000">
            <a:off x="14452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8" name="Google Shape;508;p47"/>
          <p:cNvCxnSpPr/>
          <p:nvPr/>
        </p:nvCxnSpPr>
        <p:spPr>
          <a:xfrm flipH="1" rot="10800000">
            <a:off x="14656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9" name="Google Shape;509;p47"/>
          <p:cNvCxnSpPr/>
          <p:nvPr/>
        </p:nvCxnSpPr>
        <p:spPr>
          <a:xfrm flipH="1" rot="10800000">
            <a:off x="13672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0" name="Google Shape;510;p47"/>
          <p:cNvSpPr txBox="1"/>
          <p:nvPr/>
        </p:nvSpPr>
        <p:spPr>
          <a:xfrm>
            <a:off x="1715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511" name="Google Shape;511;p47"/>
          <p:cNvSpPr txBox="1"/>
          <p:nvPr/>
        </p:nvSpPr>
        <p:spPr>
          <a:xfrm>
            <a:off x="19436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512" name="Google Shape;512;p47"/>
          <p:cNvCxnSpPr/>
          <p:nvPr/>
        </p:nvCxnSpPr>
        <p:spPr>
          <a:xfrm flipH="1" rot="10800000">
            <a:off x="27470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7"/>
          <p:cNvCxnSpPr/>
          <p:nvPr/>
        </p:nvCxnSpPr>
        <p:spPr>
          <a:xfrm flipH="1" rot="10800000">
            <a:off x="28994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7"/>
          <p:cNvCxnSpPr/>
          <p:nvPr/>
        </p:nvCxnSpPr>
        <p:spPr>
          <a:xfrm flipH="1" rot="10800000">
            <a:off x="30518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47"/>
          <p:cNvCxnSpPr/>
          <p:nvPr/>
        </p:nvCxnSpPr>
        <p:spPr>
          <a:xfrm flipH="1" rot="10800000">
            <a:off x="32042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47"/>
          <p:cNvSpPr txBox="1"/>
          <p:nvPr/>
        </p:nvSpPr>
        <p:spPr>
          <a:xfrm>
            <a:off x="5948700" y="37578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2</a:t>
            </a:r>
            <a:endParaRPr/>
          </a:p>
        </p:txBody>
      </p:sp>
      <p:cxnSp>
        <p:nvCxnSpPr>
          <p:cNvPr id="517" name="Google Shape;517;p47"/>
          <p:cNvCxnSpPr/>
          <p:nvPr/>
        </p:nvCxnSpPr>
        <p:spPr>
          <a:xfrm flipH="1" rot="10800000">
            <a:off x="3768075" y="1219975"/>
            <a:ext cx="4485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8" name="Google Shape;518;p47"/>
          <p:cNvCxnSpPr/>
          <p:nvPr/>
        </p:nvCxnSpPr>
        <p:spPr>
          <a:xfrm>
            <a:off x="3768075" y="1974625"/>
            <a:ext cx="4155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9" name="Google Shape;519;p47"/>
          <p:cNvCxnSpPr/>
          <p:nvPr/>
        </p:nvCxnSpPr>
        <p:spPr>
          <a:xfrm>
            <a:off x="3789950" y="1985575"/>
            <a:ext cx="4266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0" name="Google Shape;520;p47"/>
          <p:cNvSpPr txBox="1"/>
          <p:nvPr/>
        </p:nvSpPr>
        <p:spPr>
          <a:xfrm>
            <a:off x="3543850" y="1427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</a:t>
            </a:r>
            <a:endParaRPr/>
          </a:p>
        </p:txBody>
      </p:sp>
      <p:cxnSp>
        <p:nvCxnSpPr>
          <p:cNvPr id="521" name="Google Shape;521;p47"/>
          <p:cNvCxnSpPr/>
          <p:nvPr/>
        </p:nvCxnSpPr>
        <p:spPr>
          <a:xfrm>
            <a:off x="4292725" y="1219925"/>
            <a:ext cx="5688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47"/>
          <p:cNvCxnSpPr/>
          <p:nvPr/>
        </p:nvCxnSpPr>
        <p:spPr>
          <a:xfrm flipH="1" rot="10800000">
            <a:off x="4292725" y="2007450"/>
            <a:ext cx="5577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47"/>
          <p:cNvCxnSpPr/>
          <p:nvPr/>
        </p:nvCxnSpPr>
        <p:spPr>
          <a:xfrm flipH="1" rot="10800000">
            <a:off x="4314600" y="2051100"/>
            <a:ext cx="5358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4" name="Google Shape;524;p47"/>
          <p:cNvSpPr txBox="1"/>
          <p:nvPr/>
        </p:nvSpPr>
        <p:spPr>
          <a:xfrm>
            <a:off x="4610650" y="21135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pic>
        <p:nvPicPr>
          <p:cNvPr id="525" name="Google Shape;52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804" y="16318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7"/>
          <p:cNvSpPr txBox="1"/>
          <p:nvPr/>
        </p:nvSpPr>
        <p:spPr>
          <a:xfrm>
            <a:off x="3738900" y="3605475"/>
            <a:ext cx="130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Change</a:t>
            </a:r>
            <a:endParaRPr/>
          </a:p>
        </p:txBody>
      </p:sp>
      <p:sp>
        <p:nvSpPr>
          <p:cNvPr id="527" name="Google Shape;52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8" name="Google Shape;528;p47"/>
          <p:cNvCxnSpPr/>
          <p:nvPr/>
        </p:nvCxnSpPr>
        <p:spPr>
          <a:xfrm flipH="1" rot="10800000">
            <a:off x="5977875" y="1219975"/>
            <a:ext cx="4485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9" name="Google Shape;529;p47"/>
          <p:cNvCxnSpPr/>
          <p:nvPr/>
        </p:nvCxnSpPr>
        <p:spPr>
          <a:xfrm>
            <a:off x="5977875" y="1974625"/>
            <a:ext cx="4155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0" name="Google Shape;530;p47"/>
          <p:cNvCxnSpPr/>
          <p:nvPr/>
        </p:nvCxnSpPr>
        <p:spPr>
          <a:xfrm>
            <a:off x="5999750" y="1985575"/>
            <a:ext cx="4266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1" name="Google Shape;531;p47"/>
          <p:cNvSpPr txBox="1"/>
          <p:nvPr/>
        </p:nvSpPr>
        <p:spPr>
          <a:xfrm>
            <a:off x="5753650" y="1427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532" name="Google Shape;532;p47"/>
          <p:cNvCxnSpPr/>
          <p:nvPr/>
        </p:nvCxnSpPr>
        <p:spPr>
          <a:xfrm>
            <a:off x="6426325" y="1219925"/>
            <a:ext cx="5688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3" name="Google Shape;533;p47"/>
          <p:cNvCxnSpPr/>
          <p:nvPr/>
        </p:nvCxnSpPr>
        <p:spPr>
          <a:xfrm flipH="1" rot="10800000">
            <a:off x="6426325" y="2007450"/>
            <a:ext cx="5577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47"/>
          <p:cNvCxnSpPr/>
          <p:nvPr/>
        </p:nvCxnSpPr>
        <p:spPr>
          <a:xfrm flipH="1" rot="10800000">
            <a:off x="6448200" y="2051100"/>
            <a:ext cx="5358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5" name="Google Shape;535;p47"/>
          <p:cNvSpPr txBox="1"/>
          <p:nvPr/>
        </p:nvSpPr>
        <p:spPr>
          <a:xfrm>
            <a:off x="6820450" y="2265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pic>
        <p:nvPicPr>
          <p:cNvPr id="536" name="Google Shape;53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1851174"/>
            <a:ext cx="268801" cy="26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2613174"/>
            <a:ext cx="268801" cy="26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3375174"/>
            <a:ext cx="268801" cy="26250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7"/>
          <p:cNvSpPr/>
          <p:nvPr/>
        </p:nvSpPr>
        <p:spPr>
          <a:xfrm>
            <a:off x="2693350" y="768225"/>
            <a:ext cx="2967900" cy="3558000"/>
          </a:xfrm>
          <a:prstGeom prst="rect">
            <a:avLst/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7"/>
          <p:cNvSpPr txBox="1"/>
          <p:nvPr/>
        </p:nvSpPr>
        <p:spPr>
          <a:xfrm>
            <a:off x="-37775" y="4458325"/>
            <a:ext cx="9144000" cy="6672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No new commands are committed during view change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Liveness depends on partial synchronous network conditions 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 Problems in Consensus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48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Conservative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48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Manually configured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48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Conservative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Choosing Timeouts in leader based protocols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1924100" y="1557175"/>
            <a:ext cx="5195700" cy="423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7" name="Google Shape;557;p49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49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Low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49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 txBox="1"/>
          <p:nvPr>
            <p:ph type="title"/>
          </p:nvPr>
        </p:nvSpPr>
        <p:spPr>
          <a:xfrm>
            <a:off x="311700" y="1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 [Multi-Paxos]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66" name="Google Shape;566;p50"/>
          <p:cNvCxnSpPr/>
          <p:nvPr/>
        </p:nvCxnSpPr>
        <p:spPr>
          <a:xfrm>
            <a:off x="438875" y="1218400"/>
            <a:ext cx="7874100" cy="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50"/>
          <p:cNvCxnSpPr/>
          <p:nvPr/>
        </p:nvCxnSpPr>
        <p:spPr>
          <a:xfrm>
            <a:off x="438875" y="1980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50"/>
          <p:cNvCxnSpPr/>
          <p:nvPr/>
        </p:nvCxnSpPr>
        <p:spPr>
          <a:xfrm>
            <a:off x="438875" y="2742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50"/>
          <p:cNvCxnSpPr/>
          <p:nvPr/>
        </p:nvCxnSpPr>
        <p:spPr>
          <a:xfrm>
            <a:off x="438875" y="3504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50"/>
          <p:cNvSpPr txBox="1"/>
          <p:nvPr/>
        </p:nvSpPr>
        <p:spPr>
          <a:xfrm>
            <a:off x="349525" y="811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1" name="Google Shape;571;p50"/>
          <p:cNvSpPr txBox="1"/>
          <p:nvPr/>
        </p:nvSpPr>
        <p:spPr>
          <a:xfrm>
            <a:off x="35000" y="1001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572" name="Google Shape;572;p50"/>
          <p:cNvSpPr txBox="1"/>
          <p:nvPr/>
        </p:nvSpPr>
        <p:spPr>
          <a:xfrm>
            <a:off x="35000" y="1763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573" name="Google Shape;573;p50"/>
          <p:cNvSpPr txBox="1"/>
          <p:nvPr/>
        </p:nvSpPr>
        <p:spPr>
          <a:xfrm>
            <a:off x="35000" y="2525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574" name="Google Shape;574;p50"/>
          <p:cNvSpPr txBox="1"/>
          <p:nvPr/>
        </p:nvSpPr>
        <p:spPr>
          <a:xfrm>
            <a:off x="35000" y="3287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575" name="Google Shape;575;p50"/>
          <p:cNvCxnSpPr/>
          <p:nvPr/>
        </p:nvCxnSpPr>
        <p:spPr>
          <a:xfrm rot="10800000">
            <a:off x="3706225" y="859050"/>
            <a:ext cx="10800" cy="30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0"/>
          <p:cNvSpPr txBox="1"/>
          <p:nvPr/>
        </p:nvSpPr>
        <p:spPr>
          <a:xfrm>
            <a:off x="1529100" y="38340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cxnSp>
        <p:nvCxnSpPr>
          <p:cNvPr id="577" name="Google Shape;577;p50"/>
          <p:cNvCxnSpPr/>
          <p:nvPr/>
        </p:nvCxnSpPr>
        <p:spPr>
          <a:xfrm>
            <a:off x="9113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50"/>
          <p:cNvCxnSpPr/>
          <p:nvPr/>
        </p:nvCxnSpPr>
        <p:spPr>
          <a:xfrm>
            <a:off x="9113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50"/>
          <p:cNvCxnSpPr/>
          <p:nvPr/>
        </p:nvCxnSpPr>
        <p:spPr>
          <a:xfrm>
            <a:off x="9113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80" name="Google Shape;58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04" y="7936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0"/>
          <p:cNvSpPr txBox="1"/>
          <p:nvPr/>
        </p:nvSpPr>
        <p:spPr>
          <a:xfrm>
            <a:off x="495850" y="2265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582" name="Google Shape;582;p50"/>
          <p:cNvCxnSpPr/>
          <p:nvPr/>
        </p:nvCxnSpPr>
        <p:spPr>
          <a:xfrm flipH="1" rot="10800000">
            <a:off x="14452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3" name="Google Shape;583;p50"/>
          <p:cNvCxnSpPr/>
          <p:nvPr/>
        </p:nvCxnSpPr>
        <p:spPr>
          <a:xfrm flipH="1" rot="10800000">
            <a:off x="14656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4" name="Google Shape;584;p50"/>
          <p:cNvCxnSpPr/>
          <p:nvPr/>
        </p:nvCxnSpPr>
        <p:spPr>
          <a:xfrm flipH="1" rot="10800000">
            <a:off x="13672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5" name="Google Shape;585;p50"/>
          <p:cNvSpPr txBox="1"/>
          <p:nvPr/>
        </p:nvSpPr>
        <p:spPr>
          <a:xfrm>
            <a:off x="1715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586" name="Google Shape;586;p50"/>
          <p:cNvSpPr txBox="1"/>
          <p:nvPr/>
        </p:nvSpPr>
        <p:spPr>
          <a:xfrm>
            <a:off x="19436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587" name="Google Shape;587;p50"/>
          <p:cNvCxnSpPr/>
          <p:nvPr/>
        </p:nvCxnSpPr>
        <p:spPr>
          <a:xfrm flipH="1" rot="10800000">
            <a:off x="27470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" name="Google Shape;588;p50"/>
          <p:cNvCxnSpPr/>
          <p:nvPr/>
        </p:nvCxnSpPr>
        <p:spPr>
          <a:xfrm flipH="1" rot="10800000">
            <a:off x="28994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50"/>
          <p:cNvCxnSpPr/>
          <p:nvPr/>
        </p:nvCxnSpPr>
        <p:spPr>
          <a:xfrm flipH="1" rot="10800000">
            <a:off x="30518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50"/>
          <p:cNvCxnSpPr/>
          <p:nvPr/>
        </p:nvCxnSpPr>
        <p:spPr>
          <a:xfrm flipH="1" rot="10800000">
            <a:off x="32042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50"/>
          <p:cNvSpPr txBox="1"/>
          <p:nvPr/>
        </p:nvSpPr>
        <p:spPr>
          <a:xfrm>
            <a:off x="5948700" y="37578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2</a:t>
            </a:r>
            <a:endParaRPr/>
          </a:p>
        </p:txBody>
      </p:sp>
      <p:cxnSp>
        <p:nvCxnSpPr>
          <p:cNvPr id="592" name="Google Shape;592;p50"/>
          <p:cNvCxnSpPr/>
          <p:nvPr/>
        </p:nvCxnSpPr>
        <p:spPr>
          <a:xfrm flipH="1" rot="10800000">
            <a:off x="3768075" y="1219975"/>
            <a:ext cx="4485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50"/>
          <p:cNvCxnSpPr/>
          <p:nvPr/>
        </p:nvCxnSpPr>
        <p:spPr>
          <a:xfrm>
            <a:off x="3768075" y="1974625"/>
            <a:ext cx="4155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50"/>
          <p:cNvCxnSpPr/>
          <p:nvPr/>
        </p:nvCxnSpPr>
        <p:spPr>
          <a:xfrm>
            <a:off x="3789950" y="1985575"/>
            <a:ext cx="4266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5" name="Google Shape;595;p50"/>
          <p:cNvSpPr txBox="1"/>
          <p:nvPr/>
        </p:nvSpPr>
        <p:spPr>
          <a:xfrm>
            <a:off x="3543850" y="1427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</a:t>
            </a:r>
            <a:endParaRPr/>
          </a:p>
        </p:txBody>
      </p:sp>
      <p:cxnSp>
        <p:nvCxnSpPr>
          <p:cNvPr id="596" name="Google Shape;596;p50"/>
          <p:cNvCxnSpPr/>
          <p:nvPr/>
        </p:nvCxnSpPr>
        <p:spPr>
          <a:xfrm>
            <a:off x="4292725" y="1219925"/>
            <a:ext cx="5688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7" name="Google Shape;597;p50"/>
          <p:cNvCxnSpPr/>
          <p:nvPr/>
        </p:nvCxnSpPr>
        <p:spPr>
          <a:xfrm flipH="1" rot="10800000">
            <a:off x="4292725" y="2007450"/>
            <a:ext cx="5577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50"/>
          <p:cNvCxnSpPr/>
          <p:nvPr/>
        </p:nvCxnSpPr>
        <p:spPr>
          <a:xfrm flipH="1" rot="10800000">
            <a:off x="4314600" y="2051100"/>
            <a:ext cx="5358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50"/>
          <p:cNvSpPr txBox="1"/>
          <p:nvPr/>
        </p:nvSpPr>
        <p:spPr>
          <a:xfrm>
            <a:off x="4610650" y="21135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pic>
        <p:nvPicPr>
          <p:cNvPr id="600" name="Google Shape;60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804" y="16318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50"/>
          <p:cNvSpPr txBox="1"/>
          <p:nvPr/>
        </p:nvSpPr>
        <p:spPr>
          <a:xfrm>
            <a:off x="3738900" y="3605475"/>
            <a:ext cx="130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Change</a:t>
            </a:r>
            <a:endParaRPr/>
          </a:p>
        </p:txBody>
      </p:sp>
      <p:sp>
        <p:nvSpPr>
          <p:cNvPr id="602" name="Google Shape;60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03" name="Google Shape;603;p50"/>
          <p:cNvCxnSpPr/>
          <p:nvPr/>
        </p:nvCxnSpPr>
        <p:spPr>
          <a:xfrm flipH="1" rot="10800000">
            <a:off x="5977875" y="1219975"/>
            <a:ext cx="4485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50"/>
          <p:cNvCxnSpPr/>
          <p:nvPr/>
        </p:nvCxnSpPr>
        <p:spPr>
          <a:xfrm>
            <a:off x="5977875" y="1974625"/>
            <a:ext cx="4155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5" name="Google Shape;605;p50"/>
          <p:cNvCxnSpPr/>
          <p:nvPr/>
        </p:nvCxnSpPr>
        <p:spPr>
          <a:xfrm>
            <a:off x="5999750" y="1985575"/>
            <a:ext cx="4266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50"/>
          <p:cNvSpPr txBox="1"/>
          <p:nvPr/>
        </p:nvSpPr>
        <p:spPr>
          <a:xfrm>
            <a:off x="5753650" y="1427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607" name="Google Shape;607;p50"/>
          <p:cNvCxnSpPr/>
          <p:nvPr/>
        </p:nvCxnSpPr>
        <p:spPr>
          <a:xfrm>
            <a:off x="6426325" y="1219925"/>
            <a:ext cx="5688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50"/>
          <p:cNvCxnSpPr/>
          <p:nvPr/>
        </p:nvCxnSpPr>
        <p:spPr>
          <a:xfrm flipH="1" rot="10800000">
            <a:off x="6426325" y="2007450"/>
            <a:ext cx="5577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9" name="Google Shape;609;p50"/>
          <p:cNvCxnSpPr/>
          <p:nvPr/>
        </p:nvCxnSpPr>
        <p:spPr>
          <a:xfrm flipH="1" rot="10800000">
            <a:off x="6448200" y="2051100"/>
            <a:ext cx="5358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0" name="Google Shape;610;p50"/>
          <p:cNvSpPr txBox="1"/>
          <p:nvPr/>
        </p:nvSpPr>
        <p:spPr>
          <a:xfrm>
            <a:off x="6820450" y="2265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pic>
        <p:nvPicPr>
          <p:cNvPr id="611" name="Google Shape;61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1851174"/>
            <a:ext cx="268801" cy="26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2613174"/>
            <a:ext cx="268801" cy="26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3375174"/>
            <a:ext cx="268801" cy="262502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50"/>
          <p:cNvSpPr/>
          <p:nvPr/>
        </p:nvSpPr>
        <p:spPr>
          <a:xfrm>
            <a:off x="1859800" y="4124475"/>
            <a:ext cx="2158800" cy="470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Recovery Time</a:t>
            </a:r>
            <a:endParaRPr/>
          </a:p>
        </p:txBody>
      </p:sp>
      <p:sp>
        <p:nvSpPr>
          <p:cNvPr id="615" name="Google Shape;615;p50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High timeouts result in high recovery time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1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Choosing Timeouts in leader based protocols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51"/>
          <p:cNvSpPr/>
          <p:nvPr/>
        </p:nvSpPr>
        <p:spPr>
          <a:xfrm>
            <a:off x="1924100" y="1557175"/>
            <a:ext cx="5195700" cy="423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51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51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Low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51"/>
          <p:cNvSpPr txBox="1"/>
          <p:nvPr/>
        </p:nvSpPr>
        <p:spPr>
          <a:xfrm>
            <a:off x="7087700" y="2497825"/>
            <a:ext cx="1815600" cy="423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Recovery Time</a:t>
            </a:r>
            <a:endParaRPr/>
          </a:p>
        </p:txBody>
      </p:sp>
      <p:sp>
        <p:nvSpPr>
          <p:cNvPr id="625" name="Google Shape;625;p51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6" name="Google Shape;626;p51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51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Low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8" name="Google Shape;62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9" name="Google Shape;629;p51"/>
          <p:cNvPicPr preferRelativeResize="0"/>
          <p:nvPr/>
        </p:nvPicPr>
        <p:blipFill rotWithShape="1">
          <a:blip r:embed="rId3">
            <a:alphaModFix/>
          </a:blip>
          <a:srcRect b="16832" l="17661" r="0" t="36396"/>
          <a:stretch/>
        </p:blipFill>
        <p:spPr>
          <a:xfrm>
            <a:off x="5603140" y="3279454"/>
            <a:ext cx="3420286" cy="9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Liveness loss with low timeouts</a:t>
            </a:r>
            <a:endParaRPr/>
          </a:p>
        </p:txBody>
      </p:sp>
      <p:sp>
        <p:nvSpPr>
          <p:cNvPr id="635" name="Google Shape;63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52"/>
          <p:cNvSpPr txBox="1"/>
          <p:nvPr/>
        </p:nvSpPr>
        <p:spPr>
          <a:xfrm>
            <a:off x="0" y="4686925"/>
            <a:ext cx="9144000" cy="393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No commands are committed when the timeout is low</a:t>
            </a:r>
            <a:endParaRPr sz="1700"/>
          </a:p>
        </p:txBody>
      </p:sp>
      <p:cxnSp>
        <p:nvCxnSpPr>
          <p:cNvPr id="637" name="Google Shape;637;p52"/>
          <p:cNvCxnSpPr/>
          <p:nvPr/>
        </p:nvCxnSpPr>
        <p:spPr>
          <a:xfrm flipH="1" rot="10800000">
            <a:off x="1062425" y="17100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52"/>
          <p:cNvCxnSpPr/>
          <p:nvPr/>
        </p:nvCxnSpPr>
        <p:spPr>
          <a:xfrm flipH="1" rot="10800000">
            <a:off x="1062425" y="23196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52"/>
          <p:cNvCxnSpPr/>
          <p:nvPr/>
        </p:nvCxnSpPr>
        <p:spPr>
          <a:xfrm flipH="1" rot="10800000">
            <a:off x="1062425" y="29292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52"/>
          <p:cNvCxnSpPr/>
          <p:nvPr/>
        </p:nvCxnSpPr>
        <p:spPr>
          <a:xfrm flipH="1" rot="10800000">
            <a:off x="1062425" y="35388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52"/>
          <p:cNvSpPr txBox="1"/>
          <p:nvPr/>
        </p:nvSpPr>
        <p:spPr>
          <a:xfrm>
            <a:off x="384275" y="15025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642" name="Google Shape;642;p52"/>
          <p:cNvSpPr txBox="1"/>
          <p:nvPr/>
        </p:nvSpPr>
        <p:spPr>
          <a:xfrm>
            <a:off x="384275" y="21121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643" name="Google Shape;643;p52"/>
          <p:cNvSpPr txBox="1"/>
          <p:nvPr/>
        </p:nvSpPr>
        <p:spPr>
          <a:xfrm>
            <a:off x="384275" y="27979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644" name="Google Shape;644;p52"/>
          <p:cNvSpPr txBox="1"/>
          <p:nvPr/>
        </p:nvSpPr>
        <p:spPr>
          <a:xfrm>
            <a:off x="384275" y="34075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sp>
        <p:nvSpPr>
          <p:cNvPr id="645" name="Google Shape;645;p52"/>
          <p:cNvSpPr txBox="1"/>
          <p:nvPr/>
        </p:nvSpPr>
        <p:spPr>
          <a:xfrm>
            <a:off x="1523550" y="3712300"/>
            <a:ext cx="855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grpSp>
        <p:nvGrpSpPr>
          <p:cNvPr id="646" name="Google Shape;646;p52"/>
          <p:cNvGrpSpPr/>
          <p:nvPr/>
        </p:nvGrpSpPr>
        <p:grpSpPr>
          <a:xfrm>
            <a:off x="2501697" y="1563175"/>
            <a:ext cx="1478078" cy="2411625"/>
            <a:chOff x="2349297" y="1410775"/>
            <a:chExt cx="1478078" cy="2411625"/>
          </a:xfrm>
        </p:grpSpPr>
        <p:sp>
          <p:nvSpPr>
            <p:cNvPr id="647" name="Google Shape;647;p52"/>
            <p:cNvSpPr txBox="1"/>
            <p:nvPr/>
          </p:nvSpPr>
          <p:spPr>
            <a:xfrm>
              <a:off x="2971475" y="3559900"/>
              <a:ext cx="8559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View 2</a:t>
              </a:r>
              <a:endParaRPr/>
            </a:p>
          </p:txBody>
        </p:sp>
        <p:cxnSp>
          <p:nvCxnSpPr>
            <p:cNvPr id="648" name="Google Shape;648;p52"/>
            <p:cNvCxnSpPr/>
            <p:nvPr/>
          </p:nvCxnSpPr>
          <p:spPr>
            <a:xfrm>
              <a:off x="2492150" y="1410775"/>
              <a:ext cx="0" cy="2362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pic>
          <p:nvPicPr>
            <p:cNvPr id="649" name="Google Shape;649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3410" y="3042538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0" name="Google Shape;650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49297" y="23462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1" name="Google Shape;651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3410" y="1826088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2" name="Google Shape;652;p52"/>
          <p:cNvGrpSpPr/>
          <p:nvPr/>
        </p:nvGrpSpPr>
        <p:grpSpPr>
          <a:xfrm>
            <a:off x="3076113" y="1810850"/>
            <a:ext cx="1700163" cy="1657700"/>
            <a:chOff x="4099063" y="1625550"/>
            <a:chExt cx="1700163" cy="1657700"/>
          </a:xfrm>
        </p:grpSpPr>
        <p:cxnSp>
          <p:nvCxnSpPr>
            <p:cNvPr id="653" name="Google Shape;653;p52"/>
            <p:cNvCxnSpPr/>
            <p:nvPr/>
          </p:nvCxnSpPr>
          <p:spPr>
            <a:xfrm flipH="1" rot="10800000">
              <a:off x="4805475" y="1625550"/>
              <a:ext cx="765300" cy="490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4" name="Google Shape;654;p52"/>
            <p:cNvCxnSpPr/>
            <p:nvPr/>
          </p:nvCxnSpPr>
          <p:spPr>
            <a:xfrm>
              <a:off x="4756425" y="2135375"/>
              <a:ext cx="1042800" cy="554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55" name="Google Shape;655;p52"/>
            <p:cNvCxnSpPr/>
            <p:nvPr/>
          </p:nvCxnSpPr>
          <p:spPr>
            <a:xfrm>
              <a:off x="4766225" y="2125550"/>
              <a:ext cx="912600" cy="115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56" name="Google Shape;656;p52"/>
            <p:cNvSpPr txBox="1"/>
            <p:nvPr/>
          </p:nvSpPr>
          <p:spPr>
            <a:xfrm>
              <a:off x="4099063" y="2137375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  <p:pic>
          <p:nvPicPr>
            <p:cNvPr id="657" name="Google Shape;657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95691" y="1687976"/>
              <a:ext cx="628536" cy="353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58" name="Google Shape;658;p52"/>
          <p:cNvGrpSpPr/>
          <p:nvPr/>
        </p:nvGrpSpPr>
        <p:grpSpPr>
          <a:xfrm>
            <a:off x="4227135" y="1502500"/>
            <a:ext cx="1712528" cy="2472300"/>
            <a:chOff x="4074735" y="1350100"/>
            <a:chExt cx="1712528" cy="2472300"/>
          </a:xfrm>
        </p:grpSpPr>
        <p:sp>
          <p:nvSpPr>
            <p:cNvPr id="659" name="Google Shape;659;p52"/>
            <p:cNvSpPr txBox="1"/>
            <p:nvPr/>
          </p:nvSpPr>
          <p:spPr>
            <a:xfrm>
              <a:off x="4828163" y="3559900"/>
              <a:ext cx="9591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View 3</a:t>
              </a:r>
              <a:endParaRPr/>
            </a:p>
          </p:txBody>
        </p:sp>
        <p:cxnSp>
          <p:nvCxnSpPr>
            <p:cNvPr id="660" name="Google Shape;660;p52"/>
            <p:cNvCxnSpPr/>
            <p:nvPr/>
          </p:nvCxnSpPr>
          <p:spPr>
            <a:xfrm>
              <a:off x="4240663" y="1350100"/>
              <a:ext cx="0" cy="2362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pic>
          <p:nvPicPr>
            <p:cNvPr id="661" name="Google Shape;661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11922" y="298186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74735" y="24487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1922" y="16341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64" name="Google Shape;664;p52"/>
          <p:cNvGrpSpPr/>
          <p:nvPr/>
        </p:nvGrpSpPr>
        <p:grpSpPr>
          <a:xfrm>
            <a:off x="5208088" y="1790825"/>
            <a:ext cx="1743313" cy="1668100"/>
            <a:chOff x="4126213" y="1615350"/>
            <a:chExt cx="1743313" cy="1668100"/>
          </a:xfrm>
        </p:grpSpPr>
        <p:cxnSp>
          <p:nvCxnSpPr>
            <p:cNvPr id="665" name="Google Shape;665;p52"/>
            <p:cNvCxnSpPr/>
            <p:nvPr/>
          </p:nvCxnSpPr>
          <p:spPr>
            <a:xfrm flipH="1" rot="10800000">
              <a:off x="4957225" y="1615350"/>
              <a:ext cx="912300" cy="1098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6" name="Google Shape;666;p52"/>
            <p:cNvCxnSpPr/>
            <p:nvPr/>
          </p:nvCxnSpPr>
          <p:spPr>
            <a:xfrm flipH="1" rot="10800000">
              <a:off x="4967025" y="2164850"/>
              <a:ext cx="834000" cy="559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67" name="Google Shape;667;p52"/>
            <p:cNvCxnSpPr/>
            <p:nvPr/>
          </p:nvCxnSpPr>
          <p:spPr>
            <a:xfrm>
              <a:off x="4927775" y="2733850"/>
              <a:ext cx="751200" cy="549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8" name="Google Shape;668;p52"/>
            <p:cNvSpPr txBox="1"/>
            <p:nvPr/>
          </p:nvSpPr>
          <p:spPr>
            <a:xfrm>
              <a:off x="4126213" y="2765513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76954" y="2298376"/>
              <a:ext cx="628536" cy="353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0" name="Google Shape;670;p52"/>
          <p:cNvGrpSpPr/>
          <p:nvPr/>
        </p:nvGrpSpPr>
        <p:grpSpPr>
          <a:xfrm>
            <a:off x="6527160" y="1502500"/>
            <a:ext cx="2737190" cy="2472300"/>
            <a:chOff x="6374760" y="1350100"/>
            <a:chExt cx="2737190" cy="2472300"/>
          </a:xfrm>
        </p:grpSpPr>
        <p:sp>
          <p:nvSpPr>
            <p:cNvPr id="671" name="Google Shape;671;p52"/>
            <p:cNvSpPr txBox="1"/>
            <p:nvPr/>
          </p:nvSpPr>
          <p:spPr>
            <a:xfrm>
              <a:off x="7211075" y="3559900"/>
              <a:ext cx="9813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View 4</a:t>
              </a:r>
              <a:endParaRPr/>
            </a:p>
          </p:txBody>
        </p:sp>
        <p:cxnSp>
          <p:nvCxnSpPr>
            <p:cNvPr id="672" name="Google Shape;672;p52"/>
            <p:cNvCxnSpPr/>
            <p:nvPr/>
          </p:nvCxnSpPr>
          <p:spPr>
            <a:xfrm>
              <a:off x="6522088" y="1350100"/>
              <a:ext cx="0" cy="2362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pic>
          <p:nvPicPr>
            <p:cNvPr id="673" name="Google Shape;673;p5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93347" y="313476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4" name="Google Shape;674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74760" y="2256738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5" name="Google Shape;675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93347" y="17366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6" name="Google Shape;676;p52"/>
            <p:cNvSpPr txBox="1"/>
            <p:nvPr/>
          </p:nvSpPr>
          <p:spPr>
            <a:xfrm>
              <a:off x="7530350" y="2280675"/>
              <a:ext cx="1581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/>
                <a:t>…</a:t>
              </a:r>
              <a:endParaRPr sz="2300"/>
            </a:p>
          </p:txBody>
        </p:sp>
      </p:grpSp>
      <p:grpSp>
        <p:nvGrpSpPr>
          <p:cNvPr id="677" name="Google Shape;677;p52"/>
          <p:cNvGrpSpPr/>
          <p:nvPr/>
        </p:nvGrpSpPr>
        <p:grpSpPr>
          <a:xfrm>
            <a:off x="1172625" y="1261738"/>
            <a:ext cx="1736787" cy="2216574"/>
            <a:chOff x="358400" y="1098438"/>
            <a:chExt cx="1736787" cy="2216574"/>
          </a:xfrm>
        </p:grpSpPr>
        <p:cxnSp>
          <p:nvCxnSpPr>
            <p:cNvPr id="678" name="Google Shape;678;p52"/>
            <p:cNvCxnSpPr/>
            <p:nvPr/>
          </p:nvCxnSpPr>
          <p:spPr>
            <a:xfrm>
              <a:off x="911387" y="1532712"/>
              <a:ext cx="1183800" cy="1164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79" name="Google Shape;679;p52"/>
            <p:cNvCxnSpPr/>
            <p:nvPr/>
          </p:nvCxnSpPr>
          <p:spPr>
            <a:xfrm>
              <a:off x="911276" y="1532626"/>
              <a:ext cx="1144500" cy="556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80" name="Google Shape;680;p52"/>
            <p:cNvCxnSpPr/>
            <p:nvPr/>
          </p:nvCxnSpPr>
          <p:spPr>
            <a:xfrm>
              <a:off x="911387" y="1532712"/>
              <a:ext cx="1183800" cy="1782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81" name="Google Shape;681;p52"/>
            <p:cNvSpPr txBox="1"/>
            <p:nvPr/>
          </p:nvSpPr>
          <p:spPr>
            <a:xfrm>
              <a:off x="358400" y="1700375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  <p:pic>
          <p:nvPicPr>
            <p:cNvPr id="682" name="Google Shape;68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9204" y="1098438"/>
              <a:ext cx="628536" cy="353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3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Choosing Timeouts in leader based protocols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1924100" y="1557175"/>
            <a:ext cx="5195700" cy="423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53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53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Low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1" name="Google Shape;691;p53"/>
          <p:cNvSpPr txBox="1"/>
          <p:nvPr/>
        </p:nvSpPr>
        <p:spPr>
          <a:xfrm>
            <a:off x="7087700" y="2497825"/>
            <a:ext cx="1815600" cy="423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Recovery Time</a:t>
            </a:r>
            <a:endParaRPr/>
          </a:p>
        </p:txBody>
      </p:sp>
      <p:sp>
        <p:nvSpPr>
          <p:cNvPr id="692" name="Google Shape;692;p53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53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4" name="Google Shape;694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16832" l="17661" r="0" t="36396"/>
          <a:stretch/>
        </p:blipFill>
        <p:spPr>
          <a:xfrm>
            <a:off x="5603140" y="3279454"/>
            <a:ext cx="3420286" cy="9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3"/>
          <p:cNvPicPr preferRelativeResize="0"/>
          <p:nvPr/>
        </p:nvPicPr>
        <p:blipFill rotWithShape="1">
          <a:blip r:embed="rId4">
            <a:alphaModFix/>
          </a:blip>
          <a:srcRect b="18953" l="0" r="0" t="29246"/>
          <a:stretch/>
        </p:blipFill>
        <p:spPr>
          <a:xfrm>
            <a:off x="0" y="3280528"/>
            <a:ext cx="4312997" cy="9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53"/>
          <p:cNvSpPr txBox="1"/>
          <p:nvPr/>
        </p:nvSpPr>
        <p:spPr>
          <a:xfrm>
            <a:off x="305900" y="2497825"/>
            <a:ext cx="1488900" cy="423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Liveness Loss</a:t>
            </a:r>
            <a:endParaRPr/>
          </a:p>
        </p:txBody>
      </p:sp>
      <p:sp>
        <p:nvSpPr>
          <p:cNvPr id="698" name="Google Shape;698;p53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Both choices of timeouts have negative consequences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 Problems in Consensus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4" name="Google Shape;704;p54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Timeout based view change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5" name="Google Shape;705;p54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Conservative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54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Manually configured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7" name="Google Shape;707;p54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Manually configured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8" name="Google Shape;70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Manual configuration of timeouts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4" name="Google Shape;714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Stuck with a live but slow leader replica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 not consider dynamic network state for leader election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55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Manual timeouts are sub optimal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6"/>
          <p:cNvSpPr txBox="1"/>
          <p:nvPr>
            <p:ph type="title"/>
          </p:nvPr>
        </p:nvSpPr>
        <p:spPr>
          <a:xfrm>
            <a:off x="2216700" y="1511825"/>
            <a:ext cx="505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Are timeouts necessary for progress?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2" name="Google Shape;722;p56"/>
          <p:cNvSpPr txBox="1"/>
          <p:nvPr>
            <p:ph idx="1" type="body"/>
          </p:nvPr>
        </p:nvSpPr>
        <p:spPr>
          <a:xfrm>
            <a:off x="2140500" y="2524075"/>
            <a:ext cx="5517300" cy="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Can we eliminate the impact of timeout for liveness?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 asynchronous protocols solve this problem?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9" name="Google Shape;729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Asynchronous protocols do not depend on timeout for progress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 randomization to alleviate the FLP impossibility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Message complexity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 general asynchronous protocols have O(n</a:t>
            </a:r>
            <a:r>
              <a:rPr baseline="30000" lang="en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) / O(n</a:t>
            </a:r>
            <a:r>
              <a:rPr baseline="30000" lang="en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) complexity in the normal case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■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 contrast, partially synchronous protocols have O(n)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Less efficient than leader-based protocols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Hence rarely deployed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30" name="Google Shape;730;p57"/>
          <p:cNvCxnSpPr/>
          <p:nvPr/>
        </p:nvCxnSpPr>
        <p:spPr>
          <a:xfrm>
            <a:off x="3880775" y="3571333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57"/>
          <p:cNvCxnSpPr/>
          <p:nvPr/>
        </p:nvCxnSpPr>
        <p:spPr>
          <a:xfrm>
            <a:off x="3880775" y="3921542"/>
            <a:ext cx="5300100" cy="4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57"/>
          <p:cNvCxnSpPr/>
          <p:nvPr/>
        </p:nvCxnSpPr>
        <p:spPr>
          <a:xfrm>
            <a:off x="3880775" y="4271750"/>
            <a:ext cx="5300100" cy="4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57"/>
          <p:cNvCxnSpPr/>
          <p:nvPr/>
        </p:nvCxnSpPr>
        <p:spPr>
          <a:xfrm flipH="1" rot="10800000">
            <a:off x="3863525" y="3225325"/>
            <a:ext cx="5287200" cy="8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57"/>
          <p:cNvCxnSpPr/>
          <p:nvPr/>
        </p:nvCxnSpPr>
        <p:spPr>
          <a:xfrm>
            <a:off x="4087425" y="32521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5" name="Google Shape;735;p57"/>
          <p:cNvCxnSpPr/>
          <p:nvPr/>
        </p:nvCxnSpPr>
        <p:spPr>
          <a:xfrm>
            <a:off x="4093650" y="32583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6" name="Google Shape;736;p57"/>
          <p:cNvCxnSpPr/>
          <p:nvPr/>
        </p:nvCxnSpPr>
        <p:spPr>
          <a:xfrm>
            <a:off x="4087425" y="32521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7" name="Google Shape;737;p57"/>
          <p:cNvCxnSpPr/>
          <p:nvPr/>
        </p:nvCxnSpPr>
        <p:spPr>
          <a:xfrm>
            <a:off x="5763825" y="32521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57"/>
          <p:cNvCxnSpPr/>
          <p:nvPr/>
        </p:nvCxnSpPr>
        <p:spPr>
          <a:xfrm>
            <a:off x="5770050" y="32583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57"/>
          <p:cNvCxnSpPr/>
          <p:nvPr/>
        </p:nvCxnSpPr>
        <p:spPr>
          <a:xfrm>
            <a:off x="5763825" y="32521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0" name="Google Shape;740;p57"/>
          <p:cNvCxnSpPr/>
          <p:nvPr/>
        </p:nvCxnSpPr>
        <p:spPr>
          <a:xfrm>
            <a:off x="7592625" y="32521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1" name="Google Shape;741;p57"/>
          <p:cNvCxnSpPr/>
          <p:nvPr/>
        </p:nvCxnSpPr>
        <p:spPr>
          <a:xfrm>
            <a:off x="7598850" y="32583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57"/>
          <p:cNvCxnSpPr/>
          <p:nvPr/>
        </p:nvCxnSpPr>
        <p:spPr>
          <a:xfrm>
            <a:off x="7592625" y="32521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57"/>
          <p:cNvCxnSpPr/>
          <p:nvPr/>
        </p:nvCxnSpPr>
        <p:spPr>
          <a:xfrm flipH="1" rot="10800000">
            <a:off x="4075000" y="32396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4" name="Google Shape;744;p57"/>
          <p:cNvCxnSpPr/>
          <p:nvPr/>
        </p:nvCxnSpPr>
        <p:spPr>
          <a:xfrm>
            <a:off x="4112300" y="35755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57"/>
          <p:cNvCxnSpPr/>
          <p:nvPr/>
        </p:nvCxnSpPr>
        <p:spPr>
          <a:xfrm>
            <a:off x="4137200" y="35755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57"/>
          <p:cNvCxnSpPr/>
          <p:nvPr/>
        </p:nvCxnSpPr>
        <p:spPr>
          <a:xfrm flipH="1" rot="10800000">
            <a:off x="5751400" y="32396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57"/>
          <p:cNvCxnSpPr/>
          <p:nvPr/>
        </p:nvCxnSpPr>
        <p:spPr>
          <a:xfrm>
            <a:off x="5788700" y="35755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57"/>
          <p:cNvCxnSpPr/>
          <p:nvPr/>
        </p:nvCxnSpPr>
        <p:spPr>
          <a:xfrm>
            <a:off x="5813600" y="35755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57"/>
          <p:cNvCxnSpPr/>
          <p:nvPr/>
        </p:nvCxnSpPr>
        <p:spPr>
          <a:xfrm flipH="1" rot="10800000">
            <a:off x="7580200" y="32396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57"/>
          <p:cNvCxnSpPr/>
          <p:nvPr/>
        </p:nvCxnSpPr>
        <p:spPr>
          <a:xfrm>
            <a:off x="7617500" y="35755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1" name="Google Shape;751;p57"/>
          <p:cNvCxnSpPr/>
          <p:nvPr/>
        </p:nvCxnSpPr>
        <p:spPr>
          <a:xfrm>
            <a:off x="7642400" y="35755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2" name="Google Shape;752;p57"/>
          <p:cNvCxnSpPr/>
          <p:nvPr/>
        </p:nvCxnSpPr>
        <p:spPr>
          <a:xfrm flipH="1" rot="10800000">
            <a:off x="4137200" y="32768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57"/>
          <p:cNvCxnSpPr/>
          <p:nvPr/>
        </p:nvCxnSpPr>
        <p:spPr>
          <a:xfrm flipH="1" rot="10800000">
            <a:off x="4130975" y="35693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57"/>
          <p:cNvCxnSpPr/>
          <p:nvPr/>
        </p:nvCxnSpPr>
        <p:spPr>
          <a:xfrm>
            <a:off x="4143400" y="39113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5" name="Google Shape;755;p57"/>
          <p:cNvCxnSpPr/>
          <p:nvPr/>
        </p:nvCxnSpPr>
        <p:spPr>
          <a:xfrm flipH="1" rot="10800000">
            <a:off x="5813600" y="32768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6" name="Google Shape;756;p57"/>
          <p:cNvCxnSpPr/>
          <p:nvPr/>
        </p:nvCxnSpPr>
        <p:spPr>
          <a:xfrm flipH="1" rot="10800000">
            <a:off x="5807375" y="35693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7" name="Google Shape;757;p57"/>
          <p:cNvCxnSpPr/>
          <p:nvPr/>
        </p:nvCxnSpPr>
        <p:spPr>
          <a:xfrm>
            <a:off x="5819800" y="39113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8" name="Google Shape;758;p57"/>
          <p:cNvCxnSpPr/>
          <p:nvPr/>
        </p:nvCxnSpPr>
        <p:spPr>
          <a:xfrm flipH="1" rot="10800000">
            <a:off x="7642400" y="32768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9" name="Google Shape;759;p57"/>
          <p:cNvCxnSpPr/>
          <p:nvPr/>
        </p:nvCxnSpPr>
        <p:spPr>
          <a:xfrm flipH="1" rot="10800000">
            <a:off x="7636175" y="35693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57"/>
          <p:cNvCxnSpPr/>
          <p:nvPr/>
        </p:nvCxnSpPr>
        <p:spPr>
          <a:xfrm>
            <a:off x="7648600" y="39113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1" name="Google Shape;761;p57"/>
          <p:cNvCxnSpPr/>
          <p:nvPr/>
        </p:nvCxnSpPr>
        <p:spPr>
          <a:xfrm flipH="1" rot="10800000">
            <a:off x="4143400" y="32893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2" name="Google Shape;762;p57"/>
          <p:cNvCxnSpPr/>
          <p:nvPr/>
        </p:nvCxnSpPr>
        <p:spPr>
          <a:xfrm flipH="1" rot="10800000">
            <a:off x="4143400" y="36128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3" name="Google Shape;763;p57"/>
          <p:cNvCxnSpPr/>
          <p:nvPr/>
        </p:nvCxnSpPr>
        <p:spPr>
          <a:xfrm flipH="1" rot="10800000">
            <a:off x="4162075" y="39239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57"/>
          <p:cNvCxnSpPr/>
          <p:nvPr/>
        </p:nvCxnSpPr>
        <p:spPr>
          <a:xfrm flipH="1" rot="10800000">
            <a:off x="5819800" y="32893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5" name="Google Shape;765;p57"/>
          <p:cNvCxnSpPr/>
          <p:nvPr/>
        </p:nvCxnSpPr>
        <p:spPr>
          <a:xfrm flipH="1" rot="10800000">
            <a:off x="5819800" y="36128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57"/>
          <p:cNvCxnSpPr/>
          <p:nvPr/>
        </p:nvCxnSpPr>
        <p:spPr>
          <a:xfrm flipH="1" rot="10800000">
            <a:off x="5838475" y="39239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57"/>
          <p:cNvCxnSpPr/>
          <p:nvPr/>
        </p:nvCxnSpPr>
        <p:spPr>
          <a:xfrm flipH="1" rot="10800000">
            <a:off x="7648600" y="32893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57"/>
          <p:cNvCxnSpPr/>
          <p:nvPr/>
        </p:nvCxnSpPr>
        <p:spPr>
          <a:xfrm flipH="1" rot="10800000">
            <a:off x="7648600" y="36128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57"/>
          <p:cNvCxnSpPr/>
          <p:nvPr/>
        </p:nvCxnSpPr>
        <p:spPr>
          <a:xfrm flipH="1" rot="10800000">
            <a:off x="7667275" y="39239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0" name="Google Shape;77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1" name="Google Shape;771;p57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Asynchronous protocols are slow and rarely deployed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An alternative approach?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7" name="Google Shape;777;p58"/>
          <p:cNvCxnSpPr/>
          <p:nvPr/>
        </p:nvCxnSpPr>
        <p:spPr>
          <a:xfrm flipH="1" rot="10800000">
            <a:off x="438875" y="1514800"/>
            <a:ext cx="7903200" cy="84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8"/>
          <p:cNvCxnSpPr/>
          <p:nvPr/>
        </p:nvCxnSpPr>
        <p:spPr>
          <a:xfrm>
            <a:off x="438875" y="2285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8"/>
          <p:cNvCxnSpPr/>
          <p:nvPr/>
        </p:nvCxnSpPr>
        <p:spPr>
          <a:xfrm>
            <a:off x="438875" y="3047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58"/>
          <p:cNvCxnSpPr/>
          <p:nvPr/>
        </p:nvCxnSpPr>
        <p:spPr>
          <a:xfrm>
            <a:off x="438875" y="3809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58"/>
          <p:cNvSpPr txBox="1"/>
          <p:nvPr/>
        </p:nvSpPr>
        <p:spPr>
          <a:xfrm>
            <a:off x="349525" y="1116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p58"/>
          <p:cNvSpPr txBox="1"/>
          <p:nvPr/>
        </p:nvSpPr>
        <p:spPr>
          <a:xfrm>
            <a:off x="349525" y="1954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58"/>
          <p:cNvSpPr txBox="1"/>
          <p:nvPr/>
        </p:nvSpPr>
        <p:spPr>
          <a:xfrm>
            <a:off x="349525" y="2716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4" name="Google Shape;784;p58"/>
          <p:cNvSpPr txBox="1"/>
          <p:nvPr/>
        </p:nvSpPr>
        <p:spPr>
          <a:xfrm>
            <a:off x="349525" y="3478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5" name="Google Shape;785;p58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58"/>
          <p:cNvSpPr txBox="1"/>
          <p:nvPr/>
        </p:nvSpPr>
        <p:spPr>
          <a:xfrm>
            <a:off x="0" y="1262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787" name="Google Shape;787;p58"/>
          <p:cNvSpPr txBox="1"/>
          <p:nvPr/>
        </p:nvSpPr>
        <p:spPr>
          <a:xfrm>
            <a:off x="0" y="21004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788" name="Google Shape;788;p58"/>
          <p:cNvSpPr txBox="1"/>
          <p:nvPr/>
        </p:nvSpPr>
        <p:spPr>
          <a:xfrm>
            <a:off x="0" y="2786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789" name="Google Shape;789;p58"/>
          <p:cNvSpPr txBox="1"/>
          <p:nvPr/>
        </p:nvSpPr>
        <p:spPr>
          <a:xfrm>
            <a:off x="0" y="3548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790" name="Google Shape;790;p58"/>
          <p:cNvCxnSpPr>
            <a:stCxn id="785" idx="2"/>
          </p:cNvCxnSpPr>
          <p:nvPr/>
        </p:nvCxnSpPr>
        <p:spPr>
          <a:xfrm>
            <a:off x="1277875" y="1505475"/>
            <a:ext cx="408600" cy="7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1" name="Google Shape;791;p58"/>
          <p:cNvCxnSpPr>
            <a:stCxn id="785" idx="2"/>
          </p:cNvCxnSpPr>
          <p:nvPr/>
        </p:nvCxnSpPr>
        <p:spPr>
          <a:xfrm>
            <a:off x="1277875" y="1505475"/>
            <a:ext cx="441600" cy="153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58"/>
          <p:cNvCxnSpPr>
            <a:stCxn id="785" idx="2"/>
          </p:cNvCxnSpPr>
          <p:nvPr/>
        </p:nvCxnSpPr>
        <p:spPr>
          <a:xfrm>
            <a:off x="1277875" y="1505475"/>
            <a:ext cx="441600" cy="230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p58"/>
          <p:cNvSpPr txBox="1"/>
          <p:nvPr/>
        </p:nvSpPr>
        <p:spPr>
          <a:xfrm>
            <a:off x="921300" y="17377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794" name="Google Shape;794;p58"/>
          <p:cNvCxnSpPr/>
          <p:nvPr/>
        </p:nvCxnSpPr>
        <p:spPr>
          <a:xfrm flipH="1" rot="10800000">
            <a:off x="1763175" y="1557625"/>
            <a:ext cx="645300" cy="222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58"/>
          <p:cNvCxnSpPr/>
          <p:nvPr/>
        </p:nvCxnSpPr>
        <p:spPr>
          <a:xfrm flipH="1" rot="10800000">
            <a:off x="1741300" y="1568375"/>
            <a:ext cx="6345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6" name="Google Shape;796;p58"/>
          <p:cNvCxnSpPr/>
          <p:nvPr/>
        </p:nvCxnSpPr>
        <p:spPr>
          <a:xfrm flipH="1" rot="10800000">
            <a:off x="1697550" y="1590250"/>
            <a:ext cx="689100" cy="6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7" name="Google Shape;797;p58"/>
          <p:cNvSpPr txBox="1"/>
          <p:nvPr/>
        </p:nvSpPr>
        <p:spPr>
          <a:xfrm>
            <a:off x="1988100" y="17377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798" name="Google Shape;798;p58"/>
          <p:cNvSpPr txBox="1"/>
          <p:nvPr/>
        </p:nvSpPr>
        <p:spPr>
          <a:xfrm>
            <a:off x="2216700" y="11281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799" name="Google Shape;799;p58"/>
          <p:cNvCxnSpPr/>
          <p:nvPr/>
        </p:nvCxnSpPr>
        <p:spPr>
          <a:xfrm flipH="1" rot="10800000">
            <a:off x="2880275" y="1295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58"/>
          <p:cNvCxnSpPr/>
          <p:nvPr/>
        </p:nvCxnSpPr>
        <p:spPr>
          <a:xfrm flipH="1" rot="10800000">
            <a:off x="3032675" y="1295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58"/>
          <p:cNvCxnSpPr/>
          <p:nvPr/>
        </p:nvCxnSpPr>
        <p:spPr>
          <a:xfrm flipH="1" rot="10800000">
            <a:off x="3185075" y="1295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58"/>
          <p:cNvCxnSpPr/>
          <p:nvPr/>
        </p:nvCxnSpPr>
        <p:spPr>
          <a:xfrm flipH="1" rot="10800000">
            <a:off x="3949029" y="1524624"/>
            <a:ext cx="317100" cy="7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3" name="Google Shape;803;p58"/>
          <p:cNvCxnSpPr/>
          <p:nvPr/>
        </p:nvCxnSpPr>
        <p:spPr>
          <a:xfrm>
            <a:off x="3949029" y="2287224"/>
            <a:ext cx="273300" cy="75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4" name="Google Shape;804;p58"/>
          <p:cNvCxnSpPr/>
          <p:nvPr/>
        </p:nvCxnSpPr>
        <p:spPr>
          <a:xfrm>
            <a:off x="3949029" y="2287224"/>
            <a:ext cx="327900" cy="149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5" name="Google Shape;805;p58"/>
          <p:cNvCxnSpPr/>
          <p:nvPr/>
        </p:nvCxnSpPr>
        <p:spPr>
          <a:xfrm flipH="1" rot="10800000">
            <a:off x="4287975" y="2312150"/>
            <a:ext cx="2079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6" name="Google Shape;806;p58"/>
          <p:cNvCxnSpPr/>
          <p:nvPr/>
        </p:nvCxnSpPr>
        <p:spPr>
          <a:xfrm flipH="1" rot="10800000">
            <a:off x="4244225" y="2323175"/>
            <a:ext cx="2406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7" name="Google Shape;807;p58"/>
          <p:cNvCxnSpPr/>
          <p:nvPr/>
        </p:nvCxnSpPr>
        <p:spPr>
          <a:xfrm>
            <a:off x="4255175" y="1546600"/>
            <a:ext cx="2187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8" name="Google Shape;808;p58"/>
          <p:cNvCxnSpPr/>
          <p:nvPr/>
        </p:nvCxnSpPr>
        <p:spPr>
          <a:xfrm flipH="1" rot="10800000">
            <a:off x="6004475" y="12189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58"/>
          <p:cNvCxnSpPr/>
          <p:nvPr/>
        </p:nvCxnSpPr>
        <p:spPr>
          <a:xfrm flipH="1" rot="10800000">
            <a:off x="6156875" y="12189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58"/>
          <p:cNvCxnSpPr/>
          <p:nvPr/>
        </p:nvCxnSpPr>
        <p:spPr>
          <a:xfrm flipH="1" rot="10800000">
            <a:off x="6309275" y="12189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58"/>
          <p:cNvCxnSpPr/>
          <p:nvPr/>
        </p:nvCxnSpPr>
        <p:spPr>
          <a:xfrm flipH="1" rot="10800000">
            <a:off x="5852075" y="2057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58"/>
          <p:cNvCxnSpPr/>
          <p:nvPr/>
        </p:nvCxnSpPr>
        <p:spPr>
          <a:xfrm flipH="1" rot="10800000">
            <a:off x="6004475" y="2057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58"/>
          <p:cNvCxnSpPr/>
          <p:nvPr/>
        </p:nvCxnSpPr>
        <p:spPr>
          <a:xfrm flipH="1" rot="10800000">
            <a:off x="6156875" y="2057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58"/>
          <p:cNvCxnSpPr/>
          <p:nvPr/>
        </p:nvCxnSpPr>
        <p:spPr>
          <a:xfrm flipH="1" rot="10800000">
            <a:off x="6616029" y="2312124"/>
            <a:ext cx="164700" cy="73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5" name="Google Shape;815;p58"/>
          <p:cNvCxnSpPr/>
          <p:nvPr/>
        </p:nvCxnSpPr>
        <p:spPr>
          <a:xfrm flipH="1" rot="10800000">
            <a:off x="6616029" y="1535724"/>
            <a:ext cx="110100" cy="15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6" name="Google Shape;816;p58"/>
          <p:cNvCxnSpPr/>
          <p:nvPr/>
        </p:nvCxnSpPr>
        <p:spPr>
          <a:xfrm flipH="1" rot="10800000">
            <a:off x="6768875" y="3078075"/>
            <a:ext cx="462300" cy="70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58"/>
          <p:cNvCxnSpPr/>
          <p:nvPr/>
        </p:nvCxnSpPr>
        <p:spPr>
          <a:xfrm>
            <a:off x="6739150" y="1524725"/>
            <a:ext cx="514200" cy="153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18" name="Google Shape;81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6500" y="2092050"/>
            <a:ext cx="441600" cy="4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700" y="2854050"/>
            <a:ext cx="441600" cy="4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1" name="Google Shape;82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1069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1831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3355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2593765"/>
            <a:ext cx="408600" cy="229831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8"/>
          <p:cNvSpPr txBox="1"/>
          <p:nvPr/>
        </p:nvSpPr>
        <p:spPr>
          <a:xfrm>
            <a:off x="3359700" y="24997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sp>
        <p:nvSpPr>
          <p:cNvPr id="826" name="Google Shape;826;p58"/>
          <p:cNvSpPr txBox="1"/>
          <p:nvPr/>
        </p:nvSpPr>
        <p:spPr>
          <a:xfrm>
            <a:off x="4229738" y="2506763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827" name="Google Shape;827;p58"/>
          <p:cNvSpPr txBox="1"/>
          <p:nvPr/>
        </p:nvSpPr>
        <p:spPr>
          <a:xfrm>
            <a:off x="4502700" y="19663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828" name="Google Shape;828;p58"/>
          <p:cNvSpPr/>
          <p:nvPr/>
        </p:nvSpPr>
        <p:spPr>
          <a:xfrm>
            <a:off x="3120325" y="2323175"/>
            <a:ext cx="327900" cy="1730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8"/>
          <p:cNvSpPr/>
          <p:nvPr/>
        </p:nvSpPr>
        <p:spPr>
          <a:xfrm>
            <a:off x="2789700" y="4042475"/>
            <a:ext cx="1060500" cy="4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view change</a:t>
            </a:r>
            <a:endParaRPr/>
          </a:p>
        </p:txBody>
      </p:sp>
      <p:sp>
        <p:nvSpPr>
          <p:cNvPr id="830" name="Google Shape;830;p58"/>
          <p:cNvSpPr txBox="1"/>
          <p:nvPr/>
        </p:nvSpPr>
        <p:spPr>
          <a:xfrm>
            <a:off x="7017300" y="25759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831" name="Google Shape;831;p58"/>
          <p:cNvSpPr txBox="1"/>
          <p:nvPr/>
        </p:nvSpPr>
        <p:spPr>
          <a:xfrm>
            <a:off x="7245900" y="30331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832" name="Google Shape;832;p58"/>
          <p:cNvSpPr/>
          <p:nvPr/>
        </p:nvSpPr>
        <p:spPr>
          <a:xfrm>
            <a:off x="6168325" y="3295650"/>
            <a:ext cx="327900" cy="757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8"/>
          <p:cNvSpPr/>
          <p:nvPr/>
        </p:nvSpPr>
        <p:spPr>
          <a:xfrm>
            <a:off x="5761500" y="4042475"/>
            <a:ext cx="1060500" cy="4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view change</a:t>
            </a:r>
            <a:endParaRPr/>
          </a:p>
        </p:txBody>
      </p:sp>
      <p:cxnSp>
        <p:nvCxnSpPr>
          <p:cNvPr id="834" name="Google Shape;834;p58"/>
          <p:cNvCxnSpPr>
            <a:stCxn id="819" idx="3"/>
          </p:cNvCxnSpPr>
          <p:nvPr/>
        </p:nvCxnSpPr>
        <p:spPr>
          <a:xfrm>
            <a:off x="6591300" y="3074850"/>
            <a:ext cx="191100" cy="7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5" name="Google Shape;835;p58"/>
          <p:cNvSpPr txBox="1"/>
          <p:nvPr/>
        </p:nvSpPr>
        <p:spPr>
          <a:xfrm>
            <a:off x="6179100" y="26521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sp>
        <p:nvSpPr>
          <p:cNvPr id="836" name="Google Shape;836;p58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Can we change leaders </a:t>
            </a: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without view changes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 if the current leader is sub optimal?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if multiple leaders could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cooperate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instead of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interfere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0" y="1262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843" name="Google Shape;843;p59"/>
          <p:cNvSpPr txBox="1"/>
          <p:nvPr/>
        </p:nvSpPr>
        <p:spPr>
          <a:xfrm>
            <a:off x="0" y="21004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844" name="Google Shape;844;p59"/>
          <p:cNvSpPr txBox="1"/>
          <p:nvPr/>
        </p:nvSpPr>
        <p:spPr>
          <a:xfrm>
            <a:off x="0" y="2786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845" name="Google Shape;845;p59"/>
          <p:cNvSpPr txBox="1"/>
          <p:nvPr/>
        </p:nvSpPr>
        <p:spPr>
          <a:xfrm>
            <a:off x="0" y="3548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846" name="Google Shape;846;p59"/>
          <p:cNvCxnSpPr/>
          <p:nvPr/>
        </p:nvCxnSpPr>
        <p:spPr>
          <a:xfrm>
            <a:off x="438875" y="1523200"/>
            <a:ext cx="1866900" cy="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7" name="Google Shape;847;p59"/>
          <p:cNvCxnSpPr/>
          <p:nvPr/>
        </p:nvCxnSpPr>
        <p:spPr>
          <a:xfrm>
            <a:off x="438875" y="2285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8" name="Google Shape;848;p59"/>
          <p:cNvCxnSpPr/>
          <p:nvPr/>
        </p:nvCxnSpPr>
        <p:spPr>
          <a:xfrm>
            <a:off x="438875" y="3047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59"/>
          <p:cNvCxnSpPr/>
          <p:nvPr/>
        </p:nvCxnSpPr>
        <p:spPr>
          <a:xfrm>
            <a:off x="438875" y="3809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59"/>
          <p:cNvSpPr txBox="1"/>
          <p:nvPr/>
        </p:nvSpPr>
        <p:spPr>
          <a:xfrm>
            <a:off x="349525" y="1116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1" name="Google Shape;851;p59"/>
          <p:cNvSpPr txBox="1"/>
          <p:nvPr/>
        </p:nvSpPr>
        <p:spPr>
          <a:xfrm>
            <a:off x="349525" y="1954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2" name="Google Shape;852;p59"/>
          <p:cNvSpPr txBox="1"/>
          <p:nvPr/>
        </p:nvSpPr>
        <p:spPr>
          <a:xfrm>
            <a:off x="349525" y="2716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59"/>
          <p:cNvSpPr txBox="1"/>
          <p:nvPr/>
        </p:nvSpPr>
        <p:spPr>
          <a:xfrm>
            <a:off x="349525" y="3478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4" name="Google Shape;854;p59"/>
          <p:cNvCxnSpPr/>
          <p:nvPr/>
        </p:nvCxnSpPr>
        <p:spPr>
          <a:xfrm>
            <a:off x="2267675" y="1523200"/>
            <a:ext cx="6030300" cy="9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5" name="Google Shape;855;p59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6" name="Google Shape;85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850" y="1625131"/>
            <a:ext cx="3137231" cy="2091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7" name="Google Shape;857;p59"/>
          <p:cNvGrpSpPr/>
          <p:nvPr/>
        </p:nvGrpSpPr>
        <p:grpSpPr>
          <a:xfrm>
            <a:off x="889175" y="1468438"/>
            <a:ext cx="2603722" cy="2338200"/>
            <a:chOff x="889175" y="1468438"/>
            <a:chExt cx="2603722" cy="2338200"/>
          </a:xfrm>
        </p:grpSpPr>
        <p:cxnSp>
          <p:nvCxnSpPr>
            <p:cNvPr id="858" name="Google Shape;858;p59"/>
            <p:cNvCxnSpPr/>
            <p:nvPr/>
          </p:nvCxnSpPr>
          <p:spPr>
            <a:xfrm>
              <a:off x="1493697" y="1468438"/>
              <a:ext cx="1999200" cy="77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59" name="Google Shape;859;p59"/>
            <p:cNvCxnSpPr/>
            <p:nvPr/>
          </p:nvCxnSpPr>
          <p:spPr>
            <a:xfrm>
              <a:off x="1493697" y="1468438"/>
              <a:ext cx="1704900" cy="158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0" name="Google Shape;860;p59"/>
            <p:cNvCxnSpPr/>
            <p:nvPr/>
          </p:nvCxnSpPr>
          <p:spPr>
            <a:xfrm>
              <a:off x="1493697" y="1468438"/>
              <a:ext cx="1979400" cy="233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1" name="Google Shape;861;p59"/>
            <p:cNvSpPr txBox="1"/>
            <p:nvPr/>
          </p:nvSpPr>
          <p:spPr>
            <a:xfrm>
              <a:off x="889175" y="1573263"/>
              <a:ext cx="966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</p:grpSp>
      <p:grpSp>
        <p:nvGrpSpPr>
          <p:cNvPr id="862" name="Google Shape;862;p59"/>
          <p:cNvGrpSpPr/>
          <p:nvPr/>
        </p:nvGrpSpPr>
        <p:grpSpPr>
          <a:xfrm>
            <a:off x="3067237" y="1157713"/>
            <a:ext cx="3009522" cy="2649800"/>
            <a:chOff x="1697550" y="1128125"/>
            <a:chExt cx="1485450" cy="2649800"/>
          </a:xfrm>
        </p:grpSpPr>
        <p:cxnSp>
          <p:nvCxnSpPr>
            <p:cNvPr id="863" name="Google Shape;863;p59"/>
            <p:cNvCxnSpPr/>
            <p:nvPr/>
          </p:nvCxnSpPr>
          <p:spPr>
            <a:xfrm flipH="1" rot="10800000">
              <a:off x="1763175" y="1559725"/>
              <a:ext cx="715800" cy="221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4" name="Google Shape;864;p59"/>
            <p:cNvCxnSpPr/>
            <p:nvPr/>
          </p:nvCxnSpPr>
          <p:spPr>
            <a:xfrm flipH="1" rot="10800000">
              <a:off x="1741300" y="1550075"/>
              <a:ext cx="723300" cy="146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5" name="Google Shape;865;p59"/>
            <p:cNvCxnSpPr/>
            <p:nvPr/>
          </p:nvCxnSpPr>
          <p:spPr>
            <a:xfrm flipH="1" rot="10800000">
              <a:off x="1697550" y="1559950"/>
              <a:ext cx="742800" cy="66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6" name="Google Shape;866;p59"/>
            <p:cNvSpPr txBox="1"/>
            <p:nvPr/>
          </p:nvSpPr>
          <p:spPr>
            <a:xfrm>
              <a:off x="2216700" y="1128125"/>
              <a:ext cx="966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commit</a:t>
              </a:r>
              <a:endParaRPr/>
            </a:p>
          </p:txBody>
        </p:sp>
      </p:grpSp>
      <p:sp>
        <p:nvSpPr>
          <p:cNvPr id="867" name="Google Shape;867;p59"/>
          <p:cNvSpPr txBox="1"/>
          <p:nvPr/>
        </p:nvSpPr>
        <p:spPr>
          <a:xfrm>
            <a:off x="2206225" y="3947525"/>
            <a:ext cx="1555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 1</a:t>
            </a:r>
            <a:endParaRPr/>
          </a:p>
        </p:txBody>
      </p:sp>
      <p:grpSp>
        <p:nvGrpSpPr>
          <p:cNvPr id="868" name="Google Shape;868;p59"/>
          <p:cNvGrpSpPr/>
          <p:nvPr/>
        </p:nvGrpSpPr>
        <p:grpSpPr>
          <a:xfrm>
            <a:off x="3863341" y="1546600"/>
            <a:ext cx="794239" cy="2230700"/>
            <a:chOff x="3863225" y="1546600"/>
            <a:chExt cx="251652" cy="2230700"/>
          </a:xfrm>
        </p:grpSpPr>
        <p:cxnSp>
          <p:nvCxnSpPr>
            <p:cNvPr id="869" name="Google Shape;869;p59"/>
            <p:cNvCxnSpPr/>
            <p:nvPr/>
          </p:nvCxnSpPr>
          <p:spPr>
            <a:xfrm flipH="1" rot="10800000">
              <a:off x="3876377" y="2312100"/>
              <a:ext cx="238500" cy="146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70" name="Google Shape;870;p59"/>
            <p:cNvCxnSpPr/>
            <p:nvPr/>
          </p:nvCxnSpPr>
          <p:spPr>
            <a:xfrm flipH="1" rot="10800000">
              <a:off x="3863225" y="2323175"/>
              <a:ext cx="240600" cy="68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71" name="Google Shape;871;p59"/>
            <p:cNvCxnSpPr/>
            <p:nvPr/>
          </p:nvCxnSpPr>
          <p:spPr>
            <a:xfrm>
              <a:off x="3874175" y="1546600"/>
              <a:ext cx="218700" cy="7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72" name="Google Shape;872;p59"/>
          <p:cNvGrpSpPr/>
          <p:nvPr/>
        </p:nvGrpSpPr>
        <p:grpSpPr>
          <a:xfrm>
            <a:off x="2420250" y="1530699"/>
            <a:ext cx="1465029" cy="2266200"/>
            <a:chOff x="3101700" y="1562724"/>
            <a:chExt cx="1465029" cy="2266200"/>
          </a:xfrm>
        </p:grpSpPr>
        <p:cxnSp>
          <p:nvCxnSpPr>
            <p:cNvPr id="873" name="Google Shape;873;p59"/>
            <p:cNvCxnSpPr/>
            <p:nvPr/>
          </p:nvCxnSpPr>
          <p:spPr>
            <a:xfrm flipH="1" rot="10800000">
              <a:off x="3568029" y="1562724"/>
              <a:ext cx="988800" cy="72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74" name="Google Shape;874;p59"/>
            <p:cNvCxnSpPr/>
            <p:nvPr/>
          </p:nvCxnSpPr>
          <p:spPr>
            <a:xfrm>
              <a:off x="3568029" y="2287224"/>
              <a:ext cx="939900" cy="75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75" name="Google Shape;875;p59"/>
            <p:cNvCxnSpPr/>
            <p:nvPr/>
          </p:nvCxnSpPr>
          <p:spPr>
            <a:xfrm>
              <a:off x="3568029" y="2287224"/>
              <a:ext cx="998700" cy="154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876" name="Google Shape;876;p5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01700" y="2092050"/>
              <a:ext cx="441600" cy="44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7" name="Google Shape;87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8" name="Google Shape;878;p59"/>
          <p:cNvSpPr/>
          <p:nvPr/>
        </p:nvSpPr>
        <p:spPr>
          <a:xfrm>
            <a:off x="0" y="4648950"/>
            <a:ext cx="9144000" cy="4416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Can we support multiple leaders to be non destructive?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Parallels of QuePaxa and hedging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algorithm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Hedging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1" name="Google Shape;891;p61"/>
          <p:cNvSpPr txBox="1"/>
          <p:nvPr>
            <p:ph idx="1" type="body"/>
          </p:nvPr>
        </p:nvSpPr>
        <p:spPr>
          <a:xfrm>
            <a:off x="311700" y="847675"/>
            <a:ext cx="8395800" cy="6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Hedging is a way to curb latency variability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Key idea: issue the same request to multiple replicas and use the results from whichever replica responds first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61"/>
          <p:cNvSpPr/>
          <p:nvPr/>
        </p:nvSpPr>
        <p:spPr>
          <a:xfrm>
            <a:off x="3180975" y="1626275"/>
            <a:ext cx="2823600" cy="5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sp>
        <p:nvSpPr>
          <p:cNvPr id="893" name="Google Shape;893;p61"/>
          <p:cNvSpPr/>
          <p:nvPr/>
        </p:nvSpPr>
        <p:spPr>
          <a:xfrm>
            <a:off x="472525" y="3074075"/>
            <a:ext cx="8280000" cy="104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endParaRPr/>
          </a:p>
        </p:txBody>
      </p:sp>
      <p:sp>
        <p:nvSpPr>
          <p:cNvPr id="894" name="Google Shape;894;p61"/>
          <p:cNvSpPr/>
          <p:nvPr/>
        </p:nvSpPr>
        <p:spPr>
          <a:xfrm>
            <a:off x="822000" y="3293625"/>
            <a:ext cx="1444200" cy="74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Store 1</a:t>
            </a:r>
            <a:endParaRPr sz="1200"/>
          </a:p>
        </p:txBody>
      </p:sp>
      <p:sp>
        <p:nvSpPr>
          <p:cNvPr id="895" name="Google Shape;895;p61"/>
          <p:cNvSpPr/>
          <p:nvPr/>
        </p:nvSpPr>
        <p:spPr>
          <a:xfrm>
            <a:off x="3870000" y="3293625"/>
            <a:ext cx="1444200" cy="74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Store 2</a:t>
            </a:r>
            <a:endParaRPr sz="1200"/>
          </a:p>
        </p:txBody>
      </p:sp>
      <p:sp>
        <p:nvSpPr>
          <p:cNvPr id="896" name="Google Shape;896;p61"/>
          <p:cNvSpPr/>
          <p:nvPr/>
        </p:nvSpPr>
        <p:spPr>
          <a:xfrm>
            <a:off x="6994200" y="3293625"/>
            <a:ext cx="1444200" cy="74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Store 3</a:t>
            </a:r>
            <a:endParaRPr sz="1200"/>
          </a:p>
        </p:txBody>
      </p:sp>
      <p:sp>
        <p:nvSpPr>
          <p:cNvPr id="897" name="Google Shape;897;p61"/>
          <p:cNvSpPr txBox="1"/>
          <p:nvPr/>
        </p:nvSpPr>
        <p:spPr>
          <a:xfrm>
            <a:off x="188125" y="1625000"/>
            <a:ext cx="2307900" cy="9135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Multiple responses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do not interfere with  each other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8" name="Google Shape;898;p61"/>
          <p:cNvSpPr txBox="1"/>
          <p:nvPr/>
        </p:nvSpPr>
        <p:spPr>
          <a:xfrm>
            <a:off x="-18575" y="4560800"/>
            <a:ext cx="91440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Can we apply hedging to consensus so that multiple proposers don’t interfere?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9" name="Google Shape;89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00" name="Google Shape;900;p61"/>
          <p:cNvCxnSpPr>
            <a:stCxn id="892" idx="2"/>
            <a:endCxn id="894" idx="0"/>
          </p:cNvCxnSpPr>
          <p:nvPr/>
        </p:nvCxnSpPr>
        <p:spPr>
          <a:xfrm flipH="1">
            <a:off x="1544175" y="2198975"/>
            <a:ext cx="3048600" cy="10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1" name="Google Shape;901;p61"/>
          <p:cNvCxnSpPr>
            <a:stCxn id="892" idx="2"/>
            <a:endCxn id="895" idx="0"/>
          </p:cNvCxnSpPr>
          <p:nvPr/>
        </p:nvCxnSpPr>
        <p:spPr>
          <a:xfrm flipH="1">
            <a:off x="4592175" y="2198975"/>
            <a:ext cx="600" cy="10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61"/>
          <p:cNvCxnSpPr>
            <a:stCxn id="892" idx="2"/>
            <a:endCxn id="896" idx="0"/>
          </p:cNvCxnSpPr>
          <p:nvPr/>
        </p:nvCxnSpPr>
        <p:spPr>
          <a:xfrm>
            <a:off x="4592775" y="2198975"/>
            <a:ext cx="3123600" cy="109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61"/>
          <p:cNvCxnSpPr/>
          <p:nvPr/>
        </p:nvCxnSpPr>
        <p:spPr>
          <a:xfrm flipH="1" rot="10800000">
            <a:off x="1774325" y="2198950"/>
            <a:ext cx="2894700" cy="10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4" name="Google Shape;904;p61"/>
          <p:cNvCxnSpPr/>
          <p:nvPr/>
        </p:nvCxnSpPr>
        <p:spPr>
          <a:xfrm rot="10800000">
            <a:off x="4825825" y="2199725"/>
            <a:ext cx="9300" cy="108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0" name="Google Shape;91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Parallels of QuePaxa and hedging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QuePaxa algorithm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1" name="Google Shape;911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Contributions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7" name="Google Shape;917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A consensus protocol that eliminates the tyranny of timeouts problems</a:t>
            </a:r>
            <a:b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First consensus protocol to support hedging in consensus </a:t>
            </a:r>
            <a:b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A novel consensus protocol that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Under normal network conditions as good as Multi-Paxos /Raft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Under adversarial network conditions, provides liveness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Operation Overview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Abstract QuePaxa – </a:t>
            </a:r>
            <a:r>
              <a:rPr i="1" lang="en">
                <a:latin typeface="Times New Roman"/>
                <a:ea typeface="Times New Roman"/>
                <a:cs typeface="Times New Roman"/>
                <a:sym typeface="Times New Roman"/>
              </a:rPr>
              <a:t> a simplified version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Concrete QuePaxa overview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5" name="Google Shape;92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Architecture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1" name="Google Shape;931;p65"/>
          <p:cNvSpPr/>
          <p:nvPr/>
        </p:nvSpPr>
        <p:spPr>
          <a:xfrm>
            <a:off x="8167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932" name="Google Shape;932;p65"/>
          <p:cNvSpPr/>
          <p:nvPr/>
        </p:nvSpPr>
        <p:spPr>
          <a:xfrm>
            <a:off x="972375" y="3093500"/>
            <a:ext cx="1541700" cy="45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Proposer</a:t>
            </a:r>
            <a:endParaRPr/>
          </a:p>
        </p:txBody>
      </p:sp>
      <p:sp>
        <p:nvSpPr>
          <p:cNvPr id="933" name="Google Shape;933;p65"/>
          <p:cNvSpPr/>
          <p:nvPr/>
        </p:nvSpPr>
        <p:spPr>
          <a:xfrm>
            <a:off x="972375" y="3779300"/>
            <a:ext cx="1541700" cy="4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</a:t>
            </a:r>
            <a:endParaRPr/>
          </a:p>
        </p:txBody>
      </p:sp>
      <p:sp>
        <p:nvSpPr>
          <p:cNvPr id="934" name="Google Shape;934;p65"/>
          <p:cNvSpPr/>
          <p:nvPr/>
        </p:nvSpPr>
        <p:spPr>
          <a:xfrm>
            <a:off x="36361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935" name="Google Shape;935;p65"/>
          <p:cNvSpPr/>
          <p:nvPr/>
        </p:nvSpPr>
        <p:spPr>
          <a:xfrm>
            <a:off x="3791775" y="3093500"/>
            <a:ext cx="1541700" cy="45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Proposer</a:t>
            </a:r>
            <a:endParaRPr/>
          </a:p>
        </p:txBody>
      </p:sp>
      <p:sp>
        <p:nvSpPr>
          <p:cNvPr id="936" name="Google Shape;936;p65"/>
          <p:cNvSpPr/>
          <p:nvPr/>
        </p:nvSpPr>
        <p:spPr>
          <a:xfrm>
            <a:off x="3791775" y="3779300"/>
            <a:ext cx="1541700" cy="4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</a:t>
            </a:r>
            <a:endParaRPr/>
          </a:p>
        </p:txBody>
      </p:sp>
      <p:sp>
        <p:nvSpPr>
          <p:cNvPr id="937" name="Google Shape;937;p65"/>
          <p:cNvSpPr/>
          <p:nvPr/>
        </p:nvSpPr>
        <p:spPr>
          <a:xfrm>
            <a:off x="65317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938" name="Google Shape;938;p65"/>
          <p:cNvSpPr/>
          <p:nvPr/>
        </p:nvSpPr>
        <p:spPr>
          <a:xfrm>
            <a:off x="6687375" y="3093500"/>
            <a:ext cx="1541700" cy="45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Proposer</a:t>
            </a:r>
            <a:endParaRPr/>
          </a:p>
        </p:txBody>
      </p:sp>
      <p:sp>
        <p:nvSpPr>
          <p:cNvPr id="939" name="Google Shape;939;p65"/>
          <p:cNvSpPr/>
          <p:nvPr/>
        </p:nvSpPr>
        <p:spPr>
          <a:xfrm>
            <a:off x="6687375" y="3779300"/>
            <a:ext cx="1541700" cy="4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</a:t>
            </a:r>
            <a:endParaRPr/>
          </a:p>
        </p:txBody>
      </p:sp>
      <p:sp>
        <p:nvSpPr>
          <p:cNvPr id="940" name="Google Shape;940;p65"/>
          <p:cNvSpPr/>
          <p:nvPr/>
        </p:nvSpPr>
        <p:spPr>
          <a:xfrm>
            <a:off x="1962975" y="1569500"/>
            <a:ext cx="1541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Submitter</a:t>
            </a:r>
            <a:endParaRPr/>
          </a:p>
        </p:txBody>
      </p:sp>
      <p:sp>
        <p:nvSpPr>
          <p:cNvPr id="941" name="Google Shape;941;p65"/>
          <p:cNvSpPr/>
          <p:nvPr/>
        </p:nvSpPr>
        <p:spPr>
          <a:xfrm>
            <a:off x="5391975" y="1569500"/>
            <a:ext cx="1541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Submitter</a:t>
            </a:r>
            <a:endParaRPr/>
          </a:p>
        </p:txBody>
      </p:sp>
      <p:cxnSp>
        <p:nvCxnSpPr>
          <p:cNvPr id="942" name="Google Shape;942;p65"/>
          <p:cNvCxnSpPr>
            <a:stCxn id="940" idx="2"/>
            <a:endCxn id="931" idx="0"/>
          </p:cNvCxnSpPr>
          <p:nvPr/>
        </p:nvCxnSpPr>
        <p:spPr>
          <a:xfrm flipH="1">
            <a:off x="1739625" y="2021600"/>
            <a:ext cx="994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65"/>
          <p:cNvCxnSpPr>
            <a:stCxn id="940" idx="2"/>
            <a:endCxn id="934" idx="0"/>
          </p:cNvCxnSpPr>
          <p:nvPr/>
        </p:nvCxnSpPr>
        <p:spPr>
          <a:xfrm>
            <a:off x="2733825" y="2021600"/>
            <a:ext cx="1825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65"/>
          <p:cNvCxnSpPr>
            <a:stCxn id="940" idx="2"/>
            <a:endCxn id="937" idx="0"/>
          </p:cNvCxnSpPr>
          <p:nvPr/>
        </p:nvCxnSpPr>
        <p:spPr>
          <a:xfrm>
            <a:off x="2733825" y="2021600"/>
            <a:ext cx="4720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65"/>
          <p:cNvCxnSpPr>
            <a:stCxn id="941" idx="2"/>
            <a:endCxn id="931" idx="0"/>
          </p:cNvCxnSpPr>
          <p:nvPr/>
        </p:nvCxnSpPr>
        <p:spPr>
          <a:xfrm flipH="1">
            <a:off x="1739625" y="2021600"/>
            <a:ext cx="4423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65"/>
          <p:cNvCxnSpPr>
            <a:stCxn id="941" idx="2"/>
            <a:endCxn id="934" idx="0"/>
          </p:cNvCxnSpPr>
          <p:nvPr/>
        </p:nvCxnSpPr>
        <p:spPr>
          <a:xfrm flipH="1">
            <a:off x="4559025" y="2021600"/>
            <a:ext cx="1603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65"/>
          <p:cNvCxnSpPr>
            <a:stCxn id="941" idx="2"/>
            <a:endCxn id="937" idx="0"/>
          </p:cNvCxnSpPr>
          <p:nvPr/>
        </p:nvCxnSpPr>
        <p:spPr>
          <a:xfrm>
            <a:off x="6162825" y="2021600"/>
            <a:ext cx="1291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8" name="Google Shape;948;p65"/>
          <p:cNvSpPr txBox="1"/>
          <p:nvPr/>
        </p:nvSpPr>
        <p:spPr>
          <a:xfrm>
            <a:off x="3654850" y="1952125"/>
            <a:ext cx="16038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Requests</a:t>
            </a:r>
            <a:endParaRPr/>
          </a:p>
        </p:txBody>
      </p:sp>
      <p:cxnSp>
        <p:nvCxnSpPr>
          <p:cNvPr id="949" name="Google Shape;949;p65"/>
          <p:cNvCxnSpPr>
            <a:stCxn id="932" idx="2"/>
            <a:endCxn id="933" idx="0"/>
          </p:cNvCxnSpPr>
          <p:nvPr/>
        </p:nvCxnSpPr>
        <p:spPr>
          <a:xfrm>
            <a:off x="1743225" y="3545600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0" name="Google Shape;950;p65"/>
          <p:cNvCxnSpPr>
            <a:stCxn id="932" idx="2"/>
            <a:endCxn id="936" idx="0"/>
          </p:cNvCxnSpPr>
          <p:nvPr/>
        </p:nvCxnSpPr>
        <p:spPr>
          <a:xfrm>
            <a:off x="1743225" y="3545600"/>
            <a:ext cx="281940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1" name="Google Shape;951;p65"/>
          <p:cNvCxnSpPr>
            <a:stCxn id="932" idx="2"/>
            <a:endCxn id="939" idx="0"/>
          </p:cNvCxnSpPr>
          <p:nvPr/>
        </p:nvCxnSpPr>
        <p:spPr>
          <a:xfrm>
            <a:off x="1743225" y="3545600"/>
            <a:ext cx="571500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2" name="Google Shape;95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Log Structure</a:t>
            </a:r>
            <a:endParaRPr/>
          </a:p>
        </p:txBody>
      </p:sp>
      <p:sp>
        <p:nvSpPr>
          <p:cNvPr id="958" name="Google Shape;958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9" name="Google Shape;959;p66"/>
          <p:cNvSpPr/>
          <p:nvPr/>
        </p:nvSpPr>
        <p:spPr>
          <a:xfrm>
            <a:off x="1212750" y="1243750"/>
            <a:ext cx="7303500" cy="74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6"/>
          <p:cNvSpPr txBox="1"/>
          <p:nvPr/>
        </p:nvSpPr>
        <p:spPr>
          <a:xfrm>
            <a:off x="98800" y="1379350"/>
            <a:ext cx="9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1</a:t>
            </a:r>
            <a:endParaRPr/>
          </a:p>
        </p:txBody>
      </p:sp>
      <p:sp>
        <p:nvSpPr>
          <p:cNvPr id="961" name="Google Shape;961;p66"/>
          <p:cNvSpPr/>
          <p:nvPr/>
        </p:nvSpPr>
        <p:spPr>
          <a:xfrm>
            <a:off x="1212750" y="2234350"/>
            <a:ext cx="7303500" cy="74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6"/>
          <p:cNvSpPr txBox="1"/>
          <p:nvPr/>
        </p:nvSpPr>
        <p:spPr>
          <a:xfrm>
            <a:off x="98800" y="2369950"/>
            <a:ext cx="9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2</a:t>
            </a:r>
            <a:endParaRPr/>
          </a:p>
        </p:txBody>
      </p:sp>
      <p:sp>
        <p:nvSpPr>
          <p:cNvPr id="963" name="Google Shape;963;p66"/>
          <p:cNvSpPr/>
          <p:nvPr/>
        </p:nvSpPr>
        <p:spPr>
          <a:xfrm>
            <a:off x="1212750" y="3377350"/>
            <a:ext cx="7303500" cy="74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6"/>
          <p:cNvSpPr txBox="1"/>
          <p:nvPr/>
        </p:nvSpPr>
        <p:spPr>
          <a:xfrm>
            <a:off x="98800" y="3512950"/>
            <a:ext cx="9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3</a:t>
            </a:r>
            <a:endParaRPr/>
          </a:p>
        </p:txBody>
      </p:sp>
      <p:cxnSp>
        <p:nvCxnSpPr>
          <p:cNvPr id="965" name="Google Shape;965;p66"/>
          <p:cNvCxnSpPr/>
          <p:nvPr/>
        </p:nvCxnSpPr>
        <p:spPr>
          <a:xfrm flipH="1">
            <a:off x="4854925" y="4305950"/>
            <a:ext cx="9600" cy="765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66" name="Google Shape;966;p66"/>
          <p:cNvSpPr/>
          <p:nvPr/>
        </p:nvSpPr>
        <p:spPr>
          <a:xfrm>
            <a:off x="1309600" y="1311550"/>
            <a:ext cx="2867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 1</a:t>
            </a:r>
            <a:endParaRPr/>
          </a:p>
        </p:txBody>
      </p:sp>
      <p:sp>
        <p:nvSpPr>
          <p:cNvPr id="967" name="Google Shape;967;p66"/>
          <p:cNvSpPr/>
          <p:nvPr/>
        </p:nvSpPr>
        <p:spPr>
          <a:xfrm>
            <a:off x="4205200" y="1311550"/>
            <a:ext cx="29259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 2</a:t>
            </a:r>
            <a:endParaRPr/>
          </a:p>
        </p:txBody>
      </p:sp>
      <p:cxnSp>
        <p:nvCxnSpPr>
          <p:cNvPr id="968" name="Google Shape;968;p66"/>
          <p:cNvCxnSpPr/>
          <p:nvPr/>
        </p:nvCxnSpPr>
        <p:spPr>
          <a:xfrm>
            <a:off x="7287450" y="1611550"/>
            <a:ext cx="1152600" cy="5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69" name="Google Shape;969;p66"/>
          <p:cNvSpPr/>
          <p:nvPr/>
        </p:nvSpPr>
        <p:spPr>
          <a:xfrm>
            <a:off x="1406475" y="1369675"/>
            <a:ext cx="2683200" cy="40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0" name="Google Shape;970;p66"/>
          <p:cNvCxnSpPr>
            <a:stCxn id="969" idx="0"/>
          </p:cNvCxnSpPr>
          <p:nvPr/>
        </p:nvCxnSpPr>
        <p:spPr>
          <a:xfrm>
            <a:off x="2748075" y="1369675"/>
            <a:ext cx="0" cy="4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66"/>
          <p:cNvCxnSpPr/>
          <p:nvPr/>
        </p:nvCxnSpPr>
        <p:spPr>
          <a:xfrm>
            <a:off x="1939225" y="1379350"/>
            <a:ext cx="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66"/>
          <p:cNvCxnSpPr/>
          <p:nvPr/>
        </p:nvCxnSpPr>
        <p:spPr>
          <a:xfrm>
            <a:off x="3489050" y="1379350"/>
            <a:ext cx="9600" cy="38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66"/>
          <p:cNvSpPr txBox="1"/>
          <p:nvPr/>
        </p:nvSpPr>
        <p:spPr>
          <a:xfrm>
            <a:off x="14826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P1</a:t>
            </a:r>
            <a:endParaRPr/>
          </a:p>
        </p:txBody>
      </p:sp>
      <p:sp>
        <p:nvSpPr>
          <p:cNvPr id="974" name="Google Shape;974;p66"/>
          <p:cNvSpPr txBox="1"/>
          <p:nvPr/>
        </p:nvSpPr>
        <p:spPr>
          <a:xfrm>
            <a:off x="21684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</a:t>
            </a:r>
            <a:endParaRPr/>
          </a:p>
        </p:txBody>
      </p:sp>
      <p:sp>
        <p:nvSpPr>
          <p:cNvPr id="975" name="Google Shape;975;p66"/>
          <p:cNvSpPr txBox="1"/>
          <p:nvPr/>
        </p:nvSpPr>
        <p:spPr>
          <a:xfrm>
            <a:off x="29304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P3</a:t>
            </a:r>
            <a:endParaRPr/>
          </a:p>
        </p:txBody>
      </p:sp>
      <p:sp>
        <p:nvSpPr>
          <p:cNvPr id="976" name="Google Shape;976;p66"/>
          <p:cNvSpPr txBox="1"/>
          <p:nvPr/>
        </p:nvSpPr>
        <p:spPr>
          <a:xfrm>
            <a:off x="36162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>
                <a:latin typeface="Times New Roman"/>
                <a:ea typeface="Times New Roman"/>
                <a:cs typeface="Times New Roman"/>
                <a:sym typeface="Times New Roman"/>
              </a:rPr>
              <a:t>QuePaxa Protocol Diagram</a:t>
            </a:r>
            <a:endParaRPr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2" name="Google Shape;982;p67"/>
          <p:cNvCxnSpPr/>
          <p:nvPr/>
        </p:nvCxnSpPr>
        <p:spPr>
          <a:xfrm>
            <a:off x="1313625" y="2046825"/>
            <a:ext cx="7766100" cy="237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67"/>
          <p:cNvCxnSpPr/>
          <p:nvPr/>
        </p:nvCxnSpPr>
        <p:spPr>
          <a:xfrm flipH="1" rot="10800000">
            <a:off x="1335500" y="2672025"/>
            <a:ext cx="7744800" cy="2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4" name="Google Shape;984;p67"/>
          <p:cNvCxnSpPr/>
          <p:nvPr/>
        </p:nvCxnSpPr>
        <p:spPr>
          <a:xfrm flipH="1" rot="10800000">
            <a:off x="1313625" y="3213675"/>
            <a:ext cx="7766100" cy="1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5" name="Google Shape;985;p67"/>
          <p:cNvCxnSpPr/>
          <p:nvPr/>
        </p:nvCxnSpPr>
        <p:spPr>
          <a:xfrm flipH="1" rot="10800000">
            <a:off x="1313625" y="3747075"/>
            <a:ext cx="7690200" cy="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67"/>
          <p:cNvCxnSpPr/>
          <p:nvPr/>
        </p:nvCxnSpPr>
        <p:spPr>
          <a:xfrm flipH="1" rot="10800000">
            <a:off x="1346450" y="4356775"/>
            <a:ext cx="7733400" cy="1200"/>
          </a:xfrm>
          <a:prstGeom prst="straightConnector1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67"/>
          <p:cNvSpPr txBox="1"/>
          <p:nvPr/>
        </p:nvSpPr>
        <p:spPr>
          <a:xfrm>
            <a:off x="199075" y="1859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Proposer 1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67"/>
          <p:cNvSpPr txBox="1"/>
          <p:nvPr/>
        </p:nvSpPr>
        <p:spPr>
          <a:xfrm>
            <a:off x="199075" y="4145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Proposer 2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67"/>
          <p:cNvSpPr txBox="1"/>
          <p:nvPr/>
        </p:nvSpPr>
        <p:spPr>
          <a:xfrm>
            <a:off x="199075" y="24694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Recorder 1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67"/>
          <p:cNvSpPr txBox="1"/>
          <p:nvPr/>
        </p:nvSpPr>
        <p:spPr>
          <a:xfrm>
            <a:off x="199075" y="3002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Recorder 2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67"/>
          <p:cNvSpPr txBox="1"/>
          <p:nvPr/>
        </p:nvSpPr>
        <p:spPr>
          <a:xfrm>
            <a:off x="199075" y="35362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Recorder 3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2" name="Google Shape;992;p67"/>
          <p:cNvCxnSpPr/>
          <p:nvPr/>
        </p:nvCxnSpPr>
        <p:spPr>
          <a:xfrm>
            <a:off x="1555350" y="2039900"/>
            <a:ext cx="568800" cy="6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67"/>
          <p:cNvCxnSpPr/>
          <p:nvPr/>
        </p:nvCxnSpPr>
        <p:spPr>
          <a:xfrm>
            <a:off x="1566300" y="2039900"/>
            <a:ext cx="570000" cy="11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67"/>
          <p:cNvCxnSpPr/>
          <p:nvPr/>
        </p:nvCxnSpPr>
        <p:spPr>
          <a:xfrm>
            <a:off x="1566300" y="2039900"/>
            <a:ext cx="540900" cy="16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67"/>
          <p:cNvSpPr/>
          <p:nvPr/>
        </p:nvSpPr>
        <p:spPr>
          <a:xfrm>
            <a:off x="1401125" y="1591450"/>
            <a:ext cx="23187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7"/>
          <p:cNvSpPr txBox="1"/>
          <p:nvPr/>
        </p:nvSpPr>
        <p:spPr>
          <a:xfrm>
            <a:off x="1652325" y="1338425"/>
            <a:ext cx="18594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7" name="Google Shape;997;p67"/>
          <p:cNvCxnSpPr>
            <a:endCxn id="998" idx="2"/>
          </p:cNvCxnSpPr>
          <p:nvPr/>
        </p:nvCxnSpPr>
        <p:spPr>
          <a:xfrm flipH="1" rot="10800000">
            <a:off x="2134925" y="1963725"/>
            <a:ext cx="597300" cy="12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9" name="Google Shape;999;p67"/>
          <p:cNvCxnSpPr/>
          <p:nvPr/>
        </p:nvCxnSpPr>
        <p:spPr>
          <a:xfrm flipH="1" rot="10800000">
            <a:off x="2107075" y="2094600"/>
            <a:ext cx="618600" cy="6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0" name="Google Shape;1000;p67"/>
          <p:cNvCxnSpPr/>
          <p:nvPr/>
        </p:nvCxnSpPr>
        <p:spPr>
          <a:xfrm flipH="1" rot="10800000">
            <a:off x="2136300" y="2094450"/>
            <a:ext cx="578700" cy="16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67"/>
          <p:cNvSpPr txBox="1"/>
          <p:nvPr/>
        </p:nvSpPr>
        <p:spPr>
          <a:xfrm>
            <a:off x="1622075" y="16793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 Majority Proposals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01" name="Google Shape;1001;p67"/>
          <p:cNvCxnSpPr/>
          <p:nvPr/>
        </p:nvCxnSpPr>
        <p:spPr>
          <a:xfrm>
            <a:off x="4049175" y="20399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2" name="Google Shape;1002;p67"/>
          <p:cNvCxnSpPr/>
          <p:nvPr/>
        </p:nvCxnSpPr>
        <p:spPr>
          <a:xfrm>
            <a:off x="4071050" y="20727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3" name="Google Shape;1003;p67"/>
          <p:cNvCxnSpPr/>
          <p:nvPr/>
        </p:nvCxnSpPr>
        <p:spPr>
          <a:xfrm>
            <a:off x="4071050" y="20727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4" name="Google Shape;1004;p67"/>
          <p:cNvCxnSpPr/>
          <p:nvPr/>
        </p:nvCxnSpPr>
        <p:spPr>
          <a:xfrm flipH="1" rot="10800000">
            <a:off x="4421050" y="20728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5" name="Google Shape;1005;p67"/>
          <p:cNvCxnSpPr/>
          <p:nvPr/>
        </p:nvCxnSpPr>
        <p:spPr>
          <a:xfrm flipH="1" rot="10800000">
            <a:off x="4442925" y="21056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6" name="Google Shape;1006;p67"/>
          <p:cNvCxnSpPr/>
          <p:nvPr/>
        </p:nvCxnSpPr>
        <p:spPr>
          <a:xfrm flipH="1" rot="10800000">
            <a:off x="4486675" y="21164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7" name="Google Shape;1007;p67"/>
          <p:cNvCxnSpPr/>
          <p:nvPr/>
        </p:nvCxnSpPr>
        <p:spPr>
          <a:xfrm flipH="1" rot="10800000">
            <a:off x="4092925" y="3735325"/>
            <a:ext cx="2187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8" name="Google Shape;1008;p67"/>
          <p:cNvCxnSpPr/>
          <p:nvPr/>
        </p:nvCxnSpPr>
        <p:spPr>
          <a:xfrm flipH="1" rot="10800000">
            <a:off x="4092925" y="3264925"/>
            <a:ext cx="186000" cy="10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9" name="Google Shape;1009;p67"/>
          <p:cNvCxnSpPr/>
          <p:nvPr/>
        </p:nvCxnSpPr>
        <p:spPr>
          <a:xfrm flipH="1" rot="10800000">
            <a:off x="4081975" y="2696125"/>
            <a:ext cx="876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0" name="Google Shape;1010;p67"/>
          <p:cNvCxnSpPr/>
          <p:nvPr/>
        </p:nvCxnSpPr>
        <p:spPr>
          <a:xfrm>
            <a:off x="4300750" y="3757125"/>
            <a:ext cx="207900" cy="5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1" name="Google Shape;1011;p67"/>
          <p:cNvCxnSpPr/>
          <p:nvPr/>
        </p:nvCxnSpPr>
        <p:spPr>
          <a:xfrm>
            <a:off x="4289800" y="3286800"/>
            <a:ext cx="240600" cy="10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2" name="Google Shape;1012;p67"/>
          <p:cNvCxnSpPr/>
          <p:nvPr/>
        </p:nvCxnSpPr>
        <p:spPr>
          <a:xfrm>
            <a:off x="4180425" y="2696175"/>
            <a:ext cx="32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3" name="Google Shape;1013;p67"/>
          <p:cNvCxnSpPr/>
          <p:nvPr/>
        </p:nvCxnSpPr>
        <p:spPr>
          <a:xfrm>
            <a:off x="5573175" y="20399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67"/>
          <p:cNvCxnSpPr/>
          <p:nvPr/>
        </p:nvCxnSpPr>
        <p:spPr>
          <a:xfrm>
            <a:off x="5595050" y="20727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5" name="Google Shape;1015;p67"/>
          <p:cNvCxnSpPr/>
          <p:nvPr/>
        </p:nvCxnSpPr>
        <p:spPr>
          <a:xfrm>
            <a:off x="5595050" y="20727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7"/>
          <p:cNvCxnSpPr/>
          <p:nvPr/>
        </p:nvCxnSpPr>
        <p:spPr>
          <a:xfrm flipH="1" rot="10800000">
            <a:off x="5945050" y="20728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7" name="Google Shape;1017;p67"/>
          <p:cNvCxnSpPr/>
          <p:nvPr/>
        </p:nvCxnSpPr>
        <p:spPr>
          <a:xfrm flipH="1" rot="10800000">
            <a:off x="5966925" y="21056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67"/>
          <p:cNvCxnSpPr/>
          <p:nvPr/>
        </p:nvCxnSpPr>
        <p:spPr>
          <a:xfrm flipH="1" rot="10800000">
            <a:off x="6010675" y="21164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67"/>
          <p:cNvCxnSpPr/>
          <p:nvPr/>
        </p:nvCxnSpPr>
        <p:spPr>
          <a:xfrm flipH="1" rot="10800000">
            <a:off x="5616925" y="3735325"/>
            <a:ext cx="2187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67"/>
          <p:cNvCxnSpPr/>
          <p:nvPr/>
        </p:nvCxnSpPr>
        <p:spPr>
          <a:xfrm flipH="1" rot="10800000">
            <a:off x="5616925" y="3264925"/>
            <a:ext cx="186000" cy="10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67"/>
          <p:cNvCxnSpPr/>
          <p:nvPr/>
        </p:nvCxnSpPr>
        <p:spPr>
          <a:xfrm flipH="1" rot="10800000">
            <a:off x="5605975" y="2696125"/>
            <a:ext cx="876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67"/>
          <p:cNvCxnSpPr/>
          <p:nvPr/>
        </p:nvCxnSpPr>
        <p:spPr>
          <a:xfrm>
            <a:off x="5824750" y="3757125"/>
            <a:ext cx="207900" cy="5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67"/>
          <p:cNvCxnSpPr/>
          <p:nvPr/>
        </p:nvCxnSpPr>
        <p:spPr>
          <a:xfrm>
            <a:off x="5813800" y="3286800"/>
            <a:ext cx="240600" cy="10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67"/>
          <p:cNvCxnSpPr/>
          <p:nvPr/>
        </p:nvCxnSpPr>
        <p:spPr>
          <a:xfrm>
            <a:off x="5704425" y="2696175"/>
            <a:ext cx="32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67"/>
          <p:cNvCxnSpPr/>
          <p:nvPr/>
        </p:nvCxnSpPr>
        <p:spPr>
          <a:xfrm>
            <a:off x="7097175" y="20399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67"/>
          <p:cNvCxnSpPr/>
          <p:nvPr/>
        </p:nvCxnSpPr>
        <p:spPr>
          <a:xfrm>
            <a:off x="7119050" y="20727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67"/>
          <p:cNvCxnSpPr/>
          <p:nvPr/>
        </p:nvCxnSpPr>
        <p:spPr>
          <a:xfrm>
            <a:off x="7119050" y="20727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67"/>
          <p:cNvCxnSpPr/>
          <p:nvPr/>
        </p:nvCxnSpPr>
        <p:spPr>
          <a:xfrm flipH="1" rot="10800000">
            <a:off x="7469050" y="20728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67"/>
          <p:cNvCxnSpPr/>
          <p:nvPr/>
        </p:nvCxnSpPr>
        <p:spPr>
          <a:xfrm flipH="1" rot="10800000">
            <a:off x="7490925" y="21056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0" name="Google Shape;1030;p67"/>
          <p:cNvCxnSpPr/>
          <p:nvPr/>
        </p:nvCxnSpPr>
        <p:spPr>
          <a:xfrm flipH="1" rot="10800000">
            <a:off x="7534675" y="21164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1" name="Google Shape;1031;p67"/>
          <p:cNvCxnSpPr/>
          <p:nvPr/>
        </p:nvCxnSpPr>
        <p:spPr>
          <a:xfrm flipH="1" rot="10800000">
            <a:off x="7140925" y="3735325"/>
            <a:ext cx="2187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67"/>
          <p:cNvCxnSpPr/>
          <p:nvPr/>
        </p:nvCxnSpPr>
        <p:spPr>
          <a:xfrm flipH="1" rot="10800000">
            <a:off x="7140925" y="3264925"/>
            <a:ext cx="186000" cy="10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3" name="Google Shape;1033;p67"/>
          <p:cNvCxnSpPr/>
          <p:nvPr/>
        </p:nvCxnSpPr>
        <p:spPr>
          <a:xfrm flipH="1" rot="10800000">
            <a:off x="7129975" y="2696125"/>
            <a:ext cx="876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4" name="Google Shape;1034;p67"/>
          <p:cNvCxnSpPr/>
          <p:nvPr/>
        </p:nvCxnSpPr>
        <p:spPr>
          <a:xfrm>
            <a:off x="7348750" y="3757125"/>
            <a:ext cx="207900" cy="5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5" name="Google Shape;1035;p67"/>
          <p:cNvCxnSpPr/>
          <p:nvPr/>
        </p:nvCxnSpPr>
        <p:spPr>
          <a:xfrm>
            <a:off x="7337800" y="3286800"/>
            <a:ext cx="240600" cy="10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6" name="Google Shape;1036;p67"/>
          <p:cNvCxnSpPr/>
          <p:nvPr/>
        </p:nvCxnSpPr>
        <p:spPr>
          <a:xfrm>
            <a:off x="7228425" y="2696175"/>
            <a:ext cx="32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7" name="Google Shape;1037;p67"/>
          <p:cNvSpPr/>
          <p:nvPr/>
        </p:nvSpPr>
        <p:spPr>
          <a:xfrm>
            <a:off x="3842375" y="1591450"/>
            <a:ext cx="46038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7"/>
          <p:cNvSpPr txBox="1"/>
          <p:nvPr/>
        </p:nvSpPr>
        <p:spPr>
          <a:xfrm>
            <a:off x="5157525" y="1338425"/>
            <a:ext cx="2220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1-3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9" name="Google Shape;1039;p67"/>
          <p:cNvSpPr txBox="1"/>
          <p:nvPr/>
        </p:nvSpPr>
        <p:spPr>
          <a:xfrm>
            <a:off x="5355875" y="16793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Information Propagation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0" name="Google Shape;1040;p67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4224550" y="3079025"/>
            <a:ext cx="240600" cy="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67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5748550" y="3079025"/>
            <a:ext cx="240600" cy="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67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7272550" y="3079025"/>
            <a:ext cx="240600" cy="2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3" name="Google Shape;104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4" name="Google Shape;104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521" y="1140927"/>
            <a:ext cx="568800" cy="528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7"/>
          <p:cNvSpPr/>
          <p:nvPr/>
        </p:nvSpPr>
        <p:spPr>
          <a:xfrm>
            <a:off x="2375625" y="592100"/>
            <a:ext cx="1280400" cy="16953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7"/>
          <p:cNvSpPr txBox="1"/>
          <p:nvPr/>
        </p:nvSpPr>
        <p:spPr>
          <a:xfrm>
            <a:off x="2437100" y="568350"/>
            <a:ext cx="17682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Fast Path Decision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7" name="Google Shape;1047;p67"/>
          <p:cNvSpPr/>
          <p:nvPr/>
        </p:nvSpPr>
        <p:spPr>
          <a:xfrm>
            <a:off x="5652225" y="592100"/>
            <a:ext cx="1280400" cy="17715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7"/>
          <p:cNvSpPr txBox="1"/>
          <p:nvPr/>
        </p:nvSpPr>
        <p:spPr>
          <a:xfrm>
            <a:off x="5789900" y="568350"/>
            <a:ext cx="17682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Slow Path Decision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67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has a fast path decision and a slow path decision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Operation Overview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Abstract QuePaxa - </a:t>
            </a:r>
            <a:r>
              <a:rPr b="1" i="1" lang="en">
                <a:latin typeface="Times New Roman"/>
                <a:ea typeface="Times New Roman"/>
                <a:cs typeface="Times New Roman"/>
                <a:sym typeface="Times New Roman"/>
              </a:rPr>
              <a:t>a simplified version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Concrete QuePaxa overview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6" name="Google Shape;1056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7" name="Google Shape;1057;p68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Abstract QuePaxa is a simplified version of QuePaxa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9"/>
          <p:cNvSpPr txBox="1"/>
          <p:nvPr>
            <p:ph idx="1" type="body"/>
          </p:nvPr>
        </p:nvSpPr>
        <p:spPr>
          <a:xfrm>
            <a:off x="311700" y="847675"/>
            <a:ext cx="5870400" cy="3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Divide the problem in to two parts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E6B8AF"/>
              </a:buClr>
              <a:buSzPts val="1400"/>
              <a:buFont typeface="Times New Roman"/>
              <a:buChar char="○"/>
            </a:pPr>
            <a:r>
              <a:rPr lang="en">
                <a:solidFill>
                  <a:srgbClr val="E6B8A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replica failures</a:t>
            </a:r>
            <a:endParaRPr>
              <a:solidFill>
                <a:srgbClr val="E6B8A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asynchrony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First ignore asynchrony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and focus on replica failures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Using 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tcast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let us assume a synchronous lock step network</a:t>
            </a:r>
            <a:b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tcast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(threshold synchronous broadcast): an abstraction which provides lock step synchrony to the consensus layer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3" name="Google Shape;1063;p6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Introducing threshold broadcast (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tcast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4" name="Google Shape;1064;p69"/>
          <p:cNvSpPr/>
          <p:nvPr/>
        </p:nvSpPr>
        <p:spPr>
          <a:xfrm>
            <a:off x="6374125" y="2551050"/>
            <a:ext cx="2097300" cy="3855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Network</a:t>
            </a:r>
            <a:endParaRPr/>
          </a:p>
        </p:txBody>
      </p:sp>
      <p:sp>
        <p:nvSpPr>
          <p:cNvPr id="1065" name="Google Shape;1065;p69"/>
          <p:cNvSpPr/>
          <p:nvPr/>
        </p:nvSpPr>
        <p:spPr>
          <a:xfrm>
            <a:off x="6374125" y="2170050"/>
            <a:ext cx="2097300" cy="3855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tcast</a:t>
            </a:r>
            <a:endParaRPr/>
          </a:p>
        </p:txBody>
      </p:sp>
      <p:sp>
        <p:nvSpPr>
          <p:cNvPr id="1066" name="Google Shape;1066;p69"/>
          <p:cNvSpPr/>
          <p:nvPr/>
        </p:nvSpPr>
        <p:spPr>
          <a:xfrm>
            <a:off x="6374125" y="1789050"/>
            <a:ext cx="2097300" cy="3855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QuePaxa</a:t>
            </a:r>
            <a:endParaRPr/>
          </a:p>
        </p:txBody>
      </p:sp>
      <p:sp>
        <p:nvSpPr>
          <p:cNvPr id="1067" name="Google Shape;106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8" name="Google Shape;1068;p69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Abstract QuePaxa assumes synchrony and solves the replica failure challenge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0"/>
          <p:cNvSpPr txBox="1"/>
          <p:nvPr>
            <p:ph type="title"/>
          </p:nvPr>
        </p:nvSpPr>
        <p:spPr>
          <a:xfrm>
            <a:off x="311700" y="25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Abstract QuePaxa Algorithm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4" name="Google Shape;1074;p70"/>
          <p:cNvPicPr preferRelativeResize="0"/>
          <p:nvPr/>
        </p:nvPicPr>
        <p:blipFill rotWithShape="1">
          <a:blip r:embed="rId3">
            <a:alphaModFix/>
          </a:blip>
          <a:srcRect b="28676" l="18328" r="31554" t="20710"/>
          <a:stretch/>
        </p:blipFill>
        <p:spPr>
          <a:xfrm>
            <a:off x="294485" y="939225"/>
            <a:ext cx="5479824" cy="31126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70"/>
          <p:cNvSpPr txBox="1"/>
          <p:nvPr/>
        </p:nvSpPr>
        <p:spPr>
          <a:xfrm>
            <a:off x="6411700" y="1554825"/>
            <a:ext cx="2149800" cy="30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70"/>
          <p:cNvSpPr txBox="1"/>
          <p:nvPr>
            <p:ph type="title"/>
          </p:nvPr>
        </p:nvSpPr>
        <p:spPr>
          <a:xfrm>
            <a:off x="0" y="4444150"/>
            <a:ext cx="9144000" cy="665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     Abstract QuePaxa is just a few lines of pseudocode!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8" name="Google Shape;1078;p70"/>
          <p:cNvSpPr/>
          <p:nvPr/>
        </p:nvSpPr>
        <p:spPr>
          <a:xfrm>
            <a:off x="134425" y="2095400"/>
            <a:ext cx="6277200" cy="8199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70"/>
          <p:cNvSpPr/>
          <p:nvPr/>
        </p:nvSpPr>
        <p:spPr>
          <a:xfrm>
            <a:off x="286825" y="1833800"/>
            <a:ext cx="6277200" cy="3936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4" name="Google Shape;1084;p71"/>
          <p:cNvGrpSpPr/>
          <p:nvPr/>
        </p:nvGrpSpPr>
        <p:grpSpPr>
          <a:xfrm>
            <a:off x="3342813" y="1652123"/>
            <a:ext cx="1914900" cy="551400"/>
            <a:chOff x="0" y="-1"/>
            <a:chExt cx="1914900" cy="551400"/>
          </a:xfrm>
        </p:grpSpPr>
        <p:sp>
          <p:nvSpPr>
            <p:cNvPr id="1085" name="Google Shape;1085;p71"/>
            <p:cNvSpPr/>
            <p:nvPr/>
          </p:nvSpPr>
          <p:spPr>
            <a:xfrm>
              <a:off x="0" y="-1"/>
              <a:ext cx="1914900" cy="551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F4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rgbClr val="232F4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86" name="Google Shape;1086;p71"/>
            <p:cNvSpPr txBox="1"/>
            <p:nvPr/>
          </p:nvSpPr>
          <p:spPr>
            <a:xfrm>
              <a:off x="0" y="85583"/>
              <a:ext cx="1914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32F4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232F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tcast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87" name="Google Shape;1087;p71"/>
          <p:cNvSpPr txBox="1"/>
          <p:nvPr/>
        </p:nvSpPr>
        <p:spPr>
          <a:xfrm>
            <a:off x="701700" y="2095350"/>
            <a:ext cx="6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8" name="Google Shape;1088;p71"/>
          <p:cNvSpPr txBox="1"/>
          <p:nvPr/>
        </p:nvSpPr>
        <p:spPr>
          <a:xfrm>
            <a:off x="4073621" y="24924"/>
            <a:ext cx="6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71"/>
          <p:cNvSpPr txBox="1"/>
          <p:nvPr/>
        </p:nvSpPr>
        <p:spPr>
          <a:xfrm>
            <a:off x="7160800" y="2095350"/>
            <a:ext cx="83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Charlie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90" name="Google Shape;1090;p71"/>
          <p:cNvGrpSpPr/>
          <p:nvPr/>
        </p:nvGrpSpPr>
        <p:grpSpPr>
          <a:xfrm>
            <a:off x="1614225" y="1651774"/>
            <a:ext cx="1574100" cy="745800"/>
            <a:chOff x="0" y="0"/>
            <a:chExt cx="1574100" cy="745800"/>
          </a:xfrm>
        </p:grpSpPr>
        <p:sp>
          <p:nvSpPr>
            <p:cNvPr id="1091" name="Google Shape;1091;p71"/>
            <p:cNvSpPr/>
            <p:nvPr/>
          </p:nvSpPr>
          <p:spPr>
            <a:xfrm>
              <a:off x="0" y="0"/>
              <a:ext cx="1574100" cy="745800"/>
            </a:xfrm>
            <a:prstGeom prst="wedgeEllipseCallout">
              <a:avLst>
                <a:gd fmla="val -65923" name="adj1"/>
                <a:gd fmla="val 37922" name="adj2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2" name="Google Shape;1092;p71"/>
            <p:cNvSpPr txBox="1"/>
            <p:nvPr/>
          </p:nvSpPr>
          <p:spPr>
            <a:xfrm>
              <a:off x="235284" y="182783"/>
              <a:ext cx="110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 A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93" name="Google Shape;1093;p71"/>
          <p:cNvGrpSpPr/>
          <p:nvPr/>
        </p:nvGrpSpPr>
        <p:grpSpPr>
          <a:xfrm>
            <a:off x="3581400" y="703825"/>
            <a:ext cx="1574100" cy="745800"/>
            <a:chOff x="0" y="0"/>
            <a:chExt cx="1574100" cy="745800"/>
          </a:xfrm>
        </p:grpSpPr>
        <p:sp>
          <p:nvSpPr>
            <p:cNvPr id="1094" name="Google Shape;1094;p71"/>
            <p:cNvSpPr/>
            <p:nvPr/>
          </p:nvSpPr>
          <p:spPr>
            <a:xfrm>
              <a:off x="0" y="0"/>
              <a:ext cx="1574100" cy="745800"/>
            </a:xfrm>
            <a:prstGeom prst="wedgeEllipseCallout">
              <a:avLst>
                <a:gd fmla="val -2355" name="adj1"/>
                <a:gd fmla="val -87369" name="adj2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5" name="Google Shape;1095;p71"/>
            <p:cNvSpPr txBox="1"/>
            <p:nvPr/>
          </p:nvSpPr>
          <p:spPr>
            <a:xfrm>
              <a:off x="235284" y="182783"/>
              <a:ext cx="110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 B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96" name="Google Shape;1096;p71"/>
          <p:cNvGrpSpPr/>
          <p:nvPr/>
        </p:nvGrpSpPr>
        <p:grpSpPr>
          <a:xfrm>
            <a:off x="5412199" y="1604225"/>
            <a:ext cx="1574100" cy="745800"/>
            <a:chOff x="0" y="0"/>
            <a:chExt cx="1574100" cy="745800"/>
          </a:xfrm>
        </p:grpSpPr>
        <p:sp>
          <p:nvSpPr>
            <p:cNvPr id="1097" name="Google Shape;1097;p71"/>
            <p:cNvSpPr/>
            <p:nvPr/>
          </p:nvSpPr>
          <p:spPr>
            <a:xfrm>
              <a:off x="0" y="0"/>
              <a:ext cx="1574100" cy="745800"/>
            </a:xfrm>
            <a:prstGeom prst="wedgeEllipseCallout">
              <a:avLst>
                <a:gd fmla="val 64143" name="adj1"/>
                <a:gd fmla="val 36575" name="adj2"/>
              </a:avLst>
            </a:prstGeom>
            <a:solidFill>
              <a:srgbClr val="FFFFFF"/>
            </a:solidFill>
            <a:ln cap="flat" cmpd="sng" w="9525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98" name="Google Shape;1098;p71"/>
            <p:cNvSpPr txBox="1"/>
            <p:nvPr/>
          </p:nvSpPr>
          <p:spPr>
            <a:xfrm>
              <a:off x="235284" y="182783"/>
              <a:ext cx="110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00" lIns="91400" spcFirstLastPara="1" rIns="91400" wrap="square" tIns="914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i="0" lang="en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Propose C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99" name="Google Shape;1099;p71"/>
          <p:cNvSpPr txBox="1"/>
          <p:nvPr/>
        </p:nvSpPr>
        <p:spPr>
          <a:xfrm>
            <a:off x="1163975" y="2590768"/>
            <a:ext cx="3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Proposals Alice knows to exist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0" name="Google Shape;1100;p71"/>
          <p:cNvSpPr txBox="1"/>
          <p:nvPr/>
        </p:nvSpPr>
        <p:spPr>
          <a:xfrm>
            <a:off x="1388591" y="-25210"/>
            <a:ext cx="3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Proposals Bob knows to exist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1" name="Google Shape;1101;p71"/>
          <p:cNvSpPr txBox="1"/>
          <p:nvPr/>
        </p:nvSpPr>
        <p:spPr>
          <a:xfrm>
            <a:off x="4614107" y="2399170"/>
            <a:ext cx="394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Proposals Charlie knows to exist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2" name="Google Shape;1102;p71"/>
          <p:cNvSpPr txBox="1"/>
          <p:nvPr/>
        </p:nvSpPr>
        <p:spPr>
          <a:xfrm>
            <a:off x="661725" y="3194374"/>
            <a:ext cx="745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tcast property 1</a:t>
            </a: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each node learns a majority of proposals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3" name="Google Shape;1103;p71"/>
          <p:cNvSpPr txBox="1"/>
          <p:nvPr/>
        </p:nvSpPr>
        <p:spPr>
          <a:xfrm>
            <a:off x="656724" y="3594575"/>
            <a:ext cx="76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Arial"/>
              <a:buChar char="●"/>
            </a:pPr>
            <a:r>
              <a:rPr b="1" i="0" lang="en" sz="1400" u="none" cap="none" strike="noStrik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tcast property 2</a:t>
            </a: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each node learns a proposal that all nodes know to exist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4" name="Google Shape;1104;p71"/>
          <p:cNvSpPr/>
          <p:nvPr/>
        </p:nvSpPr>
        <p:spPr>
          <a:xfrm>
            <a:off x="3085050" y="381000"/>
            <a:ext cx="4164000" cy="2097000"/>
          </a:xfrm>
          <a:prstGeom prst="rect">
            <a:avLst/>
          </a:prstGeom>
          <a:solidFill>
            <a:schemeClr val="accent1">
              <a:alpha val="16079"/>
            </a:schemeClr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5" name="Google Shape;1105;p71"/>
          <p:cNvSpPr/>
          <p:nvPr/>
        </p:nvSpPr>
        <p:spPr>
          <a:xfrm>
            <a:off x="1283374" y="543900"/>
            <a:ext cx="3940500" cy="2097000"/>
          </a:xfrm>
          <a:prstGeom prst="rect">
            <a:avLst/>
          </a:prstGeom>
          <a:solidFill>
            <a:schemeClr val="accent1">
              <a:alpha val="16079"/>
            </a:schemeClr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71"/>
          <p:cNvSpPr/>
          <p:nvPr/>
        </p:nvSpPr>
        <p:spPr>
          <a:xfrm>
            <a:off x="1484849" y="300675"/>
            <a:ext cx="3844200" cy="2097000"/>
          </a:xfrm>
          <a:prstGeom prst="rect">
            <a:avLst/>
          </a:prstGeom>
          <a:solidFill>
            <a:schemeClr val="accent1">
              <a:alpha val="16079"/>
            </a:schemeClr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7" name="Google Shape;1107;p71"/>
          <p:cNvSpPr/>
          <p:nvPr/>
        </p:nvSpPr>
        <p:spPr>
          <a:xfrm>
            <a:off x="3342825" y="425125"/>
            <a:ext cx="2185800" cy="1169400"/>
          </a:xfrm>
          <a:prstGeom prst="rect">
            <a:avLst/>
          </a:prstGeom>
          <a:solidFill>
            <a:srgbClr val="6AA84F">
              <a:alpha val="28240"/>
            </a:srgbClr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8" name="Google Shape;1108;p71"/>
          <p:cNvSpPr txBox="1"/>
          <p:nvPr/>
        </p:nvSpPr>
        <p:spPr>
          <a:xfrm>
            <a:off x="5520675" y="471137"/>
            <a:ext cx="55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Arial"/>
              <a:buNone/>
            </a:pPr>
            <a:r>
              <a:rPr i="0" lang="en" sz="1200" u="none" cap="none" strike="noStrik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 Alice knows that all others know to exist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9" name="Google Shape;1109;p71"/>
          <p:cNvSpPr txBox="1"/>
          <p:nvPr/>
        </p:nvSpPr>
        <p:spPr>
          <a:xfrm>
            <a:off x="0" y="4675375"/>
            <a:ext cx="9144000" cy="492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en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have no guarantee to learn the same sets! (no consensus yet)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0" name="Google Shape;1110;p71"/>
          <p:cNvSpPr txBox="1"/>
          <p:nvPr/>
        </p:nvSpPr>
        <p:spPr>
          <a:xfrm>
            <a:off x="5520675" y="795062"/>
            <a:ext cx="55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Arial"/>
              <a:buNone/>
            </a:pPr>
            <a:r>
              <a:rPr i="0" lang="en" sz="1200" u="none" cap="none" strike="noStrik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 Bob knows that all others know to exist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71"/>
          <p:cNvSpPr txBox="1"/>
          <p:nvPr/>
        </p:nvSpPr>
        <p:spPr>
          <a:xfrm>
            <a:off x="5520675" y="1148312"/>
            <a:ext cx="55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Arial"/>
              <a:buNone/>
            </a:pPr>
            <a:r>
              <a:rPr i="0" lang="en" sz="1200" u="none" cap="none" strike="noStrike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 Charlie knows that all others know to exist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72"/>
          <p:cNvSpPr txBox="1"/>
          <p:nvPr>
            <p:ph idx="1" type="body"/>
          </p:nvPr>
        </p:nvSpPr>
        <p:spPr>
          <a:xfrm>
            <a:off x="928325" y="1693375"/>
            <a:ext cx="2309100" cy="16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existent set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common set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universal set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8" name="Google Shape;1118;p72"/>
          <p:cNvSpPr txBox="1"/>
          <p:nvPr>
            <p:ph type="title"/>
          </p:nvPr>
        </p:nvSpPr>
        <p:spPr>
          <a:xfrm>
            <a:off x="248783" y="1187625"/>
            <a:ext cx="948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Repeat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1" lang="en" sz="1900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tcast invocations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, giving each node i sets with increasing guarantees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72"/>
          <p:cNvSpPr txBox="1"/>
          <p:nvPr>
            <p:ph type="title"/>
          </p:nvPr>
        </p:nvSpPr>
        <p:spPr>
          <a:xfrm>
            <a:off x="311700" y="77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20">
                <a:latin typeface="Times New Roman"/>
                <a:ea typeface="Times New Roman"/>
                <a:cs typeface="Times New Roman"/>
                <a:sym typeface="Times New Roman"/>
              </a:rPr>
              <a:t>Towards consensus: approximating what others know</a:t>
            </a:r>
            <a:endParaRPr b="1" sz="24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0" name="Google Shape;1120;p72"/>
          <p:cNvSpPr txBox="1"/>
          <p:nvPr>
            <p:ph type="title"/>
          </p:nvPr>
        </p:nvSpPr>
        <p:spPr>
          <a:xfrm>
            <a:off x="248783" y="694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Sets from one tcast invocation are </a:t>
            </a: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insufficient for consensus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1" name="Google Shape;1121;p72"/>
          <p:cNvSpPr txBox="1"/>
          <p:nvPr>
            <p:ph type="title"/>
          </p:nvPr>
        </p:nvSpPr>
        <p:spPr>
          <a:xfrm>
            <a:off x="0" y="4449450"/>
            <a:ext cx="9144000" cy="665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Key relationship for consensus: </a:t>
            </a:r>
            <a:r>
              <a:rPr b="1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Existent</a:t>
            </a:r>
            <a:r>
              <a:rPr b="1" baseline="-25000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⊇ Common</a:t>
            </a:r>
            <a:r>
              <a:rPr b="1" baseline="-25000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b="1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⊇ Universal</a:t>
            </a:r>
            <a:r>
              <a:rPr b="1" baseline="-25000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2" name="Google Shape;1122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3"/>
          <p:cNvSpPr/>
          <p:nvPr/>
        </p:nvSpPr>
        <p:spPr>
          <a:xfrm>
            <a:off x="3978400" y="3234800"/>
            <a:ext cx="5153700" cy="574800"/>
          </a:xfrm>
          <a:prstGeom prst="rect">
            <a:avLst/>
          </a:prstGeom>
          <a:solidFill>
            <a:srgbClr val="FFF4D3">
              <a:alpha val="29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73"/>
          <p:cNvSpPr/>
          <p:nvPr/>
        </p:nvSpPr>
        <p:spPr>
          <a:xfrm>
            <a:off x="3867450" y="2143900"/>
            <a:ext cx="5153700" cy="574800"/>
          </a:xfrm>
          <a:prstGeom prst="rect">
            <a:avLst/>
          </a:prstGeom>
          <a:solidFill>
            <a:srgbClr val="FFF4D3">
              <a:alpha val="29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73"/>
          <p:cNvSpPr/>
          <p:nvPr/>
        </p:nvSpPr>
        <p:spPr>
          <a:xfrm>
            <a:off x="4735275" y="1449296"/>
            <a:ext cx="3265800" cy="574800"/>
          </a:xfrm>
          <a:prstGeom prst="rect">
            <a:avLst/>
          </a:prstGeom>
          <a:solidFill>
            <a:srgbClr val="FFF4D3">
              <a:alpha val="29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73"/>
          <p:cNvSpPr txBox="1"/>
          <p:nvPr>
            <p:ph type="title"/>
          </p:nvPr>
        </p:nvSpPr>
        <p:spPr>
          <a:xfrm>
            <a:off x="311700" y="-74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Consensus</a:t>
            </a: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: reaching a safe decision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1" name="Google Shape;113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2" name="Google Shape;1132;p73"/>
          <p:cNvSpPr/>
          <p:nvPr/>
        </p:nvSpPr>
        <p:spPr>
          <a:xfrm>
            <a:off x="727400" y="1773325"/>
            <a:ext cx="3000000" cy="1316325"/>
          </a:xfrm>
          <a:prstGeom prst="flowChartDecis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73"/>
          <p:cNvSpPr txBox="1"/>
          <p:nvPr/>
        </p:nvSpPr>
        <p:spPr>
          <a:xfrm>
            <a:off x="1323200" y="2040200"/>
            <a:ext cx="220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best(Existent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best(Universal</a:t>
            </a:r>
            <a:r>
              <a:rPr baseline="-25000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73"/>
          <p:cNvSpPr txBox="1"/>
          <p:nvPr/>
        </p:nvSpPr>
        <p:spPr>
          <a:xfrm>
            <a:off x="1779122" y="851100"/>
            <a:ext cx="847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1135" name="Google Shape;1135;p73"/>
          <p:cNvCxnSpPr/>
          <p:nvPr/>
        </p:nvCxnSpPr>
        <p:spPr>
          <a:xfrm>
            <a:off x="2209288" y="1240450"/>
            <a:ext cx="0" cy="51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" name="Google Shape;1136;p73"/>
          <p:cNvSpPr txBox="1"/>
          <p:nvPr/>
        </p:nvSpPr>
        <p:spPr>
          <a:xfrm>
            <a:off x="1348325" y="1312200"/>
            <a:ext cx="170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tcast rounds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73"/>
          <p:cNvSpPr txBox="1"/>
          <p:nvPr/>
        </p:nvSpPr>
        <p:spPr>
          <a:xfrm>
            <a:off x="3381000" y="2172000"/>
            <a:ext cx="586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Existent</a:t>
            </a:r>
            <a:r>
              <a:rPr b="1" baseline="-25000" lang="en" sz="2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r>
              <a:rPr b="1" lang="en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⊇ Common</a:t>
            </a:r>
            <a:r>
              <a:rPr b="1" baseline="-25000" lang="en" sz="210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r>
              <a:rPr b="1" lang="en" sz="21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⊇ Universal</a:t>
            </a:r>
            <a:r>
              <a:rPr b="1" baseline="-25000" lang="en" sz="21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endParaRPr sz="210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73"/>
          <p:cNvSpPr txBox="1"/>
          <p:nvPr/>
        </p:nvSpPr>
        <p:spPr>
          <a:xfrm>
            <a:off x="3956000" y="3282017"/>
            <a:ext cx="366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best(Existent</a:t>
            </a:r>
            <a:r>
              <a:rPr b="1" baseline="-25000" lang="en" sz="2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=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2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9" name="Google Shape;1139;p73"/>
          <p:cNvSpPr txBox="1"/>
          <p:nvPr/>
        </p:nvSpPr>
        <p:spPr>
          <a:xfrm>
            <a:off x="7008800" y="3274258"/>
            <a:ext cx="241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best(Universal</a:t>
            </a:r>
            <a:r>
              <a:rPr b="1" baseline="-25000" lang="en" sz="2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0" name="Google Shape;1140;p73"/>
          <p:cNvCxnSpPr/>
          <p:nvPr/>
        </p:nvCxnSpPr>
        <p:spPr>
          <a:xfrm flipH="1">
            <a:off x="4710900" y="2724819"/>
            <a:ext cx="7500" cy="51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73"/>
          <p:cNvCxnSpPr/>
          <p:nvPr/>
        </p:nvCxnSpPr>
        <p:spPr>
          <a:xfrm>
            <a:off x="7834100" y="2671253"/>
            <a:ext cx="300" cy="533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73"/>
          <p:cNvCxnSpPr>
            <a:stCxn id="1132" idx="2"/>
            <a:endCxn id="1143" idx="0"/>
          </p:cNvCxnSpPr>
          <p:nvPr/>
        </p:nvCxnSpPr>
        <p:spPr>
          <a:xfrm flipH="1">
            <a:off x="2221400" y="3089650"/>
            <a:ext cx="6000" cy="57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73"/>
          <p:cNvSpPr txBox="1"/>
          <p:nvPr/>
        </p:nvSpPr>
        <p:spPr>
          <a:xfrm>
            <a:off x="2227411" y="3176925"/>
            <a:ext cx="5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YES</a:t>
            </a:r>
            <a:endParaRPr b="1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3" name="Google Shape;1143;p73"/>
          <p:cNvSpPr txBox="1"/>
          <p:nvPr/>
        </p:nvSpPr>
        <p:spPr>
          <a:xfrm>
            <a:off x="1860749" y="3664400"/>
            <a:ext cx="721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decide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73"/>
          <p:cNvSpPr txBox="1"/>
          <p:nvPr/>
        </p:nvSpPr>
        <p:spPr>
          <a:xfrm>
            <a:off x="5559700" y="2815125"/>
            <a:ext cx="220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6AA84F"/>
                </a:solidFill>
              </a:rPr>
              <a:t>Alice decides V</a:t>
            </a:r>
            <a:endParaRPr>
              <a:solidFill>
                <a:srgbClr val="6AA84F"/>
              </a:solidFill>
            </a:endParaRPr>
          </a:p>
        </p:txBody>
      </p:sp>
      <p:cxnSp>
        <p:nvCxnSpPr>
          <p:cNvPr id="1146" name="Google Shape;1146;p73"/>
          <p:cNvCxnSpPr/>
          <p:nvPr/>
        </p:nvCxnSpPr>
        <p:spPr>
          <a:xfrm flipH="1" rot="10800000">
            <a:off x="727400" y="1051188"/>
            <a:ext cx="1051800" cy="1380300"/>
          </a:xfrm>
          <a:prstGeom prst="bentConnector3">
            <a:avLst>
              <a:gd fmla="val -6425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7" name="Google Shape;1147;p73"/>
          <p:cNvSpPr txBox="1"/>
          <p:nvPr/>
        </p:nvSpPr>
        <p:spPr>
          <a:xfrm>
            <a:off x="129863" y="2038350"/>
            <a:ext cx="5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</a:t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8" name="Google Shape;1148;p73"/>
          <p:cNvSpPr txBox="1"/>
          <p:nvPr/>
        </p:nvSpPr>
        <p:spPr>
          <a:xfrm>
            <a:off x="-49175" y="585267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best(Common</a:t>
            </a:r>
            <a:r>
              <a:rPr baseline="-25000" lang="en" sz="16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r>
              <a:rPr lang="en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9" name="Google Shape;1149;p73"/>
          <p:cNvGrpSpPr/>
          <p:nvPr/>
        </p:nvGrpSpPr>
        <p:grpSpPr>
          <a:xfrm>
            <a:off x="3776500" y="998088"/>
            <a:ext cx="5313600" cy="503350"/>
            <a:chOff x="3776500" y="998088"/>
            <a:chExt cx="5313600" cy="503350"/>
          </a:xfrm>
        </p:grpSpPr>
        <p:sp>
          <p:nvSpPr>
            <p:cNvPr id="1150" name="Google Shape;1150;p73"/>
            <p:cNvSpPr txBox="1"/>
            <p:nvPr/>
          </p:nvSpPr>
          <p:spPr>
            <a:xfrm>
              <a:off x="3776500" y="1008839"/>
              <a:ext cx="3669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best(Existent</a:t>
              </a:r>
              <a:r>
                <a:rPr baseline="-25000" lang="en" sz="2000">
                  <a:solidFill>
                    <a:srgbClr val="4285F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Bob</a:t>
              </a:r>
              <a:r>
                <a:rPr lang="e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         ≠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1" name="Google Shape;1151;p73"/>
            <p:cNvSpPr txBox="1"/>
            <p:nvPr/>
          </p:nvSpPr>
          <p:spPr>
            <a:xfrm>
              <a:off x="6676900" y="998088"/>
              <a:ext cx="241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best(Universal</a:t>
              </a:r>
              <a:r>
                <a:rPr baseline="-25000" lang="en" sz="2000">
                  <a:solidFill>
                    <a:srgbClr val="4285F4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Bob</a:t>
              </a:r>
              <a:r>
                <a:rPr lang="e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52" name="Google Shape;1152;p73"/>
          <p:cNvSpPr txBox="1"/>
          <p:nvPr/>
        </p:nvSpPr>
        <p:spPr>
          <a:xfrm>
            <a:off x="4318225" y="570025"/>
            <a:ext cx="447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285F4"/>
                </a:solidFill>
              </a:rPr>
              <a:t>Bob doesn’t decide, proposes V’</a:t>
            </a:r>
            <a:endParaRPr>
              <a:solidFill>
                <a:srgbClr val="4285F4"/>
              </a:solidFill>
            </a:endParaRPr>
          </a:p>
        </p:txBody>
      </p:sp>
      <p:sp>
        <p:nvSpPr>
          <p:cNvPr id="1153" name="Google Shape;1153;p73"/>
          <p:cNvSpPr txBox="1"/>
          <p:nvPr/>
        </p:nvSpPr>
        <p:spPr>
          <a:xfrm>
            <a:off x="4930175" y="1447225"/>
            <a:ext cx="259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V’</a:t>
            </a: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best(Common</a:t>
            </a:r>
            <a:r>
              <a:rPr b="1" baseline="-25000" lang="en" sz="200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r>
              <a:rPr b="1" lang="en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54" name="Google Shape;1154;p73"/>
          <p:cNvCxnSpPr/>
          <p:nvPr/>
        </p:nvCxnSpPr>
        <p:spPr>
          <a:xfrm flipH="1" rot="10800000">
            <a:off x="6006125" y="1886816"/>
            <a:ext cx="600" cy="408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5" name="Google Shape;1155;p73"/>
          <p:cNvSpPr txBox="1"/>
          <p:nvPr>
            <p:ph type="title"/>
          </p:nvPr>
        </p:nvSpPr>
        <p:spPr>
          <a:xfrm>
            <a:off x="-3629" y="4364500"/>
            <a:ext cx="9144000" cy="665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   Only possible decision in future is </a:t>
            </a:r>
            <a:r>
              <a:rPr b="1" lang="en" sz="212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V’</a:t>
            </a: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best(Common</a:t>
            </a:r>
            <a:r>
              <a:rPr baseline="-25000" lang="en" sz="2000">
                <a:solidFill>
                  <a:srgbClr val="4285F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Bob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) = best(Existent</a:t>
            </a:r>
            <a:r>
              <a:rPr baseline="-25000" lang="en" sz="2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Alice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b="1" lang="en" sz="2000">
                <a:solidFill>
                  <a:srgbClr val="6AA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b="1" sz="2120">
              <a:solidFill>
                <a:srgbClr val="6AA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Abstract QuePaxa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1" name="Google Shape;1161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2" name="Google Shape;1162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Liveness does not depend on timeout because the protocol is randomized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Robust against adversarial networks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O(n</a:t>
            </a:r>
            <a:r>
              <a:rPr baseline="30000" lang="en"/>
              <a:t>2</a:t>
            </a:r>
            <a:r>
              <a:rPr lang="en"/>
              <a:t>) message complexity hence slow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not support hedging</a:t>
            </a:r>
            <a:endParaRPr/>
          </a:p>
        </p:txBody>
      </p:sp>
      <p:sp>
        <p:nvSpPr>
          <p:cNvPr id="1163" name="Google Shape;1163;p74"/>
          <p:cNvSpPr txBox="1"/>
          <p:nvPr/>
        </p:nvSpPr>
        <p:spPr>
          <a:xfrm>
            <a:off x="8305800" y="1143000"/>
            <a:ext cx="3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🙂</a:t>
            </a:r>
            <a:endParaRPr/>
          </a:p>
        </p:txBody>
      </p:sp>
      <p:sp>
        <p:nvSpPr>
          <p:cNvPr id="1164" name="Google Shape;1164;p74"/>
          <p:cNvSpPr txBox="1"/>
          <p:nvPr/>
        </p:nvSpPr>
        <p:spPr>
          <a:xfrm>
            <a:off x="4495800" y="1752600"/>
            <a:ext cx="3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🙂</a:t>
            </a:r>
            <a:endParaRPr/>
          </a:p>
        </p:txBody>
      </p:sp>
      <p:sp>
        <p:nvSpPr>
          <p:cNvPr id="1165" name="Google Shape;1165;p74"/>
          <p:cNvSpPr txBox="1"/>
          <p:nvPr/>
        </p:nvSpPr>
        <p:spPr>
          <a:xfrm>
            <a:off x="4800600" y="2438400"/>
            <a:ext cx="3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😔</a:t>
            </a:r>
            <a:endParaRPr/>
          </a:p>
        </p:txBody>
      </p:sp>
      <p:sp>
        <p:nvSpPr>
          <p:cNvPr id="1166" name="Google Shape;1166;p74"/>
          <p:cNvSpPr txBox="1"/>
          <p:nvPr/>
        </p:nvSpPr>
        <p:spPr>
          <a:xfrm>
            <a:off x="3429000" y="3048000"/>
            <a:ext cx="39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😔</a:t>
            </a:r>
            <a:endParaRPr/>
          </a:p>
        </p:txBody>
      </p:sp>
      <p:sp>
        <p:nvSpPr>
          <p:cNvPr id="1167" name="Google Shape;1167;p74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Abstract QuePaxa is robust but inefficient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3" name="Google Shape;1173;p7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Operation Overview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Abstract QuePaxa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Concrete QuePaxa overview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4" name="Google Shape;117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From abstract to concrete QuePaxa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0" name="Google Shape;1180;p76"/>
          <p:cNvSpPr/>
          <p:nvPr/>
        </p:nvSpPr>
        <p:spPr>
          <a:xfrm>
            <a:off x="278125" y="3313050"/>
            <a:ext cx="2097300" cy="3855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Network</a:t>
            </a:r>
            <a:endParaRPr/>
          </a:p>
        </p:txBody>
      </p:sp>
      <p:sp>
        <p:nvSpPr>
          <p:cNvPr id="1181" name="Google Shape;1181;p76"/>
          <p:cNvSpPr/>
          <p:nvPr/>
        </p:nvSpPr>
        <p:spPr>
          <a:xfrm>
            <a:off x="278125" y="2932050"/>
            <a:ext cx="2097300" cy="3855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tcast</a:t>
            </a:r>
            <a:endParaRPr/>
          </a:p>
        </p:txBody>
      </p:sp>
      <p:sp>
        <p:nvSpPr>
          <p:cNvPr id="1182" name="Google Shape;1182;p76"/>
          <p:cNvSpPr/>
          <p:nvPr/>
        </p:nvSpPr>
        <p:spPr>
          <a:xfrm>
            <a:off x="278125" y="2551050"/>
            <a:ext cx="2097300" cy="3855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QuePaxa</a:t>
            </a:r>
            <a:endParaRPr/>
          </a:p>
        </p:txBody>
      </p:sp>
      <p:sp>
        <p:nvSpPr>
          <p:cNvPr id="1183" name="Google Shape;1183;p76"/>
          <p:cNvSpPr/>
          <p:nvPr/>
        </p:nvSpPr>
        <p:spPr>
          <a:xfrm>
            <a:off x="3173725" y="3313050"/>
            <a:ext cx="2775300" cy="3855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Asynchronous Network</a:t>
            </a:r>
            <a:endParaRPr/>
          </a:p>
        </p:txBody>
      </p:sp>
      <p:sp>
        <p:nvSpPr>
          <p:cNvPr id="1184" name="Google Shape;1184;p76"/>
          <p:cNvSpPr/>
          <p:nvPr/>
        </p:nvSpPr>
        <p:spPr>
          <a:xfrm>
            <a:off x="3173725" y="2932050"/>
            <a:ext cx="2775300" cy="3855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Interval Summary Register</a:t>
            </a:r>
            <a:endParaRPr/>
          </a:p>
        </p:txBody>
      </p:sp>
      <p:sp>
        <p:nvSpPr>
          <p:cNvPr id="1185" name="Google Shape;1185;p76"/>
          <p:cNvSpPr/>
          <p:nvPr/>
        </p:nvSpPr>
        <p:spPr>
          <a:xfrm>
            <a:off x="3173725" y="2551050"/>
            <a:ext cx="2775300" cy="3855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Concrete QuePaxa</a:t>
            </a:r>
            <a:endParaRPr/>
          </a:p>
        </p:txBody>
      </p:sp>
      <p:sp>
        <p:nvSpPr>
          <p:cNvPr id="1186" name="Google Shape;1186;p76"/>
          <p:cNvSpPr/>
          <p:nvPr/>
        </p:nvSpPr>
        <p:spPr>
          <a:xfrm>
            <a:off x="2510000" y="3037250"/>
            <a:ext cx="557400" cy="20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76"/>
          <p:cNvSpPr txBox="1"/>
          <p:nvPr>
            <p:ph idx="1" type="body"/>
          </p:nvPr>
        </p:nvSpPr>
        <p:spPr>
          <a:xfrm>
            <a:off x="6101050" y="1079925"/>
            <a:ext cx="2976900" cy="3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O(n) complexity in the normal case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Robust against asynchrony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Support hedging 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Implementation ready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(4368 LOC)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8" name="Google Shape;1188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9" name="Google Shape;1189;p76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Concrete QuePaxa has all we need!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Architecture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77"/>
          <p:cNvSpPr/>
          <p:nvPr/>
        </p:nvSpPr>
        <p:spPr>
          <a:xfrm>
            <a:off x="8167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1196" name="Google Shape;1196;p77"/>
          <p:cNvSpPr/>
          <p:nvPr/>
        </p:nvSpPr>
        <p:spPr>
          <a:xfrm>
            <a:off x="972375" y="3093500"/>
            <a:ext cx="1541700" cy="4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Proposer</a:t>
            </a:r>
            <a:endParaRPr/>
          </a:p>
        </p:txBody>
      </p:sp>
      <p:sp>
        <p:nvSpPr>
          <p:cNvPr id="1197" name="Google Shape;1197;p77"/>
          <p:cNvSpPr/>
          <p:nvPr/>
        </p:nvSpPr>
        <p:spPr>
          <a:xfrm>
            <a:off x="972375" y="3779300"/>
            <a:ext cx="1541700" cy="45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</a:t>
            </a:r>
            <a:endParaRPr/>
          </a:p>
        </p:txBody>
      </p:sp>
      <p:sp>
        <p:nvSpPr>
          <p:cNvPr id="1198" name="Google Shape;1198;p77"/>
          <p:cNvSpPr/>
          <p:nvPr/>
        </p:nvSpPr>
        <p:spPr>
          <a:xfrm>
            <a:off x="36361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1199" name="Google Shape;1199;p77"/>
          <p:cNvSpPr/>
          <p:nvPr/>
        </p:nvSpPr>
        <p:spPr>
          <a:xfrm>
            <a:off x="3791775" y="3093500"/>
            <a:ext cx="1541700" cy="4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Proposer</a:t>
            </a:r>
            <a:endParaRPr/>
          </a:p>
        </p:txBody>
      </p:sp>
      <p:sp>
        <p:nvSpPr>
          <p:cNvPr id="1200" name="Google Shape;1200;p77"/>
          <p:cNvSpPr/>
          <p:nvPr/>
        </p:nvSpPr>
        <p:spPr>
          <a:xfrm>
            <a:off x="3791775" y="3779300"/>
            <a:ext cx="1541700" cy="45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</a:t>
            </a:r>
            <a:endParaRPr/>
          </a:p>
        </p:txBody>
      </p:sp>
      <p:sp>
        <p:nvSpPr>
          <p:cNvPr id="1201" name="Google Shape;1201;p77"/>
          <p:cNvSpPr/>
          <p:nvPr/>
        </p:nvSpPr>
        <p:spPr>
          <a:xfrm>
            <a:off x="65317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1202" name="Google Shape;1202;p77"/>
          <p:cNvSpPr/>
          <p:nvPr/>
        </p:nvSpPr>
        <p:spPr>
          <a:xfrm>
            <a:off x="6687375" y="3093500"/>
            <a:ext cx="1541700" cy="4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Proposer</a:t>
            </a:r>
            <a:endParaRPr/>
          </a:p>
        </p:txBody>
      </p:sp>
      <p:sp>
        <p:nvSpPr>
          <p:cNvPr id="1203" name="Google Shape;1203;p77"/>
          <p:cNvSpPr/>
          <p:nvPr/>
        </p:nvSpPr>
        <p:spPr>
          <a:xfrm>
            <a:off x="6687375" y="3779300"/>
            <a:ext cx="1541700" cy="4521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Recorder</a:t>
            </a:r>
            <a:endParaRPr/>
          </a:p>
        </p:txBody>
      </p:sp>
      <p:sp>
        <p:nvSpPr>
          <p:cNvPr id="1204" name="Google Shape;1204;p77"/>
          <p:cNvSpPr/>
          <p:nvPr/>
        </p:nvSpPr>
        <p:spPr>
          <a:xfrm>
            <a:off x="1962975" y="1569500"/>
            <a:ext cx="1541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Submitter</a:t>
            </a:r>
            <a:endParaRPr/>
          </a:p>
        </p:txBody>
      </p:sp>
      <p:sp>
        <p:nvSpPr>
          <p:cNvPr id="1205" name="Google Shape;1205;p77"/>
          <p:cNvSpPr/>
          <p:nvPr/>
        </p:nvSpPr>
        <p:spPr>
          <a:xfrm>
            <a:off x="5391975" y="1569500"/>
            <a:ext cx="1541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Submitter</a:t>
            </a:r>
            <a:endParaRPr/>
          </a:p>
        </p:txBody>
      </p:sp>
      <p:cxnSp>
        <p:nvCxnSpPr>
          <p:cNvPr id="1206" name="Google Shape;1206;p77"/>
          <p:cNvCxnSpPr>
            <a:stCxn id="1204" idx="2"/>
            <a:endCxn id="1195" idx="0"/>
          </p:cNvCxnSpPr>
          <p:nvPr/>
        </p:nvCxnSpPr>
        <p:spPr>
          <a:xfrm flipH="1">
            <a:off x="1739625" y="2021600"/>
            <a:ext cx="994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77"/>
          <p:cNvCxnSpPr>
            <a:stCxn id="1204" idx="2"/>
            <a:endCxn id="1198" idx="0"/>
          </p:cNvCxnSpPr>
          <p:nvPr/>
        </p:nvCxnSpPr>
        <p:spPr>
          <a:xfrm>
            <a:off x="2733825" y="2021600"/>
            <a:ext cx="1825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77"/>
          <p:cNvCxnSpPr>
            <a:stCxn id="1204" idx="2"/>
            <a:endCxn id="1201" idx="0"/>
          </p:cNvCxnSpPr>
          <p:nvPr/>
        </p:nvCxnSpPr>
        <p:spPr>
          <a:xfrm>
            <a:off x="2733825" y="2021600"/>
            <a:ext cx="4720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77"/>
          <p:cNvCxnSpPr>
            <a:stCxn id="1205" idx="2"/>
            <a:endCxn id="1195" idx="0"/>
          </p:cNvCxnSpPr>
          <p:nvPr/>
        </p:nvCxnSpPr>
        <p:spPr>
          <a:xfrm flipH="1">
            <a:off x="1739625" y="2021600"/>
            <a:ext cx="4423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77"/>
          <p:cNvCxnSpPr>
            <a:stCxn id="1205" idx="2"/>
            <a:endCxn id="1198" idx="0"/>
          </p:cNvCxnSpPr>
          <p:nvPr/>
        </p:nvCxnSpPr>
        <p:spPr>
          <a:xfrm flipH="1">
            <a:off x="4559025" y="2021600"/>
            <a:ext cx="1603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77"/>
          <p:cNvCxnSpPr>
            <a:stCxn id="1205" idx="2"/>
            <a:endCxn id="1201" idx="0"/>
          </p:cNvCxnSpPr>
          <p:nvPr/>
        </p:nvCxnSpPr>
        <p:spPr>
          <a:xfrm>
            <a:off x="6162825" y="2021600"/>
            <a:ext cx="1291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77"/>
          <p:cNvSpPr txBox="1"/>
          <p:nvPr/>
        </p:nvSpPr>
        <p:spPr>
          <a:xfrm>
            <a:off x="3654850" y="1952125"/>
            <a:ext cx="16038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Requests</a:t>
            </a:r>
            <a:endParaRPr/>
          </a:p>
        </p:txBody>
      </p:sp>
      <p:cxnSp>
        <p:nvCxnSpPr>
          <p:cNvPr id="1213" name="Google Shape;1213;p77"/>
          <p:cNvCxnSpPr>
            <a:stCxn id="1196" idx="2"/>
            <a:endCxn id="1197" idx="0"/>
          </p:cNvCxnSpPr>
          <p:nvPr/>
        </p:nvCxnSpPr>
        <p:spPr>
          <a:xfrm>
            <a:off x="1743225" y="3545600"/>
            <a:ext cx="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77"/>
          <p:cNvCxnSpPr>
            <a:stCxn id="1196" idx="2"/>
            <a:endCxn id="1200" idx="0"/>
          </p:cNvCxnSpPr>
          <p:nvPr/>
        </p:nvCxnSpPr>
        <p:spPr>
          <a:xfrm>
            <a:off x="1743225" y="3545600"/>
            <a:ext cx="281940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77"/>
          <p:cNvCxnSpPr>
            <a:stCxn id="1196" idx="2"/>
            <a:endCxn id="1203" idx="0"/>
          </p:cNvCxnSpPr>
          <p:nvPr/>
        </p:nvCxnSpPr>
        <p:spPr>
          <a:xfrm>
            <a:off x="1743225" y="3545600"/>
            <a:ext cx="5715000" cy="23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6" name="Google Shape;1216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Concrete Recorder Protocol (ISR)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2" name="Google Shape;1222;p78"/>
          <p:cNvSpPr txBox="1"/>
          <p:nvPr>
            <p:ph idx="1" type="body"/>
          </p:nvPr>
        </p:nvSpPr>
        <p:spPr>
          <a:xfrm>
            <a:off x="4868250" y="1186475"/>
            <a:ext cx="4135800" cy="3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Simulates lock step synchrony using a threshold logical clock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For each step, records the the first value and the aggregate of the values submitted in the previous step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Constant space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3" name="Google Shape;1223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4" name="Google Shape;1224;p78"/>
          <p:cNvPicPr preferRelativeResize="0"/>
          <p:nvPr/>
        </p:nvPicPr>
        <p:blipFill rotWithShape="1">
          <a:blip r:embed="rId3">
            <a:alphaModFix/>
          </a:blip>
          <a:srcRect b="4231" l="8402" r="19165" t="16979"/>
          <a:stretch/>
        </p:blipFill>
        <p:spPr>
          <a:xfrm>
            <a:off x="0" y="1514125"/>
            <a:ext cx="4868251" cy="2978529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78"/>
          <p:cNvSpPr/>
          <p:nvPr/>
        </p:nvSpPr>
        <p:spPr>
          <a:xfrm>
            <a:off x="30575" y="1771025"/>
            <a:ext cx="3725700" cy="3057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78"/>
          <p:cNvSpPr/>
          <p:nvPr/>
        </p:nvSpPr>
        <p:spPr>
          <a:xfrm>
            <a:off x="739550" y="2032425"/>
            <a:ext cx="444900" cy="5727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78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Recorder is a constant space interval summary register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Proposer Code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3" name="Google Shape;1233;p79"/>
          <p:cNvPicPr preferRelativeResize="0"/>
          <p:nvPr/>
        </p:nvPicPr>
        <p:blipFill rotWithShape="1">
          <a:blip r:embed="rId3">
            <a:alphaModFix/>
          </a:blip>
          <a:srcRect b="1367" l="21346" r="44613" t="15229"/>
          <a:stretch/>
        </p:blipFill>
        <p:spPr>
          <a:xfrm>
            <a:off x="3218050" y="417075"/>
            <a:ext cx="2901720" cy="399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79"/>
          <p:cNvSpPr txBox="1"/>
          <p:nvPr>
            <p:ph type="title"/>
          </p:nvPr>
        </p:nvSpPr>
        <p:spPr>
          <a:xfrm>
            <a:off x="0" y="4440700"/>
            <a:ext cx="9144000" cy="665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>
                <a:latin typeface="Times New Roman"/>
                <a:ea typeface="Times New Roman"/>
                <a:cs typeface="Times New Roman"/>
                <a:sym typeface="Times New Roman"/>
              </a:rPr>
              <a:t>QuePaxa proposer uses RPC in 4 phases to contact Recorders </a:t>
            </a:r>
            <a:endParaRPr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5" name="Google Shape;1235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6" name="Google Shape;1236;p79"/>
          <p:cNvSpPr/>
          <p:nvPr/>
        </p:nvSpPr>
        <p:spPr>
          <a:xfrm>
            <a:off x="3575425" y="2062950"/>
            <a:ext cx="2391000" cy="1873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Hedging in QuePaxa</a:t>
            </a:r>
            <a:endParaRPr/>
          </a:p>
        </p:txBody>
      </p:sp>
      <p:cxnSp>
        <p:nvCxnSpPr>
          <p:cNvPr id="1242" name="Google Shape;1242;p80"/>
          <p:cNvCxnSpPr/>
          <p:nvPr/>
        </p:nvCxnSpPr>
        <p:spPr>
          <a:xfrm flipH="1" rot="10800000">
            <a:off x="438875" y="1514800"/>
            <a:ext cx="7903200" cy="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80"/>
          <p:cNvCxnSpPr/>
          <p:nvPr/>
        </p:nvCxnSpPr>
        <p:spPr>
          <a:xfrm>
            <a:off x="438875" y="2285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80"/>
          <p:cNvCxnSpPr/>
          <p:nvPr/>
        </p:nvCxnSpPr>
        <p:spPr>
          <a:xfrm>
            <a:off x="438875" y="3047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5" name="Google Shape;1245;p80"/>
          <p:cNvCxnSpPr/>
          <p:nvPr/>
        </p:nvCxnSpPr>
        <p:spPr>
          <a:xfrm>
            <a:off x="438875" y="3809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80"/>
          <p:cNvSpPr txBox="1"/>
          <p:nvPr/>
        </p:nvSpPr>
        <p:spPr>
          <a:xfrm>
            <a:off x="349525" y="1116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7" name="Google Shape;1247;p80"/>
          <p:cNvSpPr txBox="1"/>
          <p:nvPr/>
        </p:nvSpPr>
        <p:spPr>
          <a:xfrm>
            <a:off x="349525" y="1954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2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80"/>
          <p:cNvSpPr txBox="1"/>
          <p:nvPr/>
        </p:nvSpPr>
        <p:spPr>
          <a:xfrm>
            <a:off x="349525" y="2716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3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80"/>
          <p:cNvSpPr txBox="1"/>
          <p:nvPr/>
        </p:nvSpPr>
        <p:spPr>
          <a:xfrm>
            <a:off x="349525" y="3478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4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80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1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80"/>
          <p:cNvSpPr txBox="1"/>
          <p:nvPr/>
        </p:nvSpPr>
        <p:spPr>
          <a:xfrm>
            <a:off x="1489975" y="1494975"/>
            <a:ext cx="12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 with</a:t>
            </a:r>
            <a:br>
              <a:rPr lang="en"/>
            </a:br>
            <a:r>
              <a:rPr lang="en"/>
              <a:t>0×</a:t>
            </a:r>
            <a:r>
              <a:rPr lang="en">
                <a:solidFill>
                  <a:schemeClr val="dk1"/>
                </a:solidFill>
              </a:rPr>
              <a:t>Δ</a:t>
            </a:r>
            <a:r>
              <a:rPr lang="en"/>
              <a:t> delay</a:t>
            </a:r>
            <a:endParaRPr/>
          </a:p>
        </p:txBody>
      </p:sp>
      <p:grpSp>
        <p:nvGrpSpPr>
          <p:cNvPr id="1252" name="Google Shape;1252;p80"/>
          <p:cNvGrpSpPr/>
          <p:nvPr/>
        </p:nvGrpSpPr>
        <p:grpSpPr>
          <a:xfrm>
            <a:off x="2714350" y="1311250"/>
            <a:ext cx="512700" cy="415500"/>
            <a:chOff x="2714350" y="1311250"/>
            <a:chExt cx="512700" cy="415500"/>
          </a:xfrm>
        </p:grpSpPr>
        <p:cxnSp>
          <p:nvCxnSpPr>
            <p:cNvPr id="1253" name="Google Shape;1253;p80"/>
            <p:cNvCxnSpPr/>
            <p:nvPr/>
          </p:nvCxnSpPr>
          <p:spPr>
            <a:xfrm flipH="1" rot="10800000">
              <a:off x="2714350" y="1311250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4" name="Google Shape;1254;p80"/>
            <p:cNvCxnSpPr/>
            <p:nvPr/>
          </p:nvCxnSpPr>
          <p:spPr>
            <a:xfrm flipH="1" rot="10800000">
              <a:off x="2866750" y="1311250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80"/>
            <p:cNvCxnSpPr/>
            <p:nvPr/>
          </p:nvCxnSpPr>
          <p:spPr>
            <a:xfrm flipH="1" rot="10800000">
              <a:off x="3019150" y="1311250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6" name="Google Shape;1256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7" name="Google Shape;125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1069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1831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3355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2593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525" y="1265200"/>
            <a:ext cx="441600" cy="44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2" name="Google Shape;1262;p80"/>
          <p:cNvGrpSpPr/>
          <p:nvPr/>
        </p:nvGrpSpPr>
        <p:grpSpPr>
          <a:xfrm>
            <a:off x="4711425" y="1232975"/>
            <a:ext cx="665100" cy="1253700"/>
            <a:chOff x="4711425" y="1232975"/>
            <a:chExt cx="665100" cy="1253700"/>
          </a:xfrm>
        </p:grpSpPr>
        <p:cxnSp>
          <p:nvCxnSpPr>
            <p:cNvPr id="1263" name="Google Shape;1263;p80"/>
            <p:cNvCxnSpPr/>
            <p:nvPr/>
          </p:nvCxnSpPr>
          <p:spPr>
            <a:xfrm flipH="1" rot="10800000">
              <a:off x="4863825" y="12329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80"/>
            <p:cNvCxnSpPr/>
            <p:nvPr/>
          </p:nvCxnSpPr>
          <p:spPr>
            <a:xfrm flipH="1" rot="10800000">
              <a:off x="5016225" y="12329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80"/>
            <p:cNvCxnSpPr/>
            <p:nvPr/>
          </p:nvCxnSpPr>
          <p:spPr>
            <a:xfrm flipH="1" rot="10800000">
              <a:off x="5168625" y="12329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6" name="Google Shape;1266;p80"/>
            <p:cNvCxnSpPr/>
            <p:nvPr/>
          </p:nvCxnSpPr>
          <p:spPr>
            <a:xfrm flipH="1" rot="10800000">
              <a:off x="4711425" y="20711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7" name="Google Shape;1267;p80"/>
            <p:cNvCxnSpPr/>
            <p:nvPr/>
          </p:nvCxnSpPr>
          <p:spPr>
            <a:xfrm flipH="1" rot="10800000">
              <a:off x="4863825" y="20711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8" name="Google Shape;1268;p80"/>
            <p:cNvCxnSpPr/>
            <p:nvPr/>
          </p:nvCxnSpPr>
          <p:spPr>
            <a:xfrm flipH="1" rot="10800000">
              <a:off x="5016225" y="20711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9" name="Google Shape;1269;p80"/>
          <p:cNvGrpSpPr/>
          <p:nvPr/>
        </p:nvGrpSpPr>
        <p:grpSpPr>
          <a:xfrm>
            <a:off x="3171075" y="2102250"/>
            <a:ext cx="1630625" cy="748125"/>
            <a:chOff x="3171075" y="2102250"/>
            <a:chExt cx="1630625" cy="748125"/>
          </a:xfrm>
        </p:grpSpPr>
        <p:pic>
          <p:nvPicPr>
            <p:cNvPr id="1270" name="Google Shape;1270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71075" y="2102250"/>
              <a:ext cx="441600" cy="44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1" name="Google Shape;1271;p80"/>
            <p:cNvSpPr txBox="1"/>
            <p:nvPr/>
          </p:nvSpPr>
          <p:spPr>
            <a:xfrm>
              <a:off x="3508400" y="2277675"/>
              <a:ext cx="1293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 with</a:t>
              </a:r>
              <a:br>
                <a:rPr lang="en"/>
              </a:br>
              <a:r>
                <a:rPr lang="en"/>
                <a:t>1</a:t>
              </a:r>
              <a:r>
                <a:rPr lang="en">
                  <a:solidFill>
                    <a:schemeClr val="dk1"/>
                  </a:solidFill>
                </a:rPr>
                <a:t>×</a:t>
              </a:r>
              <a:r>
                <a:rPr lang="en"/>
                <a:t>Δ delay</a:t>
              </a:r>
              <a:endParaRPr/>
            </a:p>
          </p:txBody>
        </p:sp>
      </p:grpSp>
      <p:grpSp>
        <p:nvGrpSpPr>
          <p:cNvPr id="1272" name="Google Shape;1272;p80"/>
          <p:cNvGrpSpPr/>
          <p:nvPr/>
        </p:nvGrpSpPr>
        <p:grpSpPr>
          <a:xfrm>
            <a:off x="5065025" y="2813075"/>
            <a:ext cx="1532725" cy="816725"/>
            <a:chOff x="5065025" y="2813075"/>
            <a:chExt cx="1532725" cy="816725"/>
          </a:xfrm>
        </p:grpSpPr>
        <p:pic>
          <p:nvPicPr>
            <p:cNvPr id="1273" name="Google Shape;1273;p8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5025" y="2813075"/>
              <a:ext cx="441600" cy="44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4" name="Google Shape;1274;p80"/>
            <p:cNvSpPr txBox="1"/>
            <p:nvPr/>
          </p:nvSpPr>
          <p:spPr>
            <a:xfrm>
              <a:off x="5304450" y="3057100"/>
              <a:ext cx="1293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 with</a:t>
              </a:r>
              <a:br>
                <a:rPr lang="en"/>
              </a:br>
              <a:r>
                <a:rPr lang="en"/>
                <a:t>2</a:t>
              </a:r>
              <a:r>
                <a:rPr lang="en">
                  <a:solidFill>
                    <a:schemeClr val="dk1"/>
                  </a:solidFill>
                </a:rPr>
                <a:t>×</a:t>
              </a:r>
              <a:r>
                <a:rPr lang="en"/>
                <a:t>Δ delay</a:t>
              </a:r>
              <a:endParaRPr/>
            </a:p>
          </p:txBody>
        </p:sp>
      </p:grpSp>
      <p:sp>
        <p:nvSpPr>
          <p:cNvPr id="1275" name="Google Shape;1275;p80"/>
          <p:cNvSpPr txBox="1"/>
          <p:nvPr/>
        </p:nvSpPr>
        <p:spPr>
          <a:xfrm>
            <a:off x="-18775" y="4678450"/>
            <a:ext cx="9144000" cy="503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QuePaxa supports hedging because multiple proposers do not cancel each other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RoadMap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1" name="Google Shape;1281;p8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Tyranny of timeouts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Parallels of QuePaxa and hedging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algorithm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2" name="Google Shape;1282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Can QuePaxa guarantee liveness under any timeout?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Under normal case executions, how does QuePaxa compare with leader-based protocols?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Under adversarial conditions, does QuePaxa provide liveness?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LAN (N. Virginia)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WAN (Tokyo, Mumbai, Singapore, Ireland, and São Paulo)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Replicas: c4.4xlarge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16 virtual CPUs, 30 GB memory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Submitters: c4.2xlarge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○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8 virtual CPUs, 15 GB memory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96" name="Google Shape;129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696" y="3776900"/>
            <a:ext cx="954504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84"/>
          <p:cNvSpPr txBox="1"/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Effect of Hedging in Quepaxa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3" name="Google Shape;1303;p84"/>
          <p:cNvPicPr preferRelativeResize="0"/>
          <p:nvPr/>
        </p:nvPicPr>
        <p:blipFill rotWithShape="1">
          <a:blip r:embed="rId3">
            <a:alphaModFix/>
          </a:blip>
          <a:srcRect b="37526" l="28528" r="15946" t="34729"/>
          <a:stretch/>
        </p:blipFill>
        <p:spPr>
          <a:xfrm>
            <a:off x="2388900" y="572750"/>
            <a:ext cx="4435248" cy="124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84"/>
          <p:cNvPicPr preferRelativeResize="0"/>
          <p:nvPr/>
        </p:nvPicPr>
        <p:blipFill rotWithShape="1">
          <a:blip r:embed="rId3">
            <a:alphaModFix/>
          </a:blip>
          <a:srcRect b="1081" l="37896" r="15943" t="90609"/>
          <a:stretch/>
        </p:blipFill>
        <p:spPr>
          <a:xfrm>
            <a:off x="3143025" y="1780875"/>
            <a:ext cx="3681125" cy="37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6" name="Google Shape;1306;p84"/>
          <p:cNvSpPr txBox="1"/>
          <p:nvPr/>
        </p:nvSpPr>
        <p:spPr>
          <a:xfrm>
            <a:off x="884700" y="1012025"/>
            <a:ext cx="112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</a:t>
            </a:r>
            <a:endParaRPr/>
          </a:p>
        </p:txBody>
      </p:sp>
      <p:sp>
        <p:nvSpPr>
          <p:cNvPr id="1307" name="Google Shape;1307;p84"/>
          <p:cNvSpPr/>
          <p:nvPr/>
        </p:nvSpPr>
        <p:spPr>
          <a:xfrm>
            <a:off x="4659900" y="156075"/>
            <a:ext cx="218700" cy="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84"/>
          <p:cNvSpPr/>
          <p:nvPr/>
        </p:nvSpPr>
        <p:spPr>
          <a:xfrm>
            <a:off x="3143025" y="563750"/>
            <a:ext cx="4348800" cy="3726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84"/>
          <p:cNvSpPr/>
          <p:nvPr/>
        </p:nvSpPr>
        <p:spPr>
          <a:xfrm>
            <a:off x="4807700" y="636725"/>
            <a:ext cx="2016600" cy="19848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84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is live for any hedging delay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85"/>
          <p:cNvSpPr txBox="1"/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Effect of Hedging in Quepaxa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6" name="Google Shape;1316;p85"/>
          <p:cNvPicPr preferRelativeResize="0"/>
          <p:nvPr/>
        </p:nvPicPr>
        <p:blipFill rotWithShape="1">
          <a:blip r:embed="rId3">
            <a:alphaModFix/>
          </a:blip>
          <a:srcRect b="37526" l="28686" r="15945" t="34729"/>
          <a:stretch/>
        </p:blipFill>
        <p:spPr>
          <a:xfrm>
            <a:off x="2401475" y="572750"/>
            <a:ext cx="4422677" cy="124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85"/>
          <p:cNvPicPr preferRelativeResize="0"/>
          <p:nvPr/>
        </p:nvPicPr>
        <p:blipFill rotWithShape="1">
          <a:blip r:embed="rId3">
            <a:alphaModFix/>
          </a:blip>
          <a:srcRect b="1081" l="28171" r="15943" t="63912"/>
          <a:stretch/>
        </p:blipFill>
        <p:spPr>
          <a:xfrm>
            <a:off x="2367575" y="1802550"/>
            <a:ext cx="4456574" cy="157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9" name="Google Shape;1319;p85"/>
          <p:cNvSpPr txBox="1"/>
          <p:nvPr/>
        </p:nvSpPr>
        <p:spPr>
          <a:xfrm>
            <a:off x="884700" y="1012025"/>
            <a:ext cx="112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</a:t>
            </a:r>
            <a:endParaRPr/>
          </a:p>
        </p:txBody>
      </p:sp>
      <p:sp>
        <p:nvSpPr>
          <p:cNvPr id="1320" name="Google Shape;1320;p85"/>
          <p:cNvSpPr txBox="1"/>
          <p:nvPr/>
        </p:nvSpPr>
        <p:spPr>
          <a:xfrm>
            <a:off x="771475" y="2307425"/>
            <a:ext cx="176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Cost</a:t>
            </a:r>
            <a:endParaRPr/>
          </a:p>
        </p:txBody>
      </p:sp>
      <p:sp>
        <p:nvSpPr>
          <p:cNvPr id="1321" name="Google Shape;1321;p85"/>
          <p:cNvSpPr/>
          <p:nvPr/>
        </p:nvSpPr>
        <p:spPr>
          <a:xfrm>
            <a:off x="3089050" y="1819350"/>
            <a:ext cx="2086800" cy="20514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85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has an additional overhead only when hedging delay &lt; RTT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6"/>
          <p:cNvSpPr txBox="1"/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Effect of Hedging in Quepaxa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8" name="Google Shape;1328;p86"/>
          <p:cNvPicPr preferRelativeResize="0"/>
          <p:nvPr/>
        </p:nvPicPr>
        <p:blipFill rotWithShape="1">
          <a:blip r:embed="rId3">
            <a:alphaModFix/>
          </a:blip>
          <a:srcRect b="37526" l="28258" r="15950" t="34729"/>
          <a:stretch/>
        </p:blipFill>
        <p:spPr>
          <a:xfrm>
            <a:off x="2367575" y="572750"/>
            <a:ext cx="4456574" cy="124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86"/>
          <p:cNvPicPr preferRelativeResize="0"/>
          <p:nvPr/>
        </p:nvPicPr>
        <p:blipFill rotWithShape="1">
          <a:blip r:embed="rId3">
            <a:alphaModFix/>
          </a:blip>
          <a:srcRect b="8791" l="28171" r="15943" t="64288"/>
          <a:stretch/>
        </p:blipFill>
        <p:spPr>
          <a:xfrm>
            <a:off x="2367575" y="1819350"/>
            <a:ext cx="4456574" cy="120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0" name="Google Shape;1330;p86"/>
          <p:cNvPicPr preferRelativeResize="0"/>
          <p:nvPr/>
        </p:nvPicPr>
        <p:blipFill rotWithShape="1">
          <a:blip r:embed="rId4">
            <a:alphaModFix/>
          </a:blip>
          <a:srcRect b="65950" l="29410" r="16033" t="7141"/>
          <a:stretch/>
        </p:blipFill>
        <p:spPr>
          <a:xfrm>
            <a:off x="2471825" y="3068275"/>
            <a:ext cx="4352323" cy="120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86"/>
          <p:cNvPicPr preferRelativeResize="0"/>
          <p:nvPr/>
        </p:nvPicPr>
        <p:blipFill rotWithShape="1">
          <a:blip r:embed="rId3">
            <a:alphaModFix/>
          </a:blip>
          <a:srcRect b="1081" l="37896" r="15943" t="90609"/>
          <a:stretch/>
        </p:blipFill>
        <p:spPr>
          <a:xfrm>
            <a:off x="3143025" y="4295475"/>
            <a:ext cx="3681125" cy="372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3" name="Google Shape;1333;p86"/>
          <p:cNvSpPr txBox="1"/>
          <p:nvPr/>
        </p:nvSpPr>
        <p:spPr>
          <a:xfrm>
            <a:off x="884700" y="1012025"/>
            <a:ext cx="112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</a:t>
            </a:r>
            <a:endParaRPr/>
          </a:p>
        </p:txBody>
      </p:sp>
      <p:sp>
        <p:nvSpPr>
          <p:cNvPr id="1334" name="Google Shape;1334;p86"/>
          <p:cNvSpPr txBox="1"/>
          <p:nvPr/>
        </p:nvSpPr>
        <p:spPr>
          <a:xfrm>
            <a:off x="771475" y="2307425"/>
            <a:ext cx="176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Bandwidth Cost</a:t>
            </a:r>
            <a:endParaRPr/>
          </a:p>
        </p:txBody>
      </p:sp>
      <p:sp>
        <p:nvSpPr>
          <p:cNvPr id="1335" name="Google Shape;1335;p86"/>
          <p:cNvSpPr txBox="1"/>
          <p:nvPr/>
        </p:nvSpPr>
        <p:spPr>
          <a:xfrm>
            <a:off x="771475" y="3602825"/>
            <a:ext cx="176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Recovery Time</a:t>
            </a:r>
            <a:endParaRPr/>
          </a:p>
        </p:txBody>
      </p:sp>
      <p:sp>
        <p:nvSpPr>
          <p:cNvPr id="1336" name="Google Shape;1336;p86"/>
          <p:cNvSpPr/>
          <p:nvPr/>
        </p:nvSpPr>
        <p:spPr>
          <a:xfrm>
            <a:off x="3143025" y="3611750"/>
            <a:ext cx="3840300" cy="3726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86"/>
          <p:cNvSpPr/>
          <p:nvPr/>
        </p:nvSpPr>
        <p:spPr>
          <a:xfrm>
            <a:off x="5728825" y="3002150"/>
            <a:ext cx="1254600" cy="12075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86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has low recovery time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8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Normal case execution in a WAN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45" name="Google Shape;1345;p87"/>
          <p:cNvPicPr preferRelativeResize="0"/>
          <p:nvPr/>
        </p:nvPicPr>
        <p:blipFill rotWithShape="1">
          <a:blip r:embed="rId3">
            <a:alphaModFix/>
          </a:blip>
          <a:srcRect b="13449" l="19192" r="39604" t="25362"/>
          <a:stretch/>
        </p:blipFill>
        <p:spPr>
          <a:xfrm>
            <a:off x="2181075" y="688400"/>
            <a:ext cx="4785974" cy="39979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87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performs comparable to Multi Paxos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Performance under adversarial networks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2" name="Google Shape;1352;p88"/>
          <p:cNvPicPr preferRelativeResize="0"/>
          <p:nvPr/>
        </p:nvPicPr>
        <p:blipFill rotWithShape="1">
          <a:blip r:embed="rId3">
            <a:alphaModFix/>
          </a:blip>
          <a:srcRect b="23701" l="22739" r="11005" t="26072"/>
          <a:stretch/>
        </p:blipFill>
        <p:spPr>
          <a:xfrm>
            <a:off x="704000" y="1328725"/>
            <a:ext cx="7447598" cy="31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3" name="Google Shape;1353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4" name="Google Shape;1354;p88"/>
          <p:cNvSpPr/>
          <p:nvPr/>
        </p:nvSpPr>
        <p:spPr>
          <a:xfrm>
            <a:off x="1776325" y="3124075"/>
            <a:ext cx="6265200" cy="3726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88"/>
          <p:cNvSpPr/>
          <p:nvPr/>
        </p:nvSpPr>
        <p:spPr>
          <a:xfrm>
            <a:off x="1614025" y="1554350"/>
            <a:ext cx="1225200" cy="20079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88"/>
          <p:cNvSpPr/>
          <p:nvPr/>
        </p:nvSpPr>
        <p:spPr>
          <a:xfrm>
            <a:off x="25325" y="4676325"/>
            <a:ext cx="9118800" cy="467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QuePaxa is live under asynchrony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QuePaxa Contributions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2" name="Google Shape;1362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A consensus protocol that eliminates the tyranny of timeouts problems</a:t>
            </a:r>
            <a:b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First consensus protocol to support hedging in consensus </a:t>
            </a:r>
            <a:b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●"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A novel consensus protocol that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Under normal network conditions as good as Multi-Paxos /Raft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○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Under adversarial network conditions, provides liveness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3" name="Google Shape;1363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Contributions</a:t>
            </a:r>
            <a:endParaRPr/>
          </a:p>
        </p:txBody>
      </p:sp>
      <p:sp>
        <p:nvSpPr>
          <p:cNvPr id="1369" name="Google Shape;1369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70" name="Google Shape;1370;p90"/>
          <p:cNvGrpSpPr/>
          <p:nvPr/>
        </p:nvGrpSpPr>
        <p:grpSpPr>
          <a:xfrm>
            <a:off x="101350" y="1696950"/>
            <a:ext cx="6632950" cy="572700"/>
            <a:chOff x="482350" y="1696950"/>
            <a:chExt cx="6632950" cy="572700"/>
          </a:xfrm>
        </p:grpSpPr>
        <p:sp>
          <p:nvSpPr>
            <p:cNvPr id="1371" name="Google Shape;1371;p90"/>
            <p:cNvSpPr/>
            <p:nvPr/>
          </p:nvSpPr>
          <p:spPr>
            <a:xfrm>
              <a:off x="482350" y="1696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Baxos</a:t>
              </a:r>
              <a:endParaRPr sz="1600"/>
            </a:p>
          </p:txBody>
        </p:sp>
        <p:sp>
          <p:nvSpPr>
            <p:cNvPr id="1372" name="Google Shape;1372;p90"/>
            <p:cNvSpPr/>
            <p:nvPr/>
          </p:nvSpPr>
          <p:spPr>
            <a:xfrm>
              <a:off x="2867600" y="1696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Robustness against leader-targeted attacks</a:t>
              </a:r>
              <a:endParaRPr sz="1600"/>
            </a:p>
          </p:txBody>
        </p:sp>
      </p:grpSp>
      <p:grpSp>
        <p:nvGrpSpPr>
          <p:cNvPr id="1373" name="Google Shape;1373;p90"/>
          <p:cNvGrpSpPr/>
          <p:nvPr/>
        </p:nvGrpSpPr>
        <p:grpSpPr>
          <a:xfrm>
            <a:off x="101350" y="2458950"/>
            <a:ext cx="10559650" cy="572700"/>
            <a:chOff x="101350" y="2458950"/>
            <a:chExt cx="10559650" cy="572700"/>
          </a:xfrm>
        </p:grpSpPr>
        <p:sp>
          <p:nvSpPr>
            <p:cNvPr id="1374" name="Google Shape;1374;p90"/>
            <p:cNvSpPr/>
            <p:nvPr/>
          </p:nvSpPr>
          <p:spPr>
            <a:xfrm>
              <a:off x="101350" y="2458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RACS-SADL</a:t>
              </a:r>
              <a:endParaRPr sz="1600"/>
            </a:p>
          </p:txBody>
        </p:sp>
        <p:sp>
          <p:nvSpPr>
            <p:cNvPr id="1375" name="Google Shape;1375;p90"/>
            <p:cNvSpPr/>
            <p:nvPr/>
          </p:nvSpPr>
          <p:spPr>
            <a:xfrm>
              <a:off x="2486600" y="2458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Asynchronous Liveness and high scalability</a:t>
              </a:r>
              <a:endParaRPr sz="1600"/>
            </a:p>
          </p:txBody>
        </p:sp>
        <p:sp>
          <p:nvSpPr>
            <p:cNvPr id="1376" name="Google Shape;1376;p90"/>
            <p:cNvSpPr/>
            <p:nvPr/>
          </p:nvSpPr>
          <p:spPr>
            <a:xfrm>
              <a:off x="5077400" y="2458950"/>
              <a:ext cx="5583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(IEEE CLOUD 2025)</a:t>
              </a:r>
              <a:endParaRPr sz="1800"/>
            </a:p>
          </p:txBody>
        </p:sp>
      </p:grpSp>
      <p:grpSp>
        <p:nvGrpSpPr>
          <p:cNvPr id="1377" name="Google Shape;1377;p90"/>
          <p:cNvGrpSpPr/>
          <p:nvPr/>
        </p:nvGrpSpPr>
        <p:grpSpPr>
          <a:xfrm>
            <a:off x="101350" y="3220950"/>
            <a:ext cx="10559650" cy="572700"/>
            <a:chOff x="101350" y="3220950"/>
            <a:chExt cx="10559650" cy="572700"/>
          </a:xfrm>
        </p:grpSpPr>
        <p:sp>
          <p:nvSpPr>
            <p:cNvPr id="1378" name="Google Shape;1378;p90"/>
            <p:cNvSpPr/>
            <p:nvPr/>
          </p:nvSpPr>
          <p:spPr>
            <a:xfrm>
              <a:off x="101350" y="3220950"/>
              <a:ext cx="21294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QuePaxa</a:t>
              </a:r>
              <a:endParaRPr sz="1600"/>
            </a:p>
          </p:txBody>
        </p:sp>
        <p:sp>
          <p:nvSpPr>
            <p:cNvPr id="1379" name="Google Shape;1379;p90"/>
            <p:cNvSpPr/>
            <p:nvPr/>
          </p:nvSpPr>
          <p:spPr>
            <a:xfrm>
              <a:off x="2486600" y="3220950"/>
              <a:ext cx="42477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</a:t>
              </a:r>
              <a:r>
                <a:rPr lang="en" sz="1600"/>
                <a:t>echanisms to avoid the tyranny of timeout problems in consensus</a:t>
              </a:r>
              <a:endParaRPr sz="1600"/>
            </a:p>
          </p:txBody>
        </p:sp>
        <p:sp>
          <p:nvSpPr>
            <p:cNvPr id="1380" name="Google Shape;1380;p90"/>
            <p:cNvSpPr/>
            <p:nvPr/>
          </p:nvSpPr>
          <p:spPr>
            <a:xfrm>
              <a:off x="5077400" y="3220950"/>
              <a:ext cx="5583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(ACM SOSP 2023)</a:t>
              </a:r>
              <a:endParaRPr sz="1800"/>
            </a:p>
          </p:txBody>
        </p:sp>
      </p:grpSp>
      <p:grpSp>
        <p:nvGrpSpPr>
          <p:cNvPr id="1381" name="Google Shape;1381;p90"/>
          <p:cNvGrpSpPr/>
          <p:nvPr/>
        </p:nvGrpSpPr>
        <p:grpSpPr>
          <a:xfrm>
            <a:off x="101350" y="3982950"/>
            <a:ext cx="10559650" cy="572700"/>
            <a:chOff x="101350" y="3982950"/>
            <a:chExt cx="10559650" cy="572700"/>
          </a:xfrm>
        </p:grpSpPr>
        <p:sp>
          <p:nvSpPr>
            <p:cNvPr id="1382" name="Google Shape;1382;p90"/>
            <p:cNvSpPr/>
            <p:nvPr/>
          </p:nvSpPr>
          <p:spPr>
            <a:xfrm>
              <a:off x="101350" y="3982950"/>
              <a:ext cx="21294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Mahi-Mahi</a:t>
              </a:r>
              <a:endParaRPr sz="1600"/>
            </a:p>
          </p:txBody>
        </p:sp>
        <p:sp>
          <p:nvSpPr>
            <p:cNvPr id="1383" name="Google Shape;1383;p90"/>
            <p:cNvSpPr/>
            <p:nvPr/>
          </p:nvSpPr>
          <p:spPr>
            <a:xfrm>
              <a:off x="2486600" y="3982950"/>
              <a:ext cx="4247700" cy="5727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Scalable, asynchronous byzantine fault tolerance</a:t>
              </a:r>
              <a:endParaRPr sz="1600"/>
            </a:p>
          </p:txBody>
        </p:sp>
        <p:sp>
          <p:nvSpPr>
            <p:cNvPr id="1384" name="Google Shape;1384;p90"/>
            <p:cNvSpPr/>
            <p:nvPr/>
          </p:nvSpPr>
          <p:spPr>
            <a:xfrm>
              <a:off x="5077400" y="3982950"/>
              <a:ext cx="55836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(IEEE ICDCS 2025)</a:t>
              </a:r>
              <a:endParaRPr sz="1800"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91"/>
          <p:cNvSpPr/>
          <p:nvPr/>
        </p:nvSpPr>
        <p:spPr>
          <a:xfrm>
            <a:off x="179450" y="490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Performance</a:t>
            </a:r>
            <a:endParaRPr sz="1800"/>
          </a:p>
        </p:txBody>
      </p:sp>
      <p:sp>
        <p:nvSpPr>
          <p:cNvPr id="1390" name="Google Shape;1390;p91"/>
          <p:cNvSpPr/>
          <p:nvPr/>
        </p:nvSpPr>
        <p:spPr>
          <a:xfrm>
            <a:off x="2325825" y="4242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Existing Consensus Protocols</a:t>
            </a:r>
            <a:endParaRPr sz="1800"/>
          </a:p>
        </p:txBody>
      </p:sp>
      <p:sp>
        <p:nvSpPr>
          <p:cNvPr id="1391" name="Google Shape;1391;p91"/>
          <p:cNvSpPr/>
          <p:nvPr/>
        </p:nvSpPr>
        <p:spPr>
          <a:xfrm>
            <a:off x="2694050" y="2242975"/>
            <a:ext cx="3637200" cy="1875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2" name="Google Shape;1392;p91"/>
          <p:cNvSpPr/>
          <p:nvPr/>
        </p:nvSpPr>
        <p:spPr>
          <a:xfrm>
            <a:off x="2742975" y="2781100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Robustness</a:t>
            </a:r>
            <a:endParaRPr sz="1800"/>
          </a:p>
        </p:txBody>
      </p:sp>
      <p:sp>
        <p:nvSpPr>
          <p:cNvPr id="1393" name="Google Shape;1393;p91"/>
          <p:cNvSpPr/>
          <p:nvPr/>
        </p:nvSpPr>
        <p:spPr>
          <a:xfrm>
            <a:off x="4571775" y="2781100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Performance</a:t>
            </a:r>
            <a:endParaRPr sz="1800"/>
          </a:p>
        </p:txBody>
      </p:sp>
      <p:sp>
        <p:nvSpPr>
          <p:cNvPr id="1394" name="Google Shape;1394;p91"/>
          <p:cNvSpPr txBox="1"/>
          <p:nvPr/>
        </p:nvSpPr>
        <p:spPr>
          <a:xfrm>
            <a:off x="3927300" y="2240725"/>
            <a:ext cx="2018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thesis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5" name="Google Shape;1395;p91"/>
          <p:cNvSpPr/>
          <p:nvPr/>
        </p:nvSpPr>
        <p:spPr>
          <a:xfrm>
            <a:off x="7189850" y="490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Robustness</a:t>
            </a:r>
            <a:endParaRPr sz="1800"/>
          </a:p>
        </p:txBody>
      </p:sp>
      <p:sp>
        <p:nvSpPr>
          <p:cNvPr id="1396" name="Google Shape;1396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97" name="Google Shape;1397;p91"/>
          <p:cNvCxnSpPr/>
          <p:nvPr/>
        </p:nvCxnSpPr>
        <p:spPr>
          <a:xfrm>
            <a:off x="558675" y="1924825"/>
            <a:ext cx="8183700" cy="1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Consensus Timeline</a:t>
            </a:r>
            <a:endParaRPr/>
          </a:p>
        </p:txBody>
      </p:sp>
      <p:sp>
        <p:nvSpPr>
          <p:cNvPr id="1403" name="Google Shape;1403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04" name="Google Shape;1404;p92"/>
          <p:cNvCxnSpPr/>
          <p:nvPr/>
        </p:nvCxnSpPr>
        <p:spPr>
          <a:xfrm>
            <a:off x="497950" y="1772625"/>
            <a:ext cx="8262600" cy="33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5" name="Google Shape;1405;p92"/>
          <p:cNvSpPr txBox="1"/>
          <p:nvPr/>
        </p:nvSpPr>
        <p:spPr>
          <a:xfrm>
            <a:off x="4584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80s/90s</a:t>
            </a:r>
            <a:r>
              <a:rPr lang="en" sz="1800">
                <a:solidFill>
                  <a:schemeClr val="dk2"/>
                </a:solidFill>
              </a:rPr>
              <a:t> 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FLP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Paxos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View Stamp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06" name="Google Shape;1406;p92"/>
          <p:cNvSpPr txBox="1"/>
          <p:nvPr/>
        </p:nvSpPr>
        <p:spPr>
          <a:xfrm>
            <a:off x="1677675" y="1795575"/>
            <a:ext cx="10788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2000</a:t>
            </a:r>
            <a:r>
              <a:rPr lang="en" sz="1800">
                <a:solidFill>
                  <a:schemeClr val="dk2"/>
                </a:solidFill>
              </a:rPr>
              <a:t> 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PBFT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Fast Paxos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</p:txBody>
      </p:sp>
      <p:sp>
        <p:nvSpPr>
          <p:cNvPr id="1407" name="Google Shape;1407;p92"/>
          <p:cNvSpPr txBox="1"/>
          <p:nvPr/>
        </p:nvSpPr>
        <p:spPr>
          <a:xfrm>
            <a:off x="26682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2010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Mencius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EPaxos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Raft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WPaxos</a:t>
            </a:r>
            <a:br>
              <a:rPr lang="en" sz="1100">
                <a:solidFill>
                  <a:schemeClr val="dk2"/>
                </a:solidFill>
              </a:rPr>
            </a:br>
            <a:r>
              <a:rPr lang="en" sz="1100">
                <a:solidFill>
                  <a:schemeClr val="dk2"/>
                </a:solidFill>
              </a:rPr>
              <a:t>Pig Paxos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08" name="Google Shape;1408;p92"/>
          <p:cNvSpPr txBox="1"/>
          <p:nvPr/>
        </p:nvSpPr>
        <p:spPr>
          <a:xfrm>
            <a:off x="37350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2020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Hotstuff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Dag-Rider</a:t>
            </a:r>
            <a:endParaRPr sz="1100">
              <a:solidFill>
                <a:schemeClr val="dk2"/>
              </a:solidFill>
            </a:endParaRPr>
          </a:p>
        </p:txBody>
      </p:sp>
      <p:grpSp>
        <p:nvGrpSpPr>
          <p:cNvPr id="1409" name="Google Shape;1409;p92"/>
          <p:cNvGrpSpPr/>
          <p:nvPr/>
        </p:nvGrpSpPr>
        <p:grpSpPr>
          <a:xfrm>
            <a:off x="3658875" y="2657550"/>
            <a:ext cx="1707600" cy="1607625"/>
            <a:chOff x="3658875" y="2657550"/>
            <a:chExt cx="1707600" cy="1607625"/>
          </a:xfrm>
        </p:grpSpPr>
        <p:sp>
          <p:nvSpPr>
            <p:cNvPr id="1410" name="Google Shape;1410;p92"/>
            <p:cNvSpPr txBox="1"/>
            <p:nvPr/>
          </p:nvSpPr>
          <p:spPr>
            <a:xfrm>
              <a:off x="3658875" y="3471975"/>
              <a:ext cx="1707600" cy="7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2"/>
                  </a:solidFill>
                </a:rPr>
                <a:t>Started thesis</a:t>
              </a:r>
              <a:endParaRPr sz="1100">
                <a:solidFill>
                  <a:schemeClr val="dk2"/>
                </a:solidFill>
              </a:endParaRPr>
            </a:p>
          </p:txBody>
        </p:sp>
        <p:cxnSp>
          <p:nvCxnSpPr>
            <p:cNvPr id="1411" name="Google Shape;1411;p92"/>
            <p:cNvCxnSpPr/>
            <p:nvPr/>
          </p:nvCxnSpPr>
          <p:spPr>
            <a:xfrm flipH="1" rot="10800000">
              <a:off x="4063825" y="2657550"/>
              <a:ext cx="8100" cy="78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412" name="Google Shape;1412;p92"/>
          <p:cNvSpPr txBox="1"/>
          <p:nvPr/>
        </p:nvSpPr>
        <p:spPr>
          <a:xfrm>
            <a:off x="57162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2022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SADL-RACS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13" name="Google Shape;1413;p92"/>
          <p:cNvSpPr txBox="1"/>
          <p:nvPr/>
        </p:nvSpPr>
        <p:spPr>
          <a:xfrm>
            <a:off x="67830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2023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QuePaxa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14" name="Google Shape;1414;p92"/>
          <p:cNvSpPr txBox="1"/>
          <p:nvPr/>
        </p:nvSpPr>
        <p:spPr>
          <a:xfrm>
            <a:off x="77736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2024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Mahi-Mahi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415" name="Google Shape;1415;p92"/>
          <p:cNvSpPr txBox="1"/>
          <p:nvPr/>
        </p:nvSpPr>
        <p:spPr>
          <a:xfrm>
            <a:off x="4801875" y="1795575"/>
            <a:ext cx="1707600" cy="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2021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Baxos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416" name="Google Shape;141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8075" y="2367550"/>
            <a:ext cx="586573" cy="58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762" y="2367550"/>
            <a:ext cx="1236649" cy="123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3874" y="2367549"/>
            <a:ext cx="1703475" cy="170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93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480"/>
              <a:t>Robust and High-Performance Wide-Area</a:t>
            </a:r>
            <a:endParaRPr sz="34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480"/>
              <a:t>Consensus Protocols</a:t>
            </a:r>
            <a:endParaRPr sz="2780"/>
          </a:p>
        </p:txBody>
      </p:sp>
      <p:sp>
        <p:nvSpPr>
          <p:cNvPr id="1424" name="Google Shape;1424;p93"/>
          <p:cNvSpPr txBox="1"/>
          <p:nvPr>
            <p:ph idx="1" type="subTitle"/>
          </p:nvPr>
        </p:nvSpPr>
        <p:spPr>
          <a:xfrm>
            <a:off x="311700" y="2224525"/>
            <a:ext cx="8520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2705"/>
              <a:t>PhD Public Defense</a:t>
            </a:r>
            <a:endParaRPr sz="270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br>
              <a:rPr lang="en" sz="2230"/>
            </a:br>
            <a:r>
              <a:rPr lang="en" sz="2230"/>
              <a:t>Pasindu Tennage</a:t>
            </a:r>
            <a:br>
              <a:rPr lang="en" sz="2230"/>
            </a:br>
            <a:br>
              <a:rPr lang="en" sz="2230"/>
            </a:br>
            <a:r>
              <a:rPr lang="en" sz="1530"/>
              <a:t>Thesis director: Bryan Ford </a:t>
            </a:r>
            <a:br>
              <a:rPr lang="en" sz="1530"/>
            </a:br>
            <a:r>
              <a:rPr lang="en" sz="1530"/>
              <a:t>Thesis co-director: Lefteris Kokoris-Kogias</a:t>
            </a:r>
            <a:endParaRPr sz="2230"/>
          </a:p>
        </p:txBody>
      </p:sp>
      <p:pic>
        <p:nvPicPr>
          <p:cNvPr id="1425" name="Google Shape;142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7" name="Google Shape;1427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